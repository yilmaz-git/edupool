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01" r:id="rId2"/>
    <p:sldId id="298" r:id="rId3"/>
    <p:sldId id="257" r:id="rId4"/>
    <p:sldId id="258" r:id="rId5"/>
    <p:sldId id="259" r:id="rId6"/>
    <p:sldId id="260" r:id="rId7"/>
    <p:sldId id="262" r:id="rId8"/>
    <p:sldId id="264" r:id="rId9"/>
    <p:sldId id="265" r:id="rId10"/>
    <p:sldId id="266" r:id="rId11"/>
    <p:sldId id="267" r:id="rId12"/>
    <p:sldId id="268" r:id="rId13"/>
    <p:sldId id="269" r:id="rId14"/>
    <p:sldId id="270" r:id="rId15"/>
    <p:sldId id="271" r:id="rId16"/>
    <p:sldId id="272" r:id="rId17"/>
    <p:sldId id="273" r:id="rId18"/>
    <p:sldId id="299" r:id="rId19"/>
    <p:sldId id="300" r:id="rId20"/>
    <p:sldId id="274" r:id="rId21"/>
    <p:sldId id="275" r:id="rId22"/>
    <p:sldId id="276" r:id="rId23"/>
    <p:sldId id="277" r:id="rId24"/>
    <p:sldId id="302" r:id="rId25"/>
    <p:sldId id="278" r:id="rId26"/>
    <p:sldId id="279" r:id="rId27"/>
    <p:sldId id="280" r:id="rId28"/>
    <p:sldId id="281" r:id="rId29"/>
    <p:sldId id="282" r:id="rId30"/>
    <p:sldId id="283" r:id="rId31"/>
    <p:sldId id="284" r:id="rId32"/>
    <p:sldId id="285" r:id="rId33"/>
    <p:sldId id="286" r:id="rId34"/>
    <p:sldId id="287" r:id="rId35"/>
    <p:sldId id="288" r:id="rId36"/>
    <p:sldId id="308" r:id="rId37"/>
    <p:sldId id="309" r:id="rId38"/>
    <p:sldId id="310" r:id="rId39"/>
    <p:sldId id="289" r:id="rId40"/>
    <p:sldId id="290" r:id="rId41"/>
    <p:sldId id="291" r:id="rId42"/>
    <p:sldId id="292" r:id="rId43"/>
    <p:sldId id="293" r:id="rId44"/>
    <p:sldId id="294" r:id="rId45"/>
    <p:sldId id="295" r:id="rId46"/>
    <p:sldId id="296" r:id="rId47"/>
    <p:sldId id="297" r:id="rId48"/>
    <p:sldId id="303" r:id="rId49"/>
    <p:sldId id="304" r:id="rId50"/>
    <p:sldId id="305" r:id="rId51"/>
    <p:sldId id="306" r:id="rId52"/>
    <p:sldId id="307" r:id="rId5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8416" autoAdjust="0"/>
  </p:normalViewPr>
  <p:slideViewPr>
    <p:cSldViewPr>
      <p:cViewPr varScale="1">
        <p:scale>
          <a:sx n="104" d="100"/>
          <a:sy n="104" d="100"/>
        </p:scale>
        <p:origin x="188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716F48-56F6-467C-93BD-8AE81B7705DF}" type="datetimeFigureOut">
              <a:rPr lang="tr-TR" smtClean="0"/>
              <a:pPr/>
              <a:t>1.10.2021</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AB98FB-B907-49BA-828E-6CC201F0D6D4}" type="slidenum">
              <a:rPr lang="tr-TR" smtClean="0"/>
              <a:pPr/>
              <a:t>‹#›</a:t>
            </a:fld>
            <a:endParaRPr lang="tr-TR"/>
          </a:p>
        </p:txBody>
      </p:sp>
    </p:spTree>
    <p:extLst>
      <p:ext uri="{BB962C8B-B14F-4D97-AF65-F5344CB8AC3E}">
        <p14:creationId xmlns:p14="http://schemas.microsoft.com/office/powerpoint/2010/main" val="3963033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System.Collections.Generic</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System.Linq</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System.Text</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System.Threading.Tasks</a:t>
            </a:r>
            <a:r>
              <a:rPr lang="tr-TR" sz="1200" kern="1200" dirty="0">
                <a:solidFill>
                  <a:schemeClr val="tx1"/>
                </a:solidFill>
                <a:latin typeface="+mn-lt"/>
                <a:ea typeface="+mn-ea"/>
                <a:cs typeface="+mn-cs"/>
              </a:rPr>
              <a:t>;</a:t>
            </a:r>
          </a:p>
          <a:p>
            <a:endParaRPr lang="tr-TR" sz="1200" kern="1200" dirty="0">
              <a:solidFill>
                <a:schemeClr val="tx1"/>
              </a:solidFill>
              <a:latin typeface="+mn-lt"/>
              <a:ea typeface="+mn-ea"/>
              <a:cs typeface="+mn-cs"/>
            </a:endParaRPr>
          </a:p>
          <a:p>
            <a:r>
              <a:rPr lang="tr-TR" sz="1200" kern="1200" dirty="0" err="1">
                <a:solidFill>
                  <a:schemeClr val="tx1"/>
                </a:solidFill>
                <a:latin typeface="+mn-lt"/>
                <a:ea typeface="+mn-ea"/>
                <a:cs typeface="+mn-cs"/>
              </a:rPr>
              <a:t>namespace</a:t>
            </a:r>
            <a:r>
              <a:rPr lang="tr-TR" sz="1200" kern="1200" dirty="0">
                <a:solidFill>
                  <a:schemeClr val="tx1"/>
                </a:solidFill>
                <a:latin typeface="+mn-lt"/>
                <a:ea typeface="+mn-ea"/>
                <a:cs typeface="+mn-cs"/>
              </a:rPr>
              <a:t> ConsoleApplication1</a:t>
            </a:r>
          </a:p>
          <a:p>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class</a:t>
            </a:r>
            <a:r>
              <a:rPr lang="tr-TR" sz="1200" kern="1200" dirty="0">
                <a:solidFill>
                  <a:schemeClr val="tx1"/>
                </a:solidFill>
                <a:latin typeface="+mn-lt"/>
                <a:ea typeface="+mn-ea"/>
                <a:cs typeface="+mn-cs"/>
              </a:rPr>
              <a:t> Program</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static</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void</a:t>
            </a:r>
            <a:r>
              <a:rPr lang="tr-TR" sz="1200" kern="1200" dirty="0">
                <a:solidFill>
                  <a:schemeClr val="tx1"/>
                </a:solidFill>
                <a:latin typeface="+mn-lt"/>
                <a:ea typeface="+mn-ea"/>
                <a:cs typeface="+mn-cs"/>
              </a:rPr>
              <a:t> Main(</a:t>
            </a:r>
            <a:r>
              <a:rPr lang="tr-TR" sz="1200" kern="1200" dirty="0" err="1">
                <a:solidFill>
                  <a:schemeClr val="tx1"/>
                </a:solidFill>
                <a:latin typeface="+mn-lt"/>
                <a:ea typeface="+mn-ea"/>
                <a:cs typeface="+mn-cs"/>
              </a:rPr>
              <a:t>string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args</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Console.WriteLine</a:t>
            </a:r>
            <a:r>
              <a:rPr lang="tr-TR" sz="1200" kern="1200" dirty="0">
                <a:solidFill>
                  <a:schemeClr val="tx1"/>
                </a:solidFill>
                <a:latin typeface="+mn-lt"/>
                <a:ea typeface="+mn-ea"/>
                <a:cs typeface="+mn-cs"/>
              </a:rPr>
              <a:t>("Merhaba, bu benim ilk programım");</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Console.ReadLine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a:t>
            </a:r>
          </a:p>
        </p:txBody>
      </p:sp>
      <p:sp>
        <p:nvSpPr>
          <p:cNvPr id="4" name="Slayt Numarası Yer Tutucusu 3"/>
          <p:cNvSpPr>
            <a:spLocks noGrp="1"/>
          </p:cNvSpPr>
          <p:nvPr>
            <p:ph type="sldNum" sz="quarter" idx="10"/>
          </p:nvPr>
        </p:nvSpPr>
        <p:spPr/>
        <p:txBody>
          <a:bodyPr/>
          <a:lstStyle/>
          <a:p>
            <a:fld id="{87AB98FB-B907-49BA-828E-6CC201F0D6D4}" type="slidenum">
              <a:rPr lang="tr-TR" smtClean="0"/>
              <a:pPr/>
              <a:t>5</a:t>
            </a:fld>
            <a:endParaRPr lang="tr-TR"/>
          </a:p>
        </p:txBody>
      </p:sp>
    </p:spTree>
    <p:extLst>
      <p:ext uri="{BB962C8B-B14F-4D97-AF65-F5344CB8AC3E}">
        <p14:creationId xmlns:p14="http://schemas.microsoft.com/office/powerpoint/2010/main" val="814566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effectLst/>
              </a:rPr>
              <a:t>"\"</a:t>
            </a:r>
            <a:r>
              <a:rPr lang="tr-TR" sz="1200" dirty="0" err="1">
                <a:solidFill>
                  <a:srgbClr val="FF0000"/>
                </a:solidFill>
              </a:rPr>
              <a:t>Hello</a:t>
            </a:r>
            <a:r>
              <a:rPr lang="tr-TR" sz="1200" dirty="0">
                <a:solidFill>
                  <a:srgbClr val="FF0000"/>
                </a:solidFill>
              </a:rPr>
              <a:t>, </a:t>
            </a:r>
            <a:r>
              <a:rPr lang="tr-TR" sz="1200" dirty="0" err="1">
                <a:solidFill>
                  <a:srgbClr val="FF0000"/>
                </a:solidFill>
              </a:rPr>
              <a:t>this</a:t>
            </a:r>
            <a:r>
              <a:rPr lang="tr-TR" sz="1200" dirty="0">
                <a:solidFill>
                  <a:srgbClr val="FF0000"/>
                </a:solidFill>
              </a:rPr>
              <a:t> is </a:t>
            </a:r>
            <a:r>
              <a:rPr lang="tr-TR" sz="1200" dirty="0" err="1">
                <a:solidFill>
                  <a:srgbClr val="FF0000"/>
                </a:solidFill>
              </a:rPr>
              <a:t>my</a:t>
            </a:r>
            <a:r>
              <a:rPr lang="tr-TR" sz="1200" dirty="0">
                <a:solidFill>
                  <a:srgbClr val="FF0000"/>
                </a:solidFill>
              </a:rPr>
              <a:t> </a:t>
            </a:r>
            <a:r>
              <a:rPr lang="tr-TR" sz="1200" dirty="0" err="1">
                <a:solidFill>
                  <a:srgbClr val="FF0000"/>
                </a:solidFill>
              </a:rPr>
              <a:t>first</a:t>
            </a:r>
            <a:r>
              <a:rPr lang="tr-TR" sz="1200" dirty="0">
                <a:solidFill>
                  <a:srgbClr val="FF0000"/>
                </a:solidFill>
              </a:rPr>
              <a:t> program</a:t>
            </a:r>
            <a:r>
              <a:rPr lang="en-TR" dirty="0">
                <a:effectLst/>
              </a:rPr>
              <a:t>\""</a:t>
            </a:r>
            <a:endParaRPr lang="en-TR" dirty="0"/>
          </a:p>
        </p:txBody>
      </p:sp>
      <p:sp>
        <p:nvSpPr>
          <p:cNvPr id="4" name="Slide Number Placeholder 3"/>
          <p:cNvSpPr>
            <a:spLocks noGrp="1"/>
          </p:cNvSpPr>
          <p:nvPr>
            <p:ph type="sldNum" sz="quarter" idx="5"/>
          </p:nvPr>
        </p:nvSpPr>
        <p:spPr/>
        <p:txBody>
          <a:bodyPr/>
          <a:lstStyle/>
          <a:p>
            <a:fld id="{87AB98FB-B907-49BA-828E-6CC201F0D6D4}" type="slidenum">
              <a:rPr lang="tr-TR" smtClean="0"/>
              <a:pPr/>
              <a:t>14</a:t>
            </a:fld>
            <a:endParaRPr lang="tr-TR"/>
          </a:p>
        </p:txBody>
      </p:sp>
    </p:spTree>
    <p:extLst>
      <p:ext uri="{BB962C8B-B14F-4D97-AF65-F5344CB8AC3E}">
        <p14:creationId xmlns:p14="http://schemas.microsoft.com/office/powerpoint/2010/main" val="3470136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System.Collections.Generic</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System.ComponentModel</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System.Data</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System.Drawing</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System.Linq</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System.Text</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System.Threading.Tasks</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System.Windows.Forms</a:t>
            </a:r>
            <a:r>
              <a:rPr lang="tr-TR" sz="1200" kern="1200" dirty="0">
                <a:solidFill>
                  <a:schemeClr val="tx1"/>
                </a:solidFill>
                <a:latin typeface="+mn-lt"/>
                <a:ea typeface="+mn-ea"/>
                <a:cs typeface="+mn-cs"/>
              </a:rPr>
              <a:t>;</a:t>
            </a:r>
          </a:p>
          <a:p>
            <a:endParaRPr lang="tr-TR" sz="1200" kern="1200" dirty="0">
              <a:solidFill>
                <a:schemeClr val="tx1"/>
              </a:solidFill>
              <a:latin typeface="+mn-lt"/>
              <a:ea typeface="+mn-ea"/>
              <a:cs typeface="+mn-cs"/>
            </a:endParaRPr>
          </a:p>
          <a:p>
            <a:r>
              <a:rPr lang="tr-TR" sz="1200" kern="1200" dirty="0" err="1">
                <a:solidFill>
                  <a:schemeClr val="tx1"/>
                </a:solidFill>
                <a:latin typeface="+mn-lt"/>
                <a:ea typeface="+mn-ea"/>
                <a:cs typeface="+mn-cs"/>
              </a:rPr>
              <a:t>namespace</a:t>
            </a:r>
            <a:r>
              <a:rPr lang="tr-TR" sz="1200" kern="1200" dirty="0">
                <a:solidFill>
                  <a:schemeClr val="tx1"/>
                </a:solidFill>
                <a:latin typeface="+mn-lt"/>
                <a:ea typeface="+mn-ea"/>
                <a:cs typeface="+mn-cs"/>
              </a:rPr>
              <a:t> WindowsFormsApplication2</a:t>
            </a:r>
          </a:p>
          <a:p>
            <a:r>
              <a:rPr lang="tr-TR" sz="1200" kern="1200" dirty="0">
                <a:solidFill>
                  <a:schemeClr val="tx1"/>
                </a:solidFill>
                <a:latin typeface="+mn-lt"/>
                <a:ea typeface="+mn-ea"/>
                <a:cs typeface="+mn-cs"/>
              </a:rPr>
              <a:t>{</a:t>
            </a:r>
          </a:p>
          <a:p>
            <a:r>
              <a:rPr lang="en-US" sz="1200" kern="1200" dirty="0">
                <a:solidFill>
                  <a:schemeClr val="tx1"/>
                </a:solidFill>
                <a:latin typeface="+mn-lt"/>
                <a:ea typeface="+mn-ea"/>
                <a:cs typeface="+mn-cs"/>
              </a:rPr>
              <a:t>    public partial class Form1 : Form</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public</a:t>
            </a:r>
            <a:r>
              <a:rPr lang="tr-TR" sz="1200" kern="1200" dirty="0">
                <a:solidFill>
                  <a:schemeClr val="tx1"/>
                </a:solidFill>
                <a:latin typeface="+mn-lt"/>
                <a:ea typeface="+mn-ea"/>
                <a:cs typeface="+mn-cs"/>
              </a:rPr>
              <a:t> Form1()</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InitializeComponent</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a:t>
            </a:r>
          </a:p>
          <a:p>
            <a:endParaRPr lang="tr-TR" sz="1200" kern="1200" dirty="0">
              <a:solidFill>
                <a:schemeClr val="tx1"/>
              </a:solidFill>
              <a:latin typeface="+mn-lt"/>
              <a:ea typeface="+mn-ea"/>
              <a:cs typeface="+mn-cs"/>
            </a:endParaRPr>
          </a:p>
          <a:p>
            <a:r>
              <a:rPr lang="en-US" sz="1200" kern="1200" dirty="0">
                <a:solidFill>
                  <a:schemeClr val="tx1"/>
                </a:solidFill>
                <a:latin typeface="+mn-lt"/>
                <a:ea typeface="+mn-ea"/>
                <a:cs typeface="+mn-cs"/>
              </a:rPr>
              <a:t>        private void button1_Click(object sender, </a:t>
            </a:r>
            <a:r>
              <a:rPr lang="en-US" sz="1200" kern="1200" dirty="0" err="1">
                <a:solidFill>
                  <a:schemeClr val="tx1"/>
                </a:solidFill>
                <a:latin typeface="+mn-lt"/>
                <a:ea typeface="+mn-ea"/>
                <a:cs typeface="+mn-cs"/>
              </a:rPr>
              <a:t>EventArgs</a:t>
            </a:r>
            <a:r>
              <a:rPr lang="en-US" sz="1200" kern="1200" dirty="0">
                <a:solidFill>
                  <a:schemeClr val="tx1"/>
                </a:solidFill>
                <a:latin typeface="+mn-lt"/>
                <a:ea typeface="+mn-ea"/>
                <a:cs typeface="+mn-cs"/>
              </a:rPr>
              <a:t> e)</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MessageBox.Show</a:t>
            </a:r>
            <a:r>
              <a:rPr lang="tr-TR" sz="1200" kern="1200" dirty="0">
                <a:solidFill>
                  <a:schemeClr val="tx1"/>
                </a:solidFill>
                <a:latin typeface="+mn-lt"/>
                <a:ea typeface="+mn-ea"/>
                <a:cs typeface="+mn-cs"/>
              </a:rPr>
              <a:t>("Merhaba Dünya!!!");</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a:t>
            </a:r>
          </a:p>
          <a:p>
            <a:endParaRPr lang="tr-TR" dirty="0"/>
          </a:p>
        </p:txBody>
      </p:sp>
      <p:sp>
        <p:nvSpPr>
          <p:cNvPr id="4" name="Slayt Numarası Yer Tutucusu 3"/>
          <p:cNvSpPr>
            <a:spLocks noGrp="1"/>
          </p:cNvSpPr>
          <p:nvPr>
            <p:ph type="sldNum" sz="quarter" idx="10"/>
          </p:nvPr>
        </p:nvSpPr>
        <p:spPr/>
        <p:txBody>
          <a:bodyPr/>
          <a:lstStyle/>
          <a:p>
            <a:fld id="{87AB98FB-B907-49BA-828E-6CC201F0D6D4}" type="slidenum">
              <a:rPr lang="tr-TR" smtClean="0"/>
              <a:pPr/>
              <a:t>24</a:t>
            </a:fld>
            <a:endParaRPr lang="tr-TR"/>
          </a:p>
        </p:txBody>
      </p:sp>
    </p:spTree>
    <p:extLst>
      <p:ext uri="{BB962C8B-B14F-4D97-AF65-F5344CB8AC3E}">
        <p14:creationId xmlns:p14="http://schemas.microsoft.com/office/powerpoint/2010/main" val="427723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a:solidFill>
                  <a:schemeClr val="tx1"/>
                </a:solidFill>
                <a:latin typeface="+mn-lt"/>
                <a:ea typeface="+mn-ea"/>
                <a:cs typeface="+mn-cs"/>
              </a:rPr>
              <a:t> button1.AutoSize = </a:t>
            </a:r>
            <a:r>
              <a:rPr lang="tr-TR" sz="1200" kern="1200" dirty="0" err="1">
                <a:solidFill>
                  <a:schemeClr val="tx1"/>
                </a:solidFill>
                <a:latin typeface="+mn-lt"/>
                <a:ea typeface="+mn-ea"/>
                <a:cs typeface="+mn-cs"/>
              </a:rPr>
              <a:t>true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button2.AutoSize = </a:t>
            </a:r>
            <a:r>
              <a:rPr lang="tr-TR" sz="1200" kern="1200" dirty="0" err="1">
                <a:solidFill>
                  <a:schemeClr val="tx1"/>
                </a:solidFill>
                <a:latin typeface="+mn-lt"/>
                <a:ea typeface="+mn-ea"/>
                <a:cs typeface="+mn-cs"/>
              </a:rPr>
              <a:t>true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button3.AutoSize = </a:t>
            </a:r>
            <a:r>
              <a:rPr lang="tr-TR" sz="1200" kern="1200" dirty="0" err="1">
                <a:solidFill>
                  <a:schemeClr val="tx1"/>
                </a:solidFill>
                <a:latin typeface="+mn-lt"/>
                <a:ea typeface="+mn-ea"/>
                <a:cs typeface="+mn-cs"/>
              </a:rPr>
              <a:t>true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button1.Text = "</a:t>
            </a:r>
            <a:r>
              <a:rPr lang="tr-TR" sz="1200" kern="1200" dirty="0" err="1">
                <a:solidFill>
                  <a:schemeClr val="tx1"/>
                </a:solidFill>
                <a:latin typeface="+mn-lt"/>
                <a:ea typeface="+mn-ea"/>
                <a:cs typeface="+mn-cs"/>
              </a:rPr>
              <a:t>textbox</a:t>
            </a:r>
            <a:r>
              <a:rPr lang="tr-TR" sz="1200" kern="1200" dirty="0">
                <a:solidFill>
                  <a:schemeClr val="tx1"/>
                </a:solidFill>
                <a:latin typeface="+mn-lt"/>
                <a:ea typeface="+mn-ea"/>
                <a:cs typeface="+mn-cs"/>
              </a:rPr>
              <a:t> a yaz";</a:t>
            </a:r>
          </a:p>
          <a:p>
            <a:r>
              <a:rPr lang="tr-TR" sz="1200" kern="1200" dirty="0">
                <a:solidFill>
                  <a:schemeClr val="tx1"/>
                </a:solidFill>
                <a:latin typeface="+mn-lt"/>
                <a:ea typeface="+mn-ea"/>
                <a:cs typeface="+mn-cs"/>
              </a:rPr>
              <a:t>            button2.Text = "Sil";</a:t>
            </a:r>
          </a:p>
          <a:p>
            <a:r>
              <a:rPr lang="tr-TR" sz="1200" kern="1200" dirty="0">
                <a:solidFill>
                  <a:schemeClr val="tx1"/>
                </a:solidFill>
                <a:latin typeface="+mn-lt"/>
                <a:ea typeface="+mn-ea"/>
                <a:cs typeface="+mn-cs"/>
              </a:rPr>
              <a:t>            button3.Text = "Programı Kapat";</a:t>
            </a:r>
            <a:endParaRPr lang="tr-TR" dirty="0"/>
          </a:p>
        </p:txBody>
      </p:sp>
      <p:sp>
        <p:nvSpPr>
          <p:cNvPr id="4" name="Slayt Numarası Yer Tutucusu 3"/>
          <p:cNvSpPr>
            <a:spLocks noGrp="1"/>
          </p:cNvSpPr>
          <p:nvPr>
            <p:ph type="sldNum" sz="quarter" idx="10"/>
          </p:nvPr>
        </p:nvSpPr>
        <p:spPr/>
        <p:txBody>
          <a:bodyPr/>
          <a:lstStyle/>
          <a:p>
            <a:fld id="{87AB98FB-B907-49BA-828E-6CC201F0D6D4}" type="slidenum">
              <a:rPr lang="tr-TR" smtClean="0"/>
              <a:pPr/>
              <a:t>28</a:t>
            </a:fld>
            <a:endParaRPr lang="tr-TR"/>
          </a:p>
        </p:txBody>
      </p:sp>
    </p:spTree>
    <p:extLst>
      <p:ext uri="{BB962C8B-B14F-4D97-AF65-F5344CB8AC3E}">
        <p14:creationId xmlns:p14="http://schemas.microsoft.com/office/powerpoint/2010/main" val="759439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System.Collections.Generic</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System.ComponentModel</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System.Data</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System.Drawing</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System.Linq</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System.Text</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System.Threading.Tasks</a:t>
            </a:r>
            <a:r>
              <a:rPr lang="tr-TR" sz="1200" kern="1200" dirty="0">
                <a:solidFill>
                  <a:schemeClr val="tx1"/>
                </a:solidFill>
                <a:latin typeface="+mn-lt"/>
                <a:ea typeface="+mn-ea"/>
                <a:cs typeface="+mn-cs"/>
              </a:rPr>
              <a:t>;</a:t>
            </a:r>
          </a:p>
          <a:p>
            <a:r>
              <a:rPr lang="tr-TR" sz="1200" kern="1200" dirty="0" err="1">
                <a:solidFill>
                  <a:schemeClr val="tx1"/>
                </a:solidFill>
                <a:latin typeface="+mn-lt"/>
                <a:ea typeface="+mn-ea"/>
                <a:cs typeface="+mn-cs"/>
              </a:rPr>
              <a:t>using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System.Windows.Forms</a:t>
            </a:r>
            <a:r>
              <a:rPr lang="tr-TR" sz="1200" kern="1200" dirty="0">
                <a:solidFill>
                  <a:schemeClr val="tx1"/>
                </a:solidFill>
                <a:latin typeface="+mn-lt"/>
                <a:ea typeface="+mn-ea"/>
                <a:cs typeface="+mn-cs"/>
              </a:rPr>
              <a:t>;</a:t>
            </a:r>
          </a:p>
          <a:p>
            <a:endParaRPr lang="tr-TR" sz="1200" kern="1200" dirty="0">
              <a:solidFill>
                <a:schemeClr val="tx1"/>
              </a:solidFill>
              <a:latin typeface="+mn-lt"/>
              <a:ea typeface="+mn-ea"/>
              <a:cs typeface="+mn-cs"/>
            </a:endParaRPr>
          </a:p>
          <a:p>
            <a:r>
              <a:rPr lang="tr-TR" sz="1200" kern="1200" dirty="0" err="1">
                <a:solidFill>
                  <a:schemeClr val="tx1"/>
                </a:solidFill>
                <a:latin typeface="+mn-lt"/>
                <a:ea typeface="+mn-ea"/>
                <a:cs typeface="+mn-cs"/>
              </a:rPr>
              <a:t>namespace</a:t>
            </a:r>
            <a:r>
              <a:rPr lang="tr-TR" sz="1200" kern="1200" dirty="0">
                <a:solidFill>
                  <a:schemeClr val="tx1"/>
                </a:solidFill>
                <a:latin typeface="+mn-lt"/>
                <a:ea typeface="+mn-ea"/>
                <a:cs typeface="+mn-cs"/>
              </a:rPr>
              <a:t> ornek_2_1</a:t>
            </a:r>
          </a:p>
          <a:p>
            <a:r>
              <a:rPr lang="tr-TR" sz="1200" kern="1200" dirty="0">
                <a:solidFill>
                  <a:schemeClr val="tx1"/>
                </a:solidFill>
                <a:latin typeface="+mn-lt"/>
                <a:ea typeface="+mn-ea"/>
                <a:cs typeface="+mn-cs"/>
              </a:rPr>
              <a:t>{</a:t>
            </a:r>
          </a:p>
          <a:p>
            <a:r>
              <a:rPr lang="en-US" sz="1200" kern="1200" dirty="0">
                <a:solidFill>
                  <a:schemeClr val="tx1"/>
                </a:solidFill>
                <a:latin typeface="+mn-lt"/>
                <a:ea typeface="+mn-ea"/>
                <a:cs typeface="+mn-cs"/>
              </a:rPr>
              <a:t>    public partial class Form1 : Form</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public</a:t>
            </a:r>
            <a:r>
              <a:rPr lang="tr-TR" sz="1200" kern="1200" dirty="0">
                <a:solidFill>
                  <a:schemeClr val="tx1"/>
                </a:solidFill>
                <a:latin typeface="+mn-lt"/>
                <a:ea typeface="+mn-ea"/>
                <a:cs typeface="+mn-cs"/>
              </a:rPr>
              <a:t> Form1()</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InitializeComponent</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a:t>
            </a:r>
          </a:p>
          <a:p>
            <a:endParaRPr lang="tr-TR" sz="1200" kern="1200" dirty="0">
              <a:solidFill>
                <a:schemeClr val="tx1"/>
              </a:solidFill>
              <a:latin typeface="+mn-lt"/>
              <a:ea typeface="+mn-ea"/>
              <a:cs typeface="+mn-cs"/>
            </a:endParaRP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private</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void</a:t>
            </a:r>
            <a:r>
              <a:rPr lang="tr-TR" sz="1200" kern="1200" dirty="0">
                <a:solidFill>
                  <a:schemeClr val="tx1"/>
                </a:solidFill>
                <a:latin typeface="+mn-lt"/>
                <a:ea typeface="+mn-ea"/>
                <a:cs typeface="+mn-cs"/>
              </a:rPr>
              <a:t> Form1_Load(</a:t>
            </a:r>
            <a:r>
              <a:rPr lang="tr-TR" sz="1200" kern="1200" dirty="0" err="1">
                <a:solidFill>
                  <a:schemeClr val="tx1"/>
                </a:solidFill>
                <a:latin typeface="+mn-lt"/>
                <a:ea typeface="+mn-ea"/>
                <a:cs typeface="+mn-cs"/>
              </a:rPr>
              <a:t>object</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sender</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EventArgs</a:t>
            </a:r>
            <a:r>
              <a:rPr lang="tr-TR" sz="1200" kern="1200" dirty="0">
                <a:solidFill>
                  <a:schemeClr val="tx1"/>
                </a:solidFill>
                <a:latin typeface="+mn-lt"/>
                <a:ea typeface="+mn-ea"/>
                <a:cs typeface="+mn-cs"/>
              </a:rPr>
              <a:t> e)</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button1.AutoSize = </a:t>
            </a:r>
            <a:r>
              <a:rPr lang="tr-TR" sz="1200" kern="1200" dirty="0" err="1">
                <a:solidFill>
                  <a:schemeClr val="tx1"/>
                </a:solidFill>
                <a:latin typeface="+mn-lt"/>
                <a:ea typeface="+mn-ea"/>
                <a:cs typeface="+mn-cs"/>
              </a:rPr>
              <a:t>true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button2.AutoSize = </a:t>
            </a:r>
            <a:r>
              <a:rPr lang="tr-TR" sz="1200" kern="1200" dirty="0" err="1">
                <a:solidFill>
                  <a:schemeClr val="tx1"/>
                </a:solidFill>
                <a:latin typeface="+mn-lt"/>
                <a:ea typeface="+mn-ea"/>
                <a:cs typeface="+mn-cs"/>
              </a:rPr>
              <a:t>true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button3.AutoSize = </a:t>
            </a:r>
            <a:r>
              <a:rPr lang="tr-TR" sz="1200" kern="1200" dirty="0" err="1">
                <a:solidFill>
                  <a:schemeClr val="tx1"/>
                </a:solidFill>
                <a:latin typeface="+mn-lt"/>
                <a:ea typeface="+mn-ea"/>
                <a:cs typeface="+mn-cs"/>
              </a:rPr>
              <a:t>true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button1.Text = "</a:t>
            </a:r>
            <a:r>
              <a:rPr lang="tr-TR" sz="1200" kern="1200" dirty="0" err="1">
                <a:solidFill>
                  <a:schemeClr val="tx1"/>
                </a:solidFill>
                <a:latin typeface="+mn-lt"/>
                <a:ea typeface="+mn-ea"/>
                <a:cs typeface="+mn-cs"/>
              </a:rPr>
              <a:t>textbox</a:t>
            </a:r>
            <a:r>
              <a:rPr lang="tr-TR" sz="1200" kern="1200" dirty="0">
                <a:solidFill>
                  <a:schemeClr val="tx1"/>
                </a:solidFill>
                <a:latin typeface="+mn-lt"/>
                <a:ea typeface="+mn-ea"/>
                <a:cs typeface="+mn-cs"/>
              </a:rPr>
              <a:t> a yaz";</a:t>
            </a:r>
          </a:p>
          <a:p>
            <a:r>
              <a:rPr lang="tr-TR" sz="1200" kern="1200" dirty="0">
                <a:solidFill>
                  <a:schemeClr val="tx1"/>
                </a:solidFill>
                <a:latin typeface="+mn-lt"/>
                <a:ea typeface="+mn-ea"/>
                <a:cs typeface="+mn-cs"/>
              </a:rPr>
              <a:t>            button2.Text = "Sil";</a:t>
            </a:r>
          </a:p>
          <a:p>
            <a:r>
              <a:rPr lang="tr-TR" sz="1200" kern="1200" dirty="0">
                <a:solidFill>
                  <a:schemeClr val="tx1"/>
                </a:solidFill>
                <a:latin typeface="+mn-lt"/>
                <a:ea typeface="+mn-ea"/>
                <a:cs typeface="+mn-cs"/>
              </a:rPr>
              <a:t>            button3.Text = "Programı Kapat";</a:t>
            </a:r>
          </a:p>
          <a:p>
            <a:r>
              <a:rPr lang="tr-TR" sz="1200" kern="1200" dirty="0">
                <a:solidFill>
                  <a:schemeClr val="tx1"/>
                </a:solidFill>
                <a:latin typeface="+mn-lt"/>
                <a:ea typeface="+mn-ea"/>
                <a:cs typeface="+mn-cs"/>
              </a:rPr>
              <a:t>        }</a:t>
            </a:r>
          </a:p>
          <a:p>
            <a:endParaRPr lang="tr-TR" sz="1200" kern="1200" dirty="0">
              <a:solidFill>
                <a:schemeClr val="tx1"/>
              </a:solidFill>
              <a:latin typeface="+mn-lt"/>
              <a:ea typeface="+mn-ea"/>
              <a:cs typeface="+mn-cs"/>
            </a:endParaRPr>
          </a:p>
          <a:p>
            <a:r>
              <a:rPr lang="en-US" sz="1200" kern="1200" dirty="0">
                <a:solidFill>
                  <a:schemeClr val="tx1"/>
                </a:solidFill>
                <a:latin typeface="+mn-lt"/>
                <a:ea typeface="+mn-ea"/>
                <a:cs typeface="+mn-cs"/>
              </a:rPr>
              <a:t>        private void button1_Click(object sender, </a:t>
            </a:r>
            <a:r>
              <a:rPr lang="en-US" sz="1200" kern="1200" dirty="0" err="1">
                <a:solidFill>
                  <a:schemeClr val="tx1"/>
                </a:solidFill>
                <a:latin typeface="+mn-lt"/>
                <a:ea typeface="+mn-ea"/>
                <a:cs typeface="+mn-cs"/>
              </a:rPr>
              <a:t>EventArgs</a:t>
            </a:r>
            <a:r>
              <a:rPr lang="en-US" sz="1200" kern="1200" dirty="0">
                <a:solidFill>
                  <a:schemeClr val="tx1"/>
                </a:solidFill>
                <a:latin typeface="+mn-lt"/>
                <a:ea typeface="+mn-ea"/>
                <a:cs typeface="+mn-cs"/>
              </a:rPr>
              <a:t> e)</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textBox1.Text = "Merhaba, Bu benim ilk programım!!";</a:t>
            </a:r>
          </a:p>
          <a:p>
            <a:r>
              <a:rPr lang="tr-TR" sz="1200" kern="1200" dirty="0">
                <a:solidFill>
                  <a:schemeClr val="tx1"/>
                </a:solidFill>
                <a:latin typeface="+mn-lt"/>
                <a:ea typeface="+mn-ea"/>
                <a:cs typeface="+mn-cs"/>
              </a:rPr>
              <a:t>            textBox1.ForeColor = </a:t>
            </a:r>
            <a:r>
              <a:rPr lang="tr-TR" sz="1200" kern="1200" dirty="0" err="1">
                <a:solidFill>
                  <a:schemeClr val="tx1"/>
                </a:solidFill>
                <a:latin typeface="+mn-lt"/>
                <a:ea typeface="+mn-ea"/>
                <a:cs typeface="+mn-cs"/>
              </a:rPr>
              <a:t>Color.Yellow</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textBox1.BackColor = </a:t>
            </a:r>
            <a:r>
              <a:rPr lang="tr-TR" sz="1200" kern="1200" dirty="0" err="1">
                <a:solidFill>
                  <a:schemeClr val="tx1"/>
                </a:solidFill>
                <a:latin typeface="+mn-lt"/>
                <a:ea typeface="+mn-ea"/>
                <a:cs typeface="+mn-cs"/>
              </a:rPr>
              <a:t>Color.Red</a:t>
            </a:r>
            <a:r>
              <a:rPr lang="tr-TR" sz="1200" kern="1200" dirty="0">
                <a:solidFill>
                  <a:schemeClr val="tx1"/>
                </a:solidFill>
                <a:latin typeface="+mn-lt"/>
                <a:ea typeface="+mn-ea"/>
                <a:cs typeface="+mn-cs"/>
              </a:rPr>
              <a:t>;</a:t>
            </a:r>
          </a:p>
          <a:p>
            <a:endParaRPr lang="tr-TR" sz="1200" kern="1200" dirty="0">
              <a:solidFill>
                <a:schemeClr val="tx1"/>
              </a:solidFill>
              <a:latin typeface="+mn-lt"/>
              <a:ea typeface="+mn-ea"/>
              <a:cs typeface="+mn-cs"/>
            </a:endParaRPr>
          </a:p>
          <a:p>
            <a:r>
              <a:rPr lang="tr-TR" sz="1200" kern="1200" dirty="0">
                <a:solidFill>
                  <a:schemeClr val="tx1"/>
                </a:solidFill>
                <a:latin typeface="+mn-lt"/>
                <a:ea typeface="+mn-ea"/>
                <a:cs typeface="+mn-cs"/>
              </a:rPr>
              <a:t>        }</a:t>
            </a:r>
          </a:p>
          <a:p>
            <a:endParaRPr lang="tr-TR" sz="1200" kern="1200" dirty="0">
              <a:solidFill>
                <a:schemeClr val="tx1"/>
              </a:solidFill>
              <a:latin typeface="+mn-lt"/>
              <a:ea typeface="+mn-ea"/>
              <a:cs typeface="+mn-cs"/>
            </a:endParaRPr>
          </a:p>
          <a:p>
            <a:r>
              <a:rPr lang="en-US" sz="1200" kern="1200" dirty="0">
                <a:solidFill>
                  <a:schemeClr val="tx1"/>
                </a:solidFill>
                <a:latin typeface="+mn-lt"/>
                <a:ea typeface="+mn-ea"/>
                <a:cs typeface="+mn-cs"/>
              </a:rPr>
              <a:t>        private void button2_Click(object sender, </a:t>
            </a:r>
            <a:r>
              <a:rPr lang="en-US" sz="1200" kern="1200" dirty="0" err="1">
                <a:solidFill>
                  <a:schemeClr val="tx1"/>
                </a:solidFill>
                <a:latin typeface="+mn-lt"/>
                <a:ea typeface="+mn-ea"/>
                <a:cs typeface="+mn-cs"/>
              </a:rPr>
              <a:t>EventArgs</a:t>
            </a:r>
            <a:r>
              <a:rPr lang="en-US" sz="1200" kern="1200" dirty="0">
                <a:solidFill>
                  <a:schemeClr val="tx1"/>
                </a:solidFill>
                <a:latin typeface="+mn-lt"/>
                <a:ea typeface="+mn-ea"/>
                <a:cs typeface="+mn-cs"/>
              </a:rPr>
              <a:t> e)</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textBox1.Text = "";</a:t>
            </a:r>
          </a:p>
          <a:p>
            <a:r>
              <a:rPr lang="tr-TR" sz="1200" kern="1200" dirty="0">
                <a:solidFill>
                  <a:schemeClr val="tx1"/>
                </a:solidFill>
                <a:latin typeface="+mn-lt"/>
                <a:ea typeface="+mn-ea"/>
                <a:cs typeface="+mn-cs"/>
              </a:rPr>
              <a:t>        }</a:t>
            </a:r>
          </a:p>
          <a:p>
            <a:endParaRPr lang="tr-TR" sz="1200" kern="1200" dirty="0">
              <a:solidFill>
                <a:schemeClr val="tx1"/>
              </a:solidFill>
              <a:latin typeface="+mn-lt"/>
              <a:ea typeface="+mn-ea"/>
              <a:cs typeface="+mn-cs"/>
            </a:endParaRPr>
          </a:p>
          <a:p>
            <a:r>
              <a:rPr lang="en-US" sz="1200" kern="1200" dirty="0">
                <a:solidFill>
                  <a:schemeClr val="tx1"/>
                </a:solidFill>
                <a:latin typeface="+mn-lt"/>
                <a:ea typeface="+mn-ea"/>
                <a:cs typeface="+mn-cs"/>
              </a:rPr>
              <a:t>        private void button3_Click(object sender, </a:t>
            </a:r>
            <a:r>
              <a:rPr lang="en-US" sz="1200" kern="1200" dirty="0" err="1">
                <a:solidFill>
                  <a:schemeClr val="tx1"/>
                </a:solidFill>
                <a:latin typeface="+mn-lt"/>
                <a:ea typeface="+mn-ea"/>
                <a:cs typeface="+mn-cs"/>
              </a:rPr>
              <a:t>EventArgs</a:t>
            </a:r>
            <a:r>
              <a:rPr lang="en-US" sz="1200" kern="1200" dirty="0">
                <a:solidFill>
                  <a:schemeClr val="tx1"/>
                </a:solidFill>
                <a:latin typeface="+mn-lt"/>
                <a:ea typeface="+mn-ea"/>
                <a:cs typeface="+mn-cs"/>
              </a:rPr>
              <a:t> e)</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this.Close</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    }</a:t>
            </a:r>
          </a:p>
          <a:p>
            <a:r>
              <a:rPr lang="tr-TR" sz="1200" kern="1200" dirty="0">
                <a:solidFill>
                  <a:schemeClr val="tx1"/>
                </a:solidFill>
                <a:latin typeface="+mn-lt"/>
                <a:ea typeface="+mn-ea"/>
                <a:cs typeface="+mn-cs"/>
              </a:rPr>
              <a:t>}</a:t>
            </a:r>
          </a:p>
          <a:p>
            <a:endParaRPr lang="tr-TR" dirty="0"/>
          </a:p>
        </p:txBody>
      </p:sp>
      <p:sp>
        <p:nvSpPr>
          <p:cNvPr id="4" name="Slayt Numarası Yer Tutucusu 3"/>
          <p:cNvSpPr>
            <a:spLocks noGrp="1"/>
          </p:cNvSpPr>
          <p:nvPr>
            <p:ph type="sldNum" sz="quarter" idx="10"/>
          </p:nvPr>
        </p:nvSpPr>
        <p:spPr/>
        <p:txBody>
          <a:bodyPr/>
          <a:lstStyle/>
          <a:p>
            <a:fld id="{87AB98FB-B907-49BA-828E-6CC201F0D6D4}" type="slidenum">
              <a:rPr lang="tr-TR" smtClean="0"/>
              <a:pPr/>
              <a:t>31</a:t>
            </a:fld>
            <a:endParaRPr lang="tr-TR"/>
          </a:p>
        </p:txBody>
      </p:sp>
    </p:spTree>
    <p:extLst>
      <p:ext uri="{BB962C8B-B14F-4D97-AF65-F5344CB8AC3E}">
        <p14:creationId xmlns:p14="http://schemas.microsoft.com/office/powerpoint/2010/main" val="971193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50E6B96-23F7-4AD2-871F-B2DBB1709CE6}" type="slidenum">
              <a:rPr lang="en-US" smtClean="0"/>
              <a:pPr eaLnBrk="1" hangingPunct="1"/>
              <a:t>32</a:t>
            </a:fld>
            <a:endParaRPr 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r-TR"/>
          </a:p>
        </p:txBody>
      </p:sp>
    </p:spTree>
    <p:extLst>
      <p:ext uri="{BB962C8B-B14F-4D97-AF65-F5344CB8AC3E}">
        <p14:creationId xmlns:p14="http://schemas.microsoft.com/office/powerpoint/2010/main" val="1554525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err="1">
                <a:solidFill>
                  <a:schemeClr val="tx1"/>
                </a:solidFill>
                <a:latin typeface="+mn-lt"/>
                <a:ea typeface="+mn-ea"/>
                <a:cs typeface="+mn-cs"/>
              </a:rPr>
              <a:t>Label</a:t>
            </a:r>
            <a:r>
              <a:rPr lang="tr-TR" sz="1200" kern="1200" dirty="0">
                <a:solidFill>
                  <a:schemeClr val="tx1"/>
                </a:solidFill>
                <a:latin typeface="+mn-lt"/>
                <a:ea typeface="+mn-ea"/>
                <a:cs typeface="+mn-cs"/>
              </a:rPr>
              <a:t>-Buton </a:t>
            </a:r>
          </a:p>
          <a:p>
            <a:r>
              <a:rPr lang="tr-TR" sz="1200" kern="1200" dirty="0" err="1">
                <a:solidFill>
                  <a:schemeClr val="tx1"/>
                </a:solidFill>
                <a:latin typeface="+mn-lt"/>
                <a:ea typeface="+mn-ea"/>
                <a:cs typeface="+mn-cs"/>
              </a:rPr>
              <a:t>string</a:t>
            </a:r>
            <a:r>
              <a:rPr lang="tr-TR" sz="1200" kern="1200" dirty="0">
                <a:solidFill>
                  <a:schemeClr val="tx1"/>
                </a:solidFill>
                <a:latin typeface="+mn-lt"/>
                <a:ea typeface="+mn-ea"/>
                <a:cs typeface="+mn-cs"/>
              </a:rPr>
              <a:t> metin;</a:t>
            </a:r>
          </a:p>
          <a:p>
            <a:r>
              <a:rPr lang="tr-TR" sz="1200" kern="1200" dirty="0">
                <a:solidFill>
                  <a:schemeClr val="tx1"/>
                </a:solidFill>
                <a:latin typeface="+mn-lt"/>
                <a:ea typeface="+mn-ea"/>
                <a:cs typeface="+mn-cs"/>
              </a:rPr>
              <a:t> metin = "Merhaba dünya";</a:t>
            </a:r>
          </a:p>
          <a:p>
            <a:r>
              <a:rPr lang="tr-TR" sz="1200" kern="1200" dirty="0">
                <a:solidFill>
                  <a:schemeClr val="tx1"/>
                </a:solidFill>
                <a:latin typeface="+mn-lt"/>
                <a:ea typeface="+mn-ea"/>
                <a:cs typeface="+mn-cs"/>
              </a:rPr>
              <a:t> label1.Text = metin;</a:t>
            </a:r>
          </a:p>
          <a:p>
            <a:endParaRPr lang="tr-TR" sz="1200" kern="1200" dirty="0">
              <a:solidFill>
                <a:schemeClr val="tx1"/>
              </a:solidFill>
              <a:latin typeface="+mn-lt"/>
              <a:ea typeface="+mn-ea"/>
              <a:cs typeface="+mn-cs"/>
            </a:endParaRPr>
          </a:p>
          <a:p>
            <a:endParaRPr lang="tr-TR" sz="1200" kern="1200" dirty="0">
              <a:solidFill>
                <a:schemeClr val="tx1"/>
              </a:solidFill>
              <a:latin typeface="+mn-lt"/>
              <a:ea typeface="+mn-ea"/>
              <a:cs typeface="+mn-cs"/>
            </a:endParaRP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string</a:t>
            </a:r>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adsoyad</a:t>
            </a:r>
            <a:r>
              <a:rPr lang="tr-TR" sz="1200" kern="1200" dirty="0">
                <a:solidFill>
                  <a:schemeClr val="tx1"/>
                </a:solidFill>
                <a:latin typeface="+mn-lt"/>
                <a:ea typeface="+mn-ea"/>
                <a:cs typeface="+mn-cs"/>
              </a:rPr>
              <a:t>, meslek;</a:t>
            </a:r>
          </a:p>
          <a:p>
            <a:r>
              <a:rPr lang="tr-TR" sz="1200" kern="1200" dirty="0">
                <a:solidFill>
                  <a:schemeClr val="tx1"/>
                </a:solidFill>
                <a:latin typeface="+mn-lt"/>
                <a:ea typeface="+mn-ea"/>
                <a:cs typeface="+mn-cs"/>
              </a:rPr>
              <a:t>            </a:t>
            </a:r>
            <a:r>
              <a:rPr lang="tr-TR" sz="1200" kern="1200" dirty="0" err="1">
                <a:solidFill>
                  <a:schemeClr val="tx1"/>
                </a:solidFill>
                <a:latin typeface="+mn-lt"/>
                <a:ea typeface="+mn-ea"/>
                <a:cs typeface="+mn-cs"/>
              </a:rPr>
              <a:t>adsoyad</a:t>
            </a:r>
            <a:r>
              <a:rPr lang="tr-TR" sz="1200" kern="1200" dirty="0">
                <a:solidFill>
                  <a:schemeClr val="tx1"/>
                </a:solidFill>
                <a:latin typeface="+mn-lt"/>
                <a:ea typeface="+mn-ea"/>
                <a:cs typeface="+mn-cs"/>
              </a:rPr>
              <a:t> = "Endüstri Mühendisi";</a:t>
            </a:r>
          </a:p>
          <a:p>
            <a:r>
              <a:rPr lang="tr-TR" sz="1200" kern="1200" dirty="0">
                <a:solidFill>
                  <a:schemeClr val="tx1"/>
                </a:solidFill>
                <a:latin typeface="+mn-lt"/>
                <a:ea typeface="+mn-ea"/>
                <a:cs typeface="+mn-cs"/>
              </a:rPr>
              <a:t>            meslek = "Öğretmen";</a:t>
            </a:r>
          </a:p>
          <a:p>
            <a:r>
              <a:rPr lang="tr-TR" sz="1200" kern="1200" dirty="0">
                <a:solidFill>
                  <a:schemeClr val="tx1"/>
                </a:solidFill>
                <a:latin typeface="+mn-lt"/>
                <a:ea typeface="+mn-ea"/>
                <a:cs typeface="+mn-cs"/>
              </a:rPr>
              <a:t>            label1.Text = </a:t>
            </a:r>
            <a:r>
              <a:rPr lang="tr-TR" sz="1200" kern="1200" dirty="0" err="1">
                <a:solidFill>
                  <a:schemeClr val="tx1"/>
                </a:solidFill>
                <a:latin typeface="+mn-lt"/>
                <a:ea typeface="+mn-ea"/>
                <a:cs typeface="+mn-cs"/>
              </a:rPr>
              <a:t>adsoyad</a:t>
            </a:r>
            <a:r>
              <a:rPr lang="tr-TR" sz="1200" kern="1200" dirty="0">
                <a:solidFill>
                  <a:schemeClr val="tx1"/>
                </a:solidFill>
                <a:latin typeface="+mn-lt"/>
                <a:ea typeface="+mn-ea"/>
                <a:cs typeface="+mn-cs"/>
              </a:rPr>
              <a:t>;</a:t>
            </a:r>
          </a:p>
          <a:p>
            <a:r>
              <a:rPr lang="tr-TR" sz="1200" kern="1200" dirty="0">
                <a:solidFill>
                  <a:schemeClr val="tx1"/>
                </a:solidFill>
                <a:latin typeface="+mn-lt"/>
                <a:ea typeface="+mn-ea"/>
                <a:cs typeface="+mn-cs"/>
              </a:rPr>
              <a:t>            label2.Text = meslek;</a:t>
            </a:r>
            <a:endParaRPr lang="tr-TR" dirty="0"/>
          </a:p>
        </p:txBody>
      </p:sp>
      <p:sp>
        <p:nvSpPr>
          <p:cNvPr id="4" name="Slayt Numarası Yer Tutucusu 3"/>
          <p:cNvSpPr>
            <a:spLocks noGrp="1"/>
          </p:cNvSpPr>
          <p:nvPr>
            <p:ph type="sldNum" sz="quarter" idx="10"/>
          </p:nvPr>
        </p:nvSpPr>
        <p:spPr/>
        <p:txBody>
          <a:bodyPr/>
          <a:lstStyle/>
          <a:p>
            <a:fld id="{87AB98FB-B907-49BA-828E-6CC201F0D6D4}" type="slidenum">
              <a:rPr lang="tr-TR" smtClean="0"/>
              <a:pPr/>
              <a:t>35</a:t>
            </a:fld>
            <a:endParaRPr lang="tr-TR"/>
          </a:p>
        </p:txBody>
      </p:sp>
    </p:spTree>
    <p:extLst>
      <p:ext uri="{BB962C8B-B14F-4D97-AF65-F5344CB8AC3E}">
        <p14:creationId xmlns:p14="http://schemas.microsoft.com/office/powerpoint/2010/main" val="1748328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9738554-12FC-4BE7-B285-B53D76F1CEA1}" type="slidenum">
              <a:rPr lang="en-US" smtClean="0"/>
              <a:pPr eaLnBrk="1" hangingPunct="1"/>
              <a:t>44</a:t>
            </a:fld>
            <a:endParaRPr 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tr-TR"/>
              <a:t>&lt;Make DEMO with and wihout functions</a:t>
            </a:r>
          </a:p>
          <a:p>
            <a:pPr eaLnBrk="1" hangingPunct="1"/>
            <a:endParaRPr lang="en-US"/>
          </a:p>
        </p:txBody>
      </p:sp>
    </p:spTree>
    <p:extLst>
      <p:ext uri="{BB962C8B-B14F-4D97-AF65-F5344CB8AC3E}">
        <p14:creationId xmlns:p14="http://schemas.microsoft.com/office/powerpoint/2010/main" val="2530837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tr-TR"/>
          </a:p>
        </p:txBody>
      </p:sp>
      <p:sp>
        <p:nvSpPr>
          <p:cNvPr id="4" name="Date Placeholder 3"/>
          <p:cNvSpPr>
            <a:spLocks noGrp="1"/>
          </p:cNvSpPr>
          <p:nvPr>
            <p:ph type="dt" sz="half" idx="10"/>
          </p:nvPr>
        </p:nvSpPr>
        <p:spPr/>
        <p:txBody>
          <a:bodyPr/>
          <a:lstStyle/>
          <a:p>
            <a:fld id="{8A07F5E8-B402-4F57-B203-F0E8BD11D178}" type="datetimeFigureOut">
              <a:rPr lang="tr-TR" smtClean="0"/>
              <a:pPr/>
              <a:t>1.10.2021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2356325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8A07F5E8-B402-4F57-B203-F0E8BD11D178}" type="datetimeFigureOut">
              <a:rPr lang="tr-TR" smtClean="0"/>
              <a:pPr/>
              <a:t>1.10.2021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703001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07F5E8-B402-4F57-B203-F0E8BD11D178}" type="datetimeFigureOut">
              <a:rPr lang="tr-TR" smtClean="0"/>
              <a:pPr/>
              <a:t>1.10.2021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847283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p>
            <a:fld id="{8A07F5E8-B402-4F57-B203-F0E8BD11D178}" type="datetimeFigureOut">
              <a:rPr lang="tr-TR" smtClean="0"/>
              <a:pPr/>
              <a:t>1.10.2021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2670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p>
            <a:fld id="{8A07F5E8-B402-4F57-B203-F0E8BD11D178}" type="datetimeFigureOut">
              <a:rPr lang="tr-TR" smtClean="0"/>
              <a:pPr/>
              <a:t>1.10.2021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3975510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p>
            <a:fld id="{8A07F5E8-B402-4F57-B203-F0E8BD11D178}" type="datetimeFigureOut">
              <a:rPr lang="tr-TR" smtClean="0"/>
              <a:pPr/>
              <a:t>1.10.2021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334200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07F5E8-B402-4F57-B203-F0E8BD11D178}" type="datetimeFigureOut">
              <a:rPr lang="tr-TR" smtClean="0"/>
              <a:pPr/>
              <a:t>1.10.2021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982708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07F5E8-B402-4F57-B203-F0E8BD11D178}" type="datetimeFigureOut">
              <a:rPr lang="tr-TR" smtClean="0"/>
              <a:pPr/>
              <a:t>1.10.2021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1102496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07F5E8-B402-4F57-B203-F0E8BD11D178}" type="datetimeFigureOut">
              <a:rPr lang="tr-TR" smtClean="0"/>
              <a:pPr/>
              <a:t>1.10.2021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2038432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8A07F5E8-B402-4F57-B203-F0E8BD11D178}" type="datetimeFigureOut">
              <a:rPr lang="tr-TR" smtClean="0"/>
              <a:pPr/>
              <a:t>1.10.2021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1131812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8A07F5E8-B402-4F57-B203-F0E8BD11D178}" type="datetimeFigureOut">
              <a:rPr lang="tr-TR" smtClean="0"/>
              <a:pPr/>
              <a:t>1.10.2021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CEB7948-5106-4D34-B81A-B21661782F00}" type="slidenum">
              <a:rPr lang="tr-TR" smtClean="0"/>
              <a:pPr/>
              <a:t>‹#›</a:t>
            </a:fld>
            <a:endParaRPr lang="tr-TR"/>
          </a:p>
        </p:txBody>
      </p:sp>
    </p:spTree>
    <p:extLst>
      <p:ext uri="{BB962C8B-B14F-4D97-AF65-F5344CB8AC3E}">
        <p14:creationId xmlns:p14="http://schemas.microsoft.com/office/powerpoint/2010/main" val="188266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7F5E8-B402-4F57-B203-F0E8BD11D178}" type="datetimeFigureOut">
              <a:rPr lang="tr-TR" smtClean="0"/>
              <a:pPr/>
              <a:t>1.10.2021</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EB7948-5106-4D34-B81A-B21661782F00}" type="slidenum">
              <a:rPr lang="tr-TR" smtClean="0"/>
              <a:pPr/>
              <a:t>‹#›</a:t>
            </a:fld>
            <a:endParaRPr lang="tr-TR"/>
          </a:p>
        </p:txBody>
      </p:sp>
    </p:spTree>
    <p:extLst>
      <p:ext uri="{BB962C8B-B14F-4D97-AF65-F5344CB8AC3E}">
        <p14:creationId xmlns:p14="http://schemas.microsoft.com/office/powerpoint/2010/main" val="4226925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539552" y="3140968"/>
            <a:ext cx="8229600" cy="1143000"/>
          </a:xfrm>
        </p:spPr>
        <p:txBody>
          <a:bodyPr>
            <a:normAutofit fontScale="90000"/>
          </a:bodyPr>
          <a:lstStyle/>
          <a:p>
            <a:r>
              <a:rPr lang="tr-TR" dirty="0"/>
              <a:t>VISUAL PROGRAMMING</a:t>
            </a:r>
            <a:br>
              <a:rPr lang="tr-TR" dirty="0"/>
            </a:br>
            <a:br>
              <a:rPr lang="tr-TR" dirty="0"/>
            </a:br>
            <a:br>
              <a:rPr lang="tr-TR" dirty="0"/>
            </a:br>
            <a:r>
              <a:rPr lang="tr-TR" dirty="0"/>
              <a:t>WEEK 1</a:t>
            </a:r>
            <a:br>
              <a:rPr lang="tr-TR" dirty="0"/>
            </a:br>
            <a:endParaRPr lang="tr-TR" dirty="0"/>
          </a:p>
        </p:txBody>
      </p:sp>
    </p:spTree>
    <p:extLst>
      <p:ext uri="{BB962C8B-B14F-4D97-AF65-F5344CB8AC3E}">
        <p14:creationId xmlns:p14="http://schemas.microsoft.com/office/powerpoint/2010/main" val="68904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program-console application</a:t>
            </a:r>
          </a:p>
        </p:txBody>
      </p:sp>
      <p:sp>
        <p:nvSpPr>
          <p:cNvPr id="5" name="TextBox 4"/>
          <p:cNvSpPr txBox="1"/>
          <p:nvPr/>
        </p:nvSpPr>
        <p:spPr>
          <a:xfrm>
            <a:off x="736451" y="827420"/>
            <a:ext cx="7704856" cy="369332"/>
          </a:xfrm>
          <a:prstGeom prst="rect">
            <a:avLst/>
          </a:prstGeom>
          <a:noFill/>
        </p:spPr>
        <p:txBody>
          <a:bodyPr wrap="square" rtlCol="0">
            <a:spAutoFit/>
          </a:bodyPr>
          <a:lstStyle/>
          <a:p>
            <a:r>
              <a:rPr lang="en-US" dirty="0"/>
              <a:t>File-New-Project after opening Visual Studio</a:t>
            </a:r>
          </a:p>
        </p:txBody>
      </p:sp>
      <p:pic>
        <p:nvPicPr>
          <p:cNvPr id="2" name="Resim 1"/>
          <p:cNvPicPr>
            <a:picLocks noChangeAspect="1"/>
          </p:cNvPicPr>
          <p:nvPr/>
        </p:nvPicPr>
        <p:blipFill>
          <a:blip r:embed="rId2"/>
          <a:stretch>
            <a:fillRect/>
          </a:stretch>
        </p:blipFill>
        <p:spPr>
          <a:xfrm>
            <a:off x="457200" y="1196752"/>
            <a:ext cx="8263359" cy="5328592"/>
          </a:xfrm>
          <a:prstGeom prst="rect">
            <a:avLst/>
          </a:prstGeom>
        </p:spPr>
      </p:pic>
    </p:spTree>
    <p:extLst>
      <p:ext uri="{BB962C8B-B14F-4D97-AF65-F5344CB8AC3E}">
        <p14:creationId xmlns:p14="http://schemas.microsoft.com/office/powerpoint/2010/main" val="2786568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a:t>
            </a:r>
          </a:p>
        </p:txBody>
      </p:sp>
      <p:sp>
        <p:nvSpPr>
          <p:cNvPr id="5" name="TextBox 4"/>
          <p:cNvSpPr txBox="1"/>
          <p:nvPr/>
        </p:nvSpPr>
        <p:spPr>
          <a:xfrm>
            <a:off x="755576" y="836712"/>
            <a:ext cx="7704856" cy="369332"/>
          </a:xfrm>
          <a:prstGeom prst="rect">
            <a:avLst/>
          </a:prstGeom>
          <a:noFill/>
        </p:spPr>
        <p:txBody>
          <a:bodyPr wrap="square" rtlCol="0">
            <a:spAutoFit/>
          </a:bodyPr>
          <a:lstStyle/>
          <a:p>
            <a:r>
              <a:rPr lang="en-US" dirty="0"/>
              <a:t>In the window that opens, we first select the console application.</a:t>
            </a:r>
          </a:p>
        </p:txBody>
      </p:sp>
      <p:pic>
        <p:nvPicPr>
          <p:cNvPr id="2" name="Resim 1"/>
          <p:cNvPicPr>
            <a:picLocks noChangeAspect="1"/>
          </p:cNvPicPr>
          <p:nvPr/>
        </p:nvPicPr>
        <p:blipFill>
          <a:blip r:embed="rId2"/>
          <a:stretch>
            <a:fillRect/>
          </a:stretch>
        </p:blipFill>
        <p:spPr>
          <a:xfrm>
            <a:off x="539552" y="1206044"/>
            <a:ext cx="7717110" cy="5344509"/>
          </a:xfrm>
          <a:prstGeom prst="rect">
            <a:avLst/>
          </a:prstGeom>
        </p:spPr>
      </p:pic>
    </p:spTree>
    <p:extLst>
      <p:ext uri="{BB962C8B-B14F-4D97-AF65-F5344CB8AC3E}">
        <p14:creationId xmlns:p14="http://schemas.microsoft.com/office/powerpoint/2010/main" val="2391346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a:t>
            </a:r>
          </a:p>
        </p:txBody>
      </p:sp>
      <p:sp>
        <p:nvSpPr>
          <p:cNvPr id="5" name="TextBox 4"/>
          <p:cNvSpPr txBox="1"/>
          <p:nvPr/>
        </p:nvSpPr>
        <p:spPr>
          <a:xfrm>
            <a:off x="755576" y="836712"/>
            <a:ext cx="7704856" cy="369332"/>
          </a:xfrm>
          <a:prstGeom prst="rect">
            <a:avLst/>
          </a:prstGeom>
          <a:noFill/>
        </p:spPr>
        <p:txBody>
          <a:bodyPr wrap="square" rtlCol="0">
            <a:spAutoFit/>
          </a:bodyPr>
          <a:lstStyle/>
          <a:p>
            <a:r>
              <a:rPr lang="en-US" dirty="0"/>
              <a:t>The screen that will appear:</a:t>
            </a:r>
          </a:p>
        </p:txBody>
      </p:sp>
      <p:pic>
        <p:nvPicPr>
          <p:cNvPr id="6" name="Resim 5"/>
          <p:cNvPicPr>
            <a:picLocks noChangeAspect="1"/>
          </p:cNvPicPr>
          <p:nvPr/>
        </p:nvPicPr>
        <p:blipFill>
          <a:blip r:embed="rId2"/>
          <a:stretch>
            <a:fillRect/>
          </a:stretch>
        </p:blipFill>
        <p:spPr>
          <a:xfrm>
            <a:off x="179512" y="1223209"/>
            <a:ext cx="8640960" cy="5135135"/>
          </a:xfrm>
          <a:prstGeom prst="rect">
            <a:avLst/>
          </a:prstGeom>
        </p:spPr>
      </p:pic>
    </p:spTree>
    <p:extLst>
      <p:ext uri="{BB962C8B-B14F-4D97-AF65-F5344CB8AC3E}">
        <p14:creationId xmlns:p14="http://schemas.microsoft.com/office/powerpoint/2010/main" val="594104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a:t>
            </a:r>
          </a:p>
        </p:txBody>
      </p:sp>
      <p:pic>
        <p:nvPicPr>
          <p:cNvPr id="2" name="Resim 1"/>
          <p:cNvPicPr>
            <a:picLocks noChangeAspect="1"/>
          </p:cNvPicPr>
          <p:nvPr/>
        </p:nvPicPr>
        <p:blipFill>
          <a:blip r:embed="rId3"/>
          <a:stretch>
            <a:fillRect/>
          </a:stretch>
        </p:blipFill>
        <p:spPr>
          <a:xfrm>
            <a:off x="216032" y="908719"/>
            <a:ext cx="8820463" cy="4707435"/>
          </a:xfrm>
          <a:prstGeom prst="rect">
            <a:avLst/>
          </a:prstGeom>
        </p:spPr>
      </p:pic>
      <p:sp>
        <p:nvSpPr>
          <p:cNvPr id="3" name="TextBox 2">
            <a:extLst>
              <a:ext uri="{FF2B5EF4-FFF2-40B4-BE49-F238E27FC236}">
                <a16:creationId xmlns:a16="http://schemas.microsoft.com/office/drawing/2014/main" id="{BCD065C7-ECE4-AA47-9CC3-0C3D9FAD0150}"/>
              </a:ext>
            </a:extLst>
          </p:cNvPr>
          <p:cNvSpPr txBox="1"/>
          <p:nvPr/>
        </p:nvSpPr>
        <p:spPr>
          <a:xfrm>
            <a:off x="7526074" y="4437112"/>
            <a:ext cx="1222390" cy="646331"/>
          </a:xfrm>
          <a:prstGeom prst="rect">
            <a:avLst/>
          </a:prstGeom>
          <a:solidFill>
            <a:schemeClr val="bg1"/>
          </a:solidFill>
        </p:spPr>
        <p:txBody>
          <a:bodyPr wrap="square" rtlCol="0">
            <a:spAutoFit/>
          </a:bodyPr>
          <a:lstStyle/>
          <a:p>
            <a:r>
              <a:rPr lang="en-TR" dirty="0"/>
              <a:t>Write the code here</a:t>
            </a:r>
          </a:p>
        </p:txBody>
      </p:sp>
      <p:sp>
        <p:nvSpPr>
          <p:cNvPr id="5" name="TextBox 4">
            <a:extLst>
              <a:ext uri="{FF2B5EF4-FFF2-40B4-BE49-F238E27FC236}">
                <a16:creationId xmlns:a16="http://schemas.microsoft.com/office/drawing/2014/main" id="{C3859ABE-5C46-3445-A5B3-AC3077500C27}"/>
              </a:ext>
            </a:extLst>
          </p:cNvPr>
          <p:cNvSpPr txBox="1"/>
          <p:nvPr/>
        </p:nvSpPr>
        <p:spPr>
          <a:xfrm>
            <a:off x="6156176" y="2034165"/>
            <a:ext cx="2168624" cy="1200329"/>
          </a:xfrm>
          <a:prstGeom prst="rect">
            <a:avLst/>
          </a:prstGeom>
          <a:solidFill>
            <a:schemeClr val="bg1"/>
          </a:solidFill>
        </p:spPr>
        <p:txBody>
          <a:bodyPr wrap="square" rtlCol="0">
            <a:spAutoFit/>
          </a:bodyPr>
          <a:lstStyle/>
          <a:p>
            <a:r>
              <a:rPr lang="en-TR" dirty="0"/>
              <a:t>After writing the code press Start here or F5 from the keyboard</a:t>
            </a:r>
          </a:p>
        </p:txBody>
      </p:sp>
    </p:spTree>
    <p:extLst>
      <p:ext uri="{BB962C8B-B14F-4D97-AF65-F5344CB8AC3E}">
        <p14:creationId xmlns:p14="http://schemas.microsoft.com/office/powerpoint/2010/main" val="2654825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a:t>
            </a:r>
          </a:p>
        </p:txBody>
      </p:sp>
      <p:sp>
        <p:nvSpPr>
          <p:cNvPr id="2" name="TextBox 1"/>
          <p:cNvSpPr txBox="1"/>
          <p:nvPr/>
        </p:nvSpPr>
        <p:spPr>
          <a:xfrm>
            <a:off x="0" y="6021288"/>
            <a:ext cx="8820472" cy="646331"/>
          </a:xfrm>
          <a:prstGeom prst="rect">
            <a:avLst/>
          </a:prstGeom>
          <a:noFill/>
        </p:spPr>
        <p:txBody>
          <a:bodyPr wrap="square" rtlCol="0">
            <a:spAutoFit/>
          </a:bodyPr>
          <a:lstStyle/>
          <a:p>
            <a:r>
              <a:rPr lang="en-US" dirty="0"/>
              <a:t>The text we want has appeared on the console screen. If we press the enter key, the program will terminate…</a:t>
            </a:r>
          </a:p>
        </p:txBody>
      </p:sp>
      <p:pic>
        <p:nvPicPr>
          <p:cNvPr id="3" name="Resim 2"/>
          <p:cNvPicPr>
            <a:picLocks noChangeAspect="1"/>
          </p:cNvPicPr>
          <p:nvPr/>
        </p:nvPicPr>
        <p:blipFill>
          <a:blip r:embed="rId2"/>
          <a:stretch>
            <a:fillRect/>
          </a:stretch>
        </p:blipFill>
        <p:spPr>
          <a:xfrm>
            <a:off x="152433" y="1052736"/>
            <a:ext cx="8534367" cy="4437173"/>
          </a:xfrm>
          <a:prstGeom prst="rect">
            <a:avLst/>
          </a:prstGeom>
        </p:spPr>
      </p:pic>
    </p:spTree>
    <p:extLst>
      <p:ext uri="{BB962C8B-B14F-4D97-AF65-F5344CB8AC3E}">
        <p14:creationId xmlns:p14="http://schemas.microsoft.com/office/powerpoint/2010/main" val="1140672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a:t>
            </a:r>
          </a:p>
        </p:txBody>
      </p:sp>
      <p:sp>
        <p:nvSpPr>
          <p:cNvPr id="2" name="TextBox 1"/>
          <p:cNvSpPr txBox="1"/>
          <p:nvPr/>
        </p:nvSpPr>
        <p:spPr>
          <a:xfrm>
            <a:off x="161764" y="1052736"/>
            <a:ext cx="8820472" cy="3785652"/>
          </a:xfrm>
          <a:prstGeom prst="rect">
            <a:avLst/>
          </a:prstGeom>
          <a:noFill/>
        </p:spPr>
        <p:txBody>
          <a:bodyPr wrap="square" rtlCol="0">
            <a:spAutoFit/>
          </a:bodyPr>
          <a:lstStyle/>
          <a:p>
            <a:endParaRPr lang="tr-TR" sz="4000" dirty="0"/>
          </a:p>
          <a:p>
            <a:r>
              <a:rPr lang="tr-TR" sz="4000" dirty="0"/>
              <a:t>How do </a:t>
            </a:r>
            <a:r>
              <a:rPr lang="tr-TR" sz="4000" dirty="0" err="1"/>
              <a:t>we</a:t>
            </a:r>
            <a:r>
              <a:rPr lang="tr-TR" sz="4000" dirty="0"/>
              <a:t> </a:t>
            </a:r>
            <a:r>
              <a:rPr lang="tr-TR" sz="4000" dirty="0" err="1"/>
              <a:t>run</a:t>
            </a:r>
            <a:r>
              <a:rPr lang="tr-TR" sz="4000" dirty="0"/>
              <a:t> </a:t>
            </a:r>
            <a:r>
              <a:rPr lang="tr-TR" sz="4000" dirty="0" err="1"/>
              <a:t>the</a:t>
            </a:r>
            <a:r>
              <a:rPr lang="tr-TR" sz="4000" dirty="0"/>
              <a:t> program </a:t>
            </a:r>
            <a:r>
              <a:rPr lang="tr-TR" sz="4000" dirty="0" err="1"/>
              <a:t>again</a:t>
            </a:r>
            <a:r>
              <a:rPr lang="tr-TR" sz="4000" dirty="0"/>
              <a:t>?</a:t>
            </a:r>
          </a:p>
          <a:p>
            <a:endParaRPr lang="tr-TR" sz="4000" dirty="0"/>
          </a:p>
          <a:p>
            <a:r>
              <a:rPr lang="tr-TR" sz="4000" dirty="0"/>
              <a:t>How do </a:t>
            </a:r>
            <a:r>
              <a:rPr lang="tr-TR" sz="4000" dirty="0" err="1"/>
              <a:t>we</a:t>
            </a:r>
            <a:r>
              <a:rPr lang="tr-TR" sz="4000" dirty="0"/>
              <a:t> </a:t>
            </a:r>
            <a:r>
              <a:rPr lang="tr-TR" sz="4000" dirty="0" err="1"/>
              <a:t>open</a:t>
            </a:r>
            <a:r>
              <a:rPr lang="tr-TR" sz="4000" dirty="0"/>
              <a:t> </a:t>
            </a:r>
            <a:r>
              <a:rPr lang="tr-TR" sz="4000" dirty="0" err="1"/>
              <a:t>the</a:t>
            </a:r>
            <a:r>
              <a:rPr lang="tr-TR" sz="4000" dirty="0"/>
              <a:t> </a:t>
            </a:r>
            <a:r>
              <a:rPr lang="tr-TR" sz="4000" dirty="0" err="1"/>
              <a:t>project</a:t>
            </a:r>
            <a:r>
              <a:rPr lang="tr-TR" sz="4000" dirty="0"/>
              <a:t>?</a:t>
            </a:r>
          </a:p>
          <a:p>
            <a:endParaRPr lang="tr-TR" sz="4000" dirty="0"/>
          </a:p>
          <a:p>
            <a:r>
              <a:rPr lang="tr-TR" sz="4000" dirty="0" err="1"/>
              <a:t>Where</a:t>
            </a:r>
            <a:r>
              <a:rPr lang="tr-TR" sz="4000" dirty="0"/>
              <a:t> is </a:t>
            </a:r>
            <a:r>
              <a:rPr lang="tr-TR" sz="4000" dirty="0" err="1"/>
              <a:t>the</a:t>
            </a:r>
            <a:r>
              <a:rPr lang="tr-TR" sz="4000" dirty="0"/>
              <a:t> </a:t>
            </a:r>
            <a:r>
              <a:rPr lang="tr-TR" sz="4000" dirty="0" err="1"/>
              <a:t>project</a:t>
            </a:r>
            <a:r>
              <a:rPr lang="tr-TR" sz="4000" dirty="0"/>
              <a:t> </a:t>
            </a:r>
            <a:r>
              <a:rPr lang="tr-TR" sz="4000" dirty="0" err="1"/>
              <a:t>saved</a:t>
            </a:r>
            <a:r>
              <a:rPr lang="tr-TR" sz="4000" dirty="0"/>
              <a:t>?</a:t>
            </a:r>
          </a:p>
        </p:txBody>
      </p:sp>
    </p:spTree>
    <p:extLst>
      <p:ext uri="{BB962C8B-B14F-4D97-AF65-F5344CB8AC3E}">
        <p14:creationId xmlns:p14="http://schemas.microsoft.com/office/powerpoint/2010/main" val="2056628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grpSp>
        <p:nvGrpSpPr>
          <p:cNvPr id="11" name="Group 10"/>
          <p:cNvGrpSpPr/>
          <p:nvPr/>
        </p:nvGrpSpPr>
        <p:grpSpPr>
          <a:xfrm>
            <a:off x="161764" y="1177588"/>
            <a:ext cx="8820472" cy="2717589"/>
            <a:chOff x="161764" y="1177588"/>
            <a:chExt cx="8820472" cy="2717589"/>
          </a:xfrm>
        </p:grpSpPr>
        <p:sp>
          <p:nvSpPr>
            <p:cNvPr id="2" name="TextBox 1"/>
            <p:cNvSpPr txBox="1"/>
            <p:nvPr/>
          </p:nvSpPr>
          <p:spPr>
            <a:xfrm>
              <a:off x="161764" y="1177588"/>
              <a:ext cx="8820472" cy="523220"/>
            </a:xfrm>
            <a:prstGeom prst="rect">
              <a:avLst/>
            </a:prstGeom>
            <a:noFill/>
          </p:spPr>
          <p:txBody>
            <a:bodyPr wrap="square" rtlCol="0">
              <a:spAutoFit/>
            </a:bodyPr>
            <a:lstStyle/>
            <a:p>
              <a:r>
                <a:rPr lang="tr-TR" sz="2800" dirty="0">
                  <a:solidFill>
                    <a:srgbClr val="2B91AF"/>
                  </a:solidFill>
                </a:rPr>
                <a:t>Console</a:t>
              </a:r>
              <a:r>
                <a:rPr lang="tr-TR" sz="2800" dirty="0">
                  <a:solidFill>
                    <a:prstClr val="black"/>
                  </a:solidFill>
                </a:rPr>
                <a:t>.WriteLine(</a:t>
              </a:r>
              <a:r>
                <a:rPr lang="tr-TR" sz="2800" dirty="0">
                  <a:solidFill>
                    <a:srgbClr val="A31515"/>
                  </a:solidFill>
                </a:rPr>
                <a:t>"Merhaba, Bu benim ilk programim"</a:t>
              </a:r>
              <a:r>
                <a:rPr lang="tr-TR" sz="2800" dirty="0">
                  <a:solidFill>
                    <a:prstClr val="black"/>
                  </a:solidFill>
                </a:rPr>
                <a:t>);</a:t>
              </a:r>
              <a:endParaRPr lang="tr-TR" sz="2800" dirty="0"/>
            </a:p>
          </p:txBody>
        </p:sp>
        <p:cxnSp>
          <p:nvCxnSpPr>
            <p:cNvPr id="5" name="Straight Arrow Connector 4"/>
            <p:cNvCxnSpPr/>
            <p:nvPr/>
          </p:nvCxnSpPr>
          <p:spPr>
            <a:xfrm flipV="1">
              <a:off x="899592" y="1844824"/>
              <a:ext cx="0" cy="129614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6" name="Straight Arrow Connector 5"/>
            <p:cNvCxnSpPr/>
            <p:nvPr/>
          </p:nvCxnSpPr>
          <p:spPr>
            <a:xfrm flipV="1">
              <a:off x="2123728" y="1844824"/>
              <a:ext cx="0" cy="129614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 name="Straight Arrow Connector 6"/>
            <p:cNvCxnSpPr/>
            <p:nvPr/>
          </p:nvCxnSpPr>
          <p:spPr>
            <a:xfrm flipV="1">
              <a:off x="5292080" y="1844824"/>
              <a:ext cx="0" cy="129614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 name="TextBox 7"/>
            <p:cNvSpPr txBox="1"/>
            <p:nvPr/>
          </p:nvSpPr>
          <p:spPr>
            <a:xfrm>
              <a:off x="535855" y="3515891"/>
              <a:ext cx="865700" cy="369332"/>
            </a:xfrm>
            <a:prstGeom prst="rect">
              <a:avLst/>
            </a:prstGeom>
            <a:noFill/>
          </p:spPr>
          <p:txBody>
            <a:bodyPr wrap="square" rtlCol="0">
              <a:spAutoFit/>
            </a:bodyPr>
            <a:lstStyle/>
            <a:p>
              <a:r>
                <a:rPr lang="tr-TR" dirty="0"/>
                <a:t>Class</a:t>
              </a:r>
            </a:p>
          </p:txBody>
        </p:sp>
        <p:sp>
          <p:nvSpPr>
            <p:cNvPr id="9" name="TextBox 8"/>
            <p:cNvSpPr txBox="1"/>
            <p:nvPr/>
          </p:nvSpPr>
          <p:spPr>
            <a:xfrm>
              <a:off x="1729294" y="3501008"/>
              <a:ext cx="2194633" cy="369332"/>
            </a:xfrm>
            <a:prstGeom prst="rect">
              <a:avLst/>
            </a:prstGeom>
            <a:noFill/>
          </p:spPr>
          <p:txBody>
            <a:bodyPr wrap="square" rtlCol="0">
              <a:spAutoFit/>
            </a:bodyPr>
            <a:lstStyle/>
            <a:p>
              <a:r>
                <a:rPr lang="tr-TR" dirty="0" err="1"/>
                <a:t>Method</a:t>
              </a:r>
              <a:endParaRPr lang="tr-TR" dirty="0"/>
            </a:p>
          </p:txBody>
        </p:sp>
        <p:sp>
          <p:nvSpPr>
            <p:cNvPr id="10" name="TextBox 9"/>
            <p:cNvSpPr txBox="1"/>
            <p:nvPr/>
          </p:nvSpPr>
          <p:spPr>
            <a:xfrm>
              <a:off x="4535996" y="3525845"/>
              <a:ext cx="2916324" cy="369332"/>
            </a:xfrm>
            <a:prstGeom prst="rect">
              <a:avLst/>
            </a:prstGeom>
            <a:noFill/>
          </p:spPr>
          <p:txBody>
            <a:bodyPr wrap="square" rtlCol="0">
              <a:spAutoFit/>
            </a:bodyPr>
            <a:lstStyle/>
            <a:p>
              <a:r>
                <a:rPr lang="tr-TR" dirty="0" err="1"/>
                <a:t>Parameter</a:t>
              </a:r>
              <a:endParaRPr lang="tr-TR" dirty="0"/>
            </a:p>
          </p:txBody>
        </p:sp>
      </p:grpSp>
      <p:sp>
        <p:nvSpPr>
          <p:cNvPr id="12" name="TextBox 11"/>
          <p:cNvSpPr txBox="1"/>
          <p:nvPr/>
        </p:nvSpPr>
        <p:spPr>
          <a:xfrm>
            <a:off x="144016" y="4023779"/>
            <a:ext cx="8820472" cy="523220"/>
          </a:xfrm>
          <a:prstGeom prst="rect">
            <a:avLst/>
          </a:prstGeom>
          <a:noFill/>
        </p:spPr>
        <p:txBody>
          <a:bodyPr wrap="square" rtlCol="0">
            <a:spAutoFit/>
          </a:bodyPr>
          <a:lstStyle/>
          <a:p>
            <a:r>
              <a:rPr lang="tr-TR" sz="2800" dirty="0">
                <a:solidFill>
                  <a:srgbClr val="2B91AF"/>
                </a:solidFill>
              </a:rPr>
              <a:t>Console</a:t>
            </a:r>
            <a:r>
              <a:rPr lang="tr-TR" sz="2800" dirty="0">
                <a:solidFill>
                  <a:prstClr val="black"/>
                </a:solidFill>
              </a:rPr>
              <a:t>.ReadLine();</a:t>
            </a:r>
            <a:endParaRPr lang="tr-TR" sz="2800" dirty="0"/>
          </a:p>
        </p:txBody>
      </p:sp>
      <p:cxnSp>
        <p:nvCxnSpPr>
          <p:cNvPr id="13" name="Straight Arrow Connector 12"/>
          <p:cNvCxnSpPr/>
          <p:nvPr/>
        </p:nvCxnSpPr>
        <p:spPr>
          <a:xfrm flipV="1">
            <a:off x="881844" y="4691015"/>
            <a:ext cx="0" cy="129614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4" name="Straight Arrow Connector 13"/>
          <p:cNvCxnSpPr/>
          <p:nvPr/>
        </p:nvCxnSpPr>
        <p:spPr>
          <a:xfrm flipV="1">
            <a:off x="2105980" y="4691015"/>
            <a:ext cx="0" cy="129614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6" name="TextBox 15"/>
          <p:cNvSpPr txBox="1"/>
          <p:nvPr/>
        </p:nvSpPr>
        <p:spPr>
          <a:xfrm>
            <a:off x="233772" y="6347199"/>
            <a:ext cx="1512168" cy="369332"/>
          </a:xfrm>
          <a:prstGeom prst="rect">
            <a:avLst/>
          </a:prstGeom>
          <a:noFill/>
        </p:spPr>
        <p:txBody>
          <a:bodyPr wrap="square" rtlCol="0">
            <a:spAutoFit/>
          </a:bodyPr>
          <a:lstStyle/>
          <a:p>
            <a:r>
              <a:rPr lang="tr-TR" dirty="0"/>
              <a:t>Class </a:t>
            </a:r>
          </a:p>
        </p:txBody>
      </p:sp>
      <p:sp>
        <p:nvSpPr>
          <p:cNvPr id="17" name="TextBox 16"/>
          <p:cNvSpPr txBox="1"/>
          <p:nvPr/>
        </p:nvSpPr>
        <p:spPr>
          <a:xfrm>
            <a:off x="1711546" y="6347199"/>
            <a:ext cx="2194633" cy="369332"/>
          </a:xfrm>
          <a:prstGeom prst="rect">
            <a:avLst/>
          </a:prstGeom>
          <a:noFill/>
        </p:spPr>
        <p:txBody>
          <a:bodyPr wrap="square" rtlCol="0">
            <a:spAutoFit/>
          </a:bodyPr>
          <a:lstStyle/>
          <a:p>
            <a:r>
              <a:rPr lang="tr-TR" dirty="0" err="1"/>
              <a:t>Method</a:t>
            </a:r>
            <a:r>
              <a:rPr lang="tr-TR" dirty="0"/>
              <a:t> </a:t>
            </a:r>
          </a:p>
        </p:txBody>
      </p:sp>
      <p:sp>
        <p:nvSpPr>
          <p:cNvPr id="18" name="TextBox 17"/>
          <p:cNvSpPr txBox="1"/>
          <p:nvPr/>
        </p:nvSpPr>
        <p:spPr>
          <a:xfrm>
            <a:off x="4518248" y="6372036"/>
            <a:ext cx="2916324" cy="369332"/>
          </a:xfrm>
          <a:prstGeom prst="rect">
            <a:avLst/>
          </a:prstGeom>
          <a:noFill/>
        </p:spPr>
        <p:txBody>
          <a:bodyPr wrap="square" rtlCol="0">
            <a:spAutoFit/>
          </a:bodyPr>
          <a:lstStyle/>
          <a:p>
            <a:r>
              <a:rPr lang="tr-TR" dirty="0" err="1"/>
              <a:t>does</a:t>
            </a:r>
            <a:r>
              <a:rPr lang="tr-TR" dirty="0"/>
              <a:t> not </a:t>
            </a:r>
            <a:r>
              <a:rPr lang="tr-TR" dirty="0" err="1"/>
              <a:t>take</a:t>
            </a:r>
            <a:r>
              <a:rPr lang="tr-TR" dirty="0"/>
              <a:t> </a:t>
            </a:r>
            <a:r>
              <a:rPr lang="tr-TR" dirty="0" err="1"/>
              <a:t>parameters</a:t>
            </a:r>
            <a:endParaRPr lang="tr-TR" dirty="0"/>
          </a:p>
        </p:txBody>
      </p:sp>
      <p:cxnSp>
        <p:nvCxnSpPr>
          <p:cNvPr id="20" name="Straight Arrow Connector 19"/>
          <p:cNvCxnSpPr/>
          <p:nvPr/>
        </p:nvCxnSpPr>
        <p:spPr>
          <a:xfrm flipH="1" flipV="1">
            <a:off x="2987824" y="4691015"/>
            <a:ext cx="1296144" cy="144016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7855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3" name="TextBox 2"/>
          <p:cNvSpPr txBox="1"/>
          <p:nvPr/>
        </p:nvSpPr>
        <p:spPr>
          <a:xfrm>
            <a:off x="683568" y="1088156"/>
            <a:ext cx="8003232" cy="1754326"/>
          </a:xfrm>
          <a:prstGeom prst="rect">
            <a:avLst/>
          </a:prstGeom>
          <a:noFill/>
        </p:spPr>
        <p:txBody>
          <a:bodyPr wrap="square" rtlCol="0">
            <a:spAutoFit/>
          </a:bodyPr>
          <a:lstStyle/>
          <a:p>
            <a:r>
              <a:rPr lang="en-US" dirty="0"/>
              <a:t>Everything in C# is a class. Each class has several elements that do work. Elements that do work are called </a:t>
            </a:r>
            <a:r>
              <a:rPr lang="en-US" b="1" dirty="0"/>
              <a:t>methods or functions</a:t>
            </a:r>
            <a:r>
              <a:rPr lang="en-US" dirty="0"/>
              <a:t> . C# language is a tool used to develop software on the .NET platform. We have the opportunity to make use of the .NET class library. One of the features that makes .NET and C# powerful is the .NET platform has thousands of hierarchically organized easy-to-access classes. One of them is the Console class.</a:t>
            </a:r>
          </a:p>
        </p:txBody>
      </p:sp>
      <p:sp>
        <p:nvSpPr>
          <p:cNvPr id="15" name="TextBox 14"/>
          <p:cNvSpPr txBox="1"/>
          <p:nvPr/>
        </p:nvSpPr>
        <p:spPr>
          <a:xfrm>
            <a:off x="457200" y="2780928"/>
            <a:ext cx="5050904" cy="584775"/>
          </a:xfrm>
          <a:prstGeom prst="rect">
            <a:avLst/>
          </a:prstGeom>
          <a:noFill/>
        </p:spPr>
        <p:txBody>
          <a:bodyPr wrap="square" rtlCol="0">
            <a:spAutoFit/>
          </a:bodyPr>
          <a:lstStyle/>
          <a:p>
            <a:r>
              <a:rPr lang="tr-TR" sz="3200" dirty="0" err="1">
                <a:solidFill>
                  <a:srgbClr val="FF0000"/>
                </a:solidFill>
              </a:rPr>
              <a:t>Namespace</a:t>
            </a:r>
            <a:endParaRPr lang="tr-TR" sz="3200" dirty="0">
              <a:solidFill>
                <a:srgbClr val="FF0000"/>
              </a:solidFill>
            </a:endParaRPr>
          </a:p>
        </p:txBody>
      </p:sp>
      <p:pic>
        <p:nvPicPr>
          <p:cNvPr id="2" name="Resim 1"/>
          <p:cNvPicPr>
            <a:picLocks noChangeAspect="1"/>
          </p:cNvPicPr>
          <p:nvPr/>
        </p:nvPicPr>
        <p:blipFill>
          <a:blip r:embed="rId2"/>
          <a:stretch>
            <a:fillRect/>
          </a:stretch>
        </p:blipFill>
        <p:spPr>
          <a:xfrm>
            <a:off x="683568" y="3393448"/>
            <a:ext cx="5976664" cy="3368308"/>
          </a:xfrm>
          <a:prstGeom prst="rect">
            <a:avLst/>
          </a:prstGeom>
        </p:spPr>
      </p:pic>
    </p:spTree>
    <p:extLst>
      <p:ext uri="{BB962C8B-B14F-4D97-AF65-F5344CB8AC3E}">
        <p14:creationId xmlns:p14="http://schemas.microsoft.com/office/powerpoint/2010/main" val="1321678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3" name="TextBox 2"/>
          <p:cNvSpPr txBox="1"/>
          <p:nvPr/>
        </p:nvSpPr>
        <p:spPr>
          <a:xfrm>
            <a:off x="563329" y="1700808"/>
            <a:ext cx="8003232" cy="3416320"/>
          </a:xfrm>
          <a:prstGeom prst="rect">
            <a:avLst/>
          </a:prstGeom>
          <a:noFill/>
        </p:spPr>
        <p:txBody>
          <a:bodyPr wrap="square" rtlCol="0">
            <a:spAutoFit/>
          </a:bodyPr>
          <a:lstStyle/>
          <a:p>
            <a:r>
              <a:rPr lang="en-US" dirty="0"/>
              <a:t>There are a number of basic types and classes that the infrastructure we call .NET Framework offers us or programmers using other programming languages. In order to organize all these classes and types well, .NET frequently uses the concept of </a:t>
            </a:r>
            <a:r>
              <a:rPr lang="en-US" b="1" dirty="0"/>
              <a:t>namespace</a:t>
            </a:r>
            <a:r>
              <a:rPr lang="en-US" dirty="0"/>
              <a:t>. That is, class libraries in .NET are language-independent.</a:t>
            </a:r>
          </a:p>
          <a:p>
            <a:endParaRPr lang="en-US" dirty="0"/>
          </a:p>
          <a:p>
            <a:r>
              <a:rPr lang="en-US" dirty="0"/>
              <a:t>Namespaces are used with the </a:t>
            </a:r>
            <a:r>
              <a:rPr lang="en-US" b="1" dirty="0"/>
              <a:t>using</a:t>
            </a:r>
            <a:r>
              <a:rPr lang="en-US" dirty="0"/>
              <a:t> keyword in C# and declared to the compiler so that we can use the data types and classes in the .NET Framework class library . In other languages, these namespaces are declared differently to the compiler, but the main thing is to get the right to use the .NET Framework class libraries.</a:t>
            </a:r>
          </a:p>
          <a:p>
            <a:endParaRPr lang="en-US" dirty="0"/>
          </a:p>
          <a:p>
            <a:r>
              <a:rPr lang="en-US" b="1" dirty="0"/>
              <a:t>Now let's delete the lines starting with using in our program and run the program.</a:t>
            </a:r>
            <a:endParaRPr lang="en-US" dirty="0"/>
          </a:p>
          <a:p>
            <a:pPr algn="just"/>
            <a:endParaRPr lang="tr-TR" dirty="0"/>
          </a:p>
        </p:txBody>
      </p:sp>
      <p:sp>
        <p:nvSpPr>
          <p:cNvPr id="15" name="TextBox 14"/>
          <p:cNvSpPr txBox="1"/>
          <p:nvPr/>
        </p:nvSpPr>
        <p:spPr>
          <a:xfrm>
            <a:off x="457200" y="908720"/>
            <a:ext cx="5050904" cy="584775"/>
          </a:xfrm>
          <a:prstGeom prst="rect">
            <a:avLst/>
          </a:prstGeom>
          <a:noFill/>
        </p:spPr>
        <p:txBody>
          <a:bodyPr wrap="square" rtlCol="0">
            <a:spAutoFit/>
          </a:bodyPr>
          <a:lstStyle/>
          <a:p>
            <a:r>
              <a:rPr lang="tr-TR" sz="3200" dirty="0" err="1">
                <a:solidFill>
                  <a:srgbClr val="FF0000"/>
                </a:solidFill>
              </a:rPr>
              <a:t>Namespace</a:t>
            </a:r>
            <a:endParaRPr lang="tr-TR" sz="3200" dirty="0">
              <a:solidFill>
                <a:srgbClr val="FF0000"/>
              </a:solidFill>
            </a:endParaRPr>
          </a:p>
        </p:txBody>
      </p:sp>
    </p:spTree>
    <p:extLst>
      <p:ext uri="{BB962C8B-B14F-4D97-AF65-F5344CB8AC3E}">
        <p14:creationId xmlns:p14="http://schemas.microsoft.com/office/powerpoint/2010/main" val="3696372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pic>
        <p:nvPicPr>
          <p:cNvPr id="5" name="Resim 4"/>
          <p:cNvPicPr>
            <a:picLocks noChangeAspect="1"/>
          </p:cNvPicPr>
          <p:nvPr/>
        </p:nvPicPr>
        <p:blipFill>
          <a:blip r:embed="rId2"/>
          <a:stretch>
            <a:fillRect/>
          </a:stretch>
        </p:blipFill>
        <p:spPr>
          <a:xfrm>
            <a:off x="422260" y="851170"/>
            <a:ext cx="8513966" cy="5314133"/>
          </a:xfrm>
          <a:prstGeom prst="rect">
            <a:avLst/>
          </a:prstGeom>
        </p:spPr>
      </p:pic>
      <p:sp>
        <p:nvSpPr>
          <p:cNvPr id="2" name="TextBox 1">
            <a:extLst>
              <a:ext uri="{FF2B5EF4-FFF2-40B4-BE49-F238E27FC236}">
                <a16:creationId xmlns:a16="http://schemas.microsoft.com/office/drawing/2014/main" id="{4805BC19-39D8-8847-BE06-282C2125C474}"/>
              </a:ext>
            </a:extLst>
          </p:cNvPr>
          <p:cNvSpPr txBox="1"/>
          <p:nvPr/>
        </p:nvSpPr>
        <p:spPr>
          <a:xfrm>
            <a:off x="1641915" y="4941168"/>
            <a:ext cx="3722173" cy="307777"/>
          </a:xfrm>
          <a:prstGeom prst="rect">
            <a:avLst/>
          </a:prstGeom>
          <a:solidFill>
            <a:schemeClr val="bg1"/>
          </a:solidFill>
        </p:spPr>
        <p:txBody>
          <a:bodyPr wrap="none" rtlCol="0">
            <a:spAutoFit/>
          </a:bodyPr>
          <a:lstStyle/>
          <a:p>
            <a:r>
              <a:rPr lang="en-TR" sz="1400" dirty="0">
                <a:solidFill>
                  <a:srgbClr val="FF0000"/>
                </a:solidFill>
              </a:rPr>
              <a:t>You will see an error like below                                </a:t>
            </a:r>
          </a:p>
        </p:txBody>
      </p:sp>
    </p:spTree>
    <p:extLst>
      <p:ext uri="{BB962C8B-B14F-4D97-AF65-F5344CB8AC3E}">
        <p14:creationId xmlns:p14="http://schemas.microsoft.com/office/powerpoint/2010/main" val="599052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15" name="TextBox 14"/>
          <p:cNvSpPr txBox="1"/>
          <p:nvPr/>
        </p:nvSpPr>
        <p:spPr>
          <a:xfrm>
            <a:off x="457200" y="908720"/>
            <a:ext cx="5050904" cy="584775"/>
          </a:xfrm>
          <a:prstGeom prst="rect">
            <a:avLst/>
          </a:prstGeom>
          <a:noFill/>
        </p:spPr>
        <p:txBody>
          <a:bodyPr wrap="square" rtlCol="0">
            <a:spAutoFit/>
          </a:bodyPr>
          <a:lstStyle/>
          <a:p>
            <a:r>
              <a:rPr lang="tr-TR" sz="3200" dirty="0" err="1">
                <a:solidFill>
                  <a:srgbClr val="FF0000"/>
                </a:solidFill>
              </a:rPr>
              <a:t>Namespace</a:t>
            </a:r>
            <a:endParaRPr lang="tr-TR" sz="3200" dirty="0">
              <a:solidFill>
                <a:srgbClr val="FF0000"/>
              </a:solidFill>
            </a:endParaRPr>
          </a:p>
        </p:txBody>
      </p:sp>
      <p:sp>
        <p:nvSpPr>
          <p:cNvPr id="3" name="TextBox 2"/>
          <p:cNvSpPr txBox="1"/>
          <p:nvPr/>
        </p:nvSpPr>
        <p:spPr>
          <a:xfrm>
            <a:off x="457200" y="1700808"/>
            <a:ext cx="8507288" cy="1661993"/>
          </a:xfrm>
          <a:prstGeom prst="rect">
            <a:avLst/>
          </a:prstGeom>
          <a:noFill/>
        </p:spPr>
        <p:txBody>
          <a:bodyPr wrap="square" rtlCol="0">
            <a:spAutoFit/>
          </a:bodyPr>
          <a:lstStyle/>
          <a:p>
            <a:r>
              <a:rPr lang="en-US" dirty="0"/>
              <a:t>Instead of specifying the namespaces from the beginning, you can alternatively write your code by specifying the namespaces.</a:t>
            </a:r>
          </a:p>
          <a:p>
            <a:endParaRPr lang="tr-TR" dirty="0"/>
          </a:p>
          <a:p>
            <a:r>
              <a:rPr lang="tr-TR" dirty="0"/>
              <a:t> </a:t>
            </a:r>
            <a:r>
              <a:rPr lang="tr-TR" sz="2400" dirty="0"/>
              <a:t>System.</a:t>
            </a:r>
            <a:r>
              <a:rPr lang="tr-TR" sz="2400" dirty="0">
                <a:solidFill>
                  <a:srgbClr val="2B91AF"/>
                </a:solidFill>
              </a:rPr>
              <a:t>Console</a:t>
            </a:r>
            <a:r>
              <a:rPr lang="tr-TR" sz="2400" dirty="0">
                <a:solidFill>
                  <a:prstClr val="black"/>
                </a:solidFill>
              </a:rPr>
              <a:t>.WriteLine(</a:t>
            </a:r>
            <a:r>
              <a:rPr lang="tr-TR" sz="2400" dirty="0">
                <a:solidFill>
                  <a:srgbClr val="A31515"/>
                </a:solidFill>
              </a:rPr>
              <a:t>"Merhaba, Bu benim ilk programim"</a:t>
            </a:r>
            <a:r>
              <a:rPr lang="tr-TR" sz="2400" dirty="0">
                <a:solidFill>
                  <a:prstClr val="black"/>
                </a:solidFill>
              </a:rPr>
              <a:t>);</a:t>
            </a:r>
          </a:p>
          <a:p>
            <a:r>
              <a:rPr lang="tr-TR" sz="2400" dirty="0">
                <a:solidFill>
                  <a:prstClr val="black"/>
                </a:solidFill>
              </a:rPr>
              <a:t> System.</a:t>
            </a:r>
            <a:r>
              <a:rPr lang="tr-TR" sz="2400" dirty="0">
                <a:solidFill>
                  <a:srgbClr val="2B91AF"/>
                </a:solidFill>
              </a:rPr>
              <a:t>Console</a:t>
            </a:r>
            <a:r>
              <a:rPr lang="tr-TR" sz="2400" dirty="0">
                <a:solidFill>
                  <a:prstClr val="black"/>
                </a:solidFill>
              </a:rPr>
              <a:t>.ReadLine() ; </a:t>
            </a:r>
            <a:endParaRPr lang="tr-TR" sz="2400" dirty="0"/>
          </a:p>
        </p:txBody>
      </p:sp>
      <p:sp>
        <p:nvSpPr>
          <p:cNvPr id="8" name="TextBox 7"/>
          <p:cNvSpPr txBox="1"/>
          <p:nvPr/>
        </p:nvSpPr>
        <p:spPr>
          <a:xfrm>
            <a:off x="467544" y="3567207"/>
            <a:ext cx="8507288" cy="1754326"/>
          </a:xfrm>
          <a:prstGeom prst="rect">
            <a:avLst/>
          </a:prstGeom>
          <a:noFill/>
        </p:spPr>
        <p:txBody>
          <a:bodyPr wrap="square" rtlCol="0">
            <a:spAutoFit/>
          </a:bodyPr>
          <a:lstStyle/>
          <a:p>
            <a:pPr algn="just"/>
            <a:endParaRPr lang="tr-TR" dirty="0"/>
          </a:p>
          <a:p>
            <a:r>
              <a:rPr lang="en-US" dirty="0"/>
              <a:t>Declaring classes in this way is an undesirable method. Because in cases where many nested namespaces are defined, our source code is lengthened by typing namespaces unnecessarily.</a:t>
            </a:r>
          </a:p>
          <a:p>
            <a:endParaRPr lang="en-US" dirty="0"/>
          </a:p>
          <a:p>
            <a:r>
              <a:rPr lang="en-US" dirty="0"/>
              <a:t>This both impairs readability and wastes time for the programmer.</a:t>
            </a:r>
          </a:p>
        </p:txBody>
      </p:sp>
    </p:spTree>
    <p:extLst>
      <p:ext uri="{BB962C8B-B14F-4D97-AF65-F5344CB8AC3E}">
        <p14:creationId xmlns:p14="http://schemas.microsoft.com/office/powerpoint/2010/main" val="3811264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15" name="TextBox 14"/>
          <p:cNvSpPr txBox="1"/>
          <p:nvPr/>
        </p:nvSpPr>
        <p:spPr>
          <a:xfrm>
            <a:off x="457200" y="908720"/>
            <a:ext cx="5050904" cy="584775"/>
          </a:xfrm>
          <a:prstGeom prst="rect">
            <a:avLst/>
          </a:prstGeom>
          <a:noFill/>
        </p:spPr>
        <p:txBody>
          <a:bodyPr wrap="square" rtlCol="0">
            <a:spAutoFit/>
          </a:bodyPr>
          <a:lstStyle/>
          <a:p>
            <a:r>
              <a:rPr lang="tr-TR" sz="3200" dirty="0" err="1">
                <a:solidFill>
                  <a:srgbClr val="FF0000"/>
                </a:solidFill>
              </a:rPr>
              <a:t>Double</a:t>
            </a:r>
            <a:r>
              <a:rPr lang="tr-TR" sz="3200" dirty="0">
                <a:solidFill>
                  <a:srgbClr val="FF0000"/>
                </a:solidFill>
              </a:rPr>
              <a:t> </a:t>
            </a:r>
            <a:r>
              <a:rPr lang="tr-TR" sz="3200" dirty="0" err="1">
                <a:solidFill>
                  <a:srgbClr val="FF0000"/>
                </a:solidFill>
              </a:rPr>
              <a:t>Quotation</a:t>
            </a:r>
            <a:r>
              <a:rPr lang="tr-TR" sz="3200" dirty="0">
                <a:solidFill>
                  <a:srgbClr val="FF0000"/>
                </a:solidFill>
              </a:rPr>
              <a:t> Mark "  </a:t>
            </a:r>
          </a:p>
        </p:txBody>
      </p:sp>
      <p:sp>
        <p:nvSpPr>
          <p:cNvPr id="2" name="TextBox 1"/>
          <p:cNvSpPr txBox="1"/>
          <p:nvPr/>
        </p:nvSpPr>
        <p:spPr>
          <a:xfrm>
            <a:off x="457200" y="1772816"/>
            <a:ext cx="7931224" cy="2308324"/>
          </a:xfrm>
          <a:prstGeom prst="rect">
            <a:avLst/>
          </a:prstGeom>
          <a:noFill/>
        </p:spPr>
        <p:txBody>
          <a:bodyPr wrap="square" rtlCol="0">
            <a:spAutoFit/>
          </a:bodyPr>
          <a:lstStyle/>
          <a:p>
            <a:r>
              <a:rPr lang="tr-TR" sz="2400" dirty="0">
                <a:solidFill>
                  <a:srgbClr val="2B91AF"/>
                </a:solidFill>
              </a:rPr>
              <a:t>Console</a:t>
            </a:r>
            <a:r>
              <a:rPr lang="tr-TR" sz="2400" dirty="0">
                <a:solidFill>
                  <a:prstClr val="black"/>
                </a:solidFill>
              </a:rPr>
              <a:t>.WriteLine(</a:t>
            </a:r>
            <a:r>
              <a:rPr lang="tr-TR" sz="2400" dirty="0">
                <a:solidFill>
                  <a:srgbClr val="A31515"/>
                </a:solidFill>
              </a:rPr>
              <a:t>"Merhaba, Bu benim ilk programim"</a:t>
            </a:r>
            <a:r>
              <a:rPr lang="tr-TR" sz="2400" dirty="0">
                <a:solidFill>
                  <a:prstClr val="black"/>
                </a:solidFill>
              </a:rPr>
              <a:t>);</a:t>
            </a:r>
          </a:p>
          <a:p>
            <a:endParaRPr lang="tr-TR" sz="2400" dirty="0">
              <a:solidFill>
                <a:prstClr val="black"/>
              </a:solidFill>
            </a:endParaRPr>
          </a:p>
          <a:p>
            <a:r>
              <a:rPr lang="tr-TR" sz="2400" dirty="0" err="1">
                <a:solidFill>
                  <a:prstClr val="black"/>
                </a:solidFill>
              </a:rPr>
              <a:t>What</a:t>
            </a:r>
            <a:r>
              <a:rPr lang="tr-TR" sz="2400" dirty="0">
                <a:solidFill>
                  <a:prstClr val="black"/>
                </a:solidFill>
              </a:rPr>
              <a:t> </a:t>
            </a:r>
            <a:r>
              <a:rPr lang="tr-TR" sz="2400" dirty="0" err="1">
                <a:solidFill>
                  <a:prstClr val="black"/>
                </a:solidFill>
              </a:rPr>
              <a:t>happens</a:t>
            </a:r>
            <a:r>
              <a:rPr lang="tr-TR" sz="2400" dirty="0">
                <a:solidFill>
                  <a:prstClr val="black"/>
                </a:solidFill>
              </a:rPr>
              <a:t> </a:t>
            </a:r>
            <a:r>
              <a:rPr lang="tr-TR" sz="2400" dirty="0" err="1">
                <a:solidFill>
                  <a:prstClr val="black"/>
                </a:solidFill>
              </a:rPr>
              <a:t>if</a:t>
            </a:r>
            <a:r>
              <a:rPr lang="tr-TR" sz="2400" dirty="0">
                <a:solidFill>
                  <a:prstClr val="black"/>
                </a:solidFill>
              </a:rPr>
              <a:t> </a:t>
            </a:r>
            <a:r>
              <a:rPr lang="tr-TR" sz="2400" dirty="0" err="1">
                <a:solidFill>
                  <a:prstClr val="black"/>
                </a:solidFill>
              </a:rPr>
              <a:t>we</a:t>
            </a:r>
            <a:r>
              <a:rPr lang="tr-TR" sz="2400" dirty="0">
                <a:solidFill>
                  <a:prstClr val="black"/>
                </a:solidFill>
              </a:rPr>
              <a:t> </a:t>
            </a:r>
            <a:r>
              <a:rPr lang="tr-TR" sz="2400" dirty="0" err="1">
                <a:solidFill>
                  <a:prstClr val="black"/>
                </a:solidFill>
              </a:rPr>
              <a:t>remove</a:t>
            </a:r>
            <a:r>
              <a:rPr lang="tr-TR" sz="2400" dirty="0">
                <a:solidFill>
                  <a:prstClr val="black"/>
                </a:solidFill>
              </a:rPr>
              <a:t> </a:t>
            </a:r>
            <a:r>
              <a:rPr lang="tr-TR" sz="2400" dirty="0" err="1">
                <a:solidFill>
                  <a:prstClr val="black"/>
                </a:solidFill>
              </a:rPr>
              <a:t>the</a:t>
            </a:r>
            <a:r>
              <a:rPr lang="tr-TR" sz="2400" dirty="0">
                <a:solidFill>
                  <a:prstClr val="black"/>
                </a:solidFill>
              </a:rPr>
              <a:t> </a:t>
            </a:r>
            <a:r>
              <a:rPr lang="tr-TR" sz="2400" dirty="0" err="1">
                <a:solidFill>
                  <a:prstClr val="black"/>
                </a:solidFill>
              </a:rPr>
              <a:t>quotation</a:t>
            </a:r>
            <a:r>
              <a:rPr lang="tr-TR" sz="2400" dirty="0">
                <a:solidFill>
                  <a:prstClr val="black"/>
                </a:solidFill>
              </a:rPr>
              <a:t> </a:t>
            </a:r>
            <a:r>
              <a:rPr lang="tr-TR" sz="2400" dirty="0" err="1">
                <a:solidFill>
                  <a:prstClr val="black"/>
                </a:solidFill>
              </a:rPr>
              <a:t>marks</a:t>
            </a:r>
            <a:r>
              <a:rPr lang="tr-TR" sz="2400" dirty="0">
                <a:solidFill>
                  <a:prstClr val="black"/>
                </a:solidFill>
              </a:rPr>
              <a:t>?</a:t>
            </a:r>
          </a:p>
          <a:p>
            <a:endParaRPr lang="tr-TR" sz="2400" dirty="0">
              <a:solidFill>
                <a:srgbClr val="2B91AF"/>
              </a:solidFill>
            </a:endParaRPr>
          </a:p>
          <a:p>
            <a:r>
              <a:rPr lang="tr-TR" sz="2400" dirty="0" err="1">
                <a:solidFill>
                  <a:srgbClr val="2B91AF"/>
                </a:solidFill>
              </a:rPr>
              <a:t>Console</a:t>
            </a:r>
            <a:r>
              <a:rPr lang="tr-TR" sz="2400" dirty="0" err="1">
                <a:solidFill>
                  <a:prstClr val="black"/>
                </a:solidFill>
              </a:rPr>
              <a:t>.WriteLine</a:t>
            </a:r>
            <a:r>
              <a:rPr lang="tr-TR" sz="2400" dirty="0">
                <a:solidFill>
                  <a:prstClr val="black"/>
                </a:solidFill>
              </a:rPr>
              <a:t>(</a:t>
            </a:r>
            <a:r>
              <a:rPr lang="tr-TR" sz="2400" dirty="0">
                <a:solidFill>
                  <a:srgbClr val="A31515"/>
                </a:solidFill>
              </a:rPr>
              <a:t>Merhaba, Bu benim ilk </a:t>
            </a:r>
            <a:r>
              <a:rPr lang="tr-TR" sz="2400" dirty="0" err="1">
                <a:solidFill>
                  <a:srgbClr val="A31515"/>
                </a:solidFill>
              </a:rPr>
              <a:t>programim</a:t>
            </a:r>
            <a:r>
              <a:rPr lang="tr-TR" sz="2400" dirty="0">
                <a:solidFill>
                  <a:prstClr val="black"/>
                </a:solidFill>
              </a:rPr>
              <a:t>);</a:t>
            </a:r>
          </a:p>
          <a:p>
            <a:endParaRPr lang="tr-TR" sz="2400" dirty="0"/>
          </a:p>
        </p:txBody>
      </p:sp>
      <p:pic>
        <p:nvPicPr>
          <p:cNvPr id="3" name="Resim 2"/>
          <p:cNvPicPr>
            <a:picLocks noChangeAspect="1"/>
          </p:cNvPicPr>
          <p:nvPr/>
        </p:nvPicPr>
        <p:blipFill>
          <a:blip r:embed="rId2"/>
          <a:stretch>
            <a:fillRect/>
          </a:stretch>
        </p:blipFill>
        <p:spPr>
          <a:xfrm>
            <a:off x="1331639" y="3645024"/>
            <a:ext cx="5900165" cy="3096344"/>
          </a:xfrm>
          <a:prstGeom prst="rect">
            <a:avLst/>
          </a:prstGeom>
        </p:spPr>
      </p:pic>
    </p:spTree>
    <p:extLst>
      <p:ext uri="{BB962C8B-B14F-4D97-AF65-F5344CB8AC3E}">
        <p14:creationId xmlns:p14="http://schemas.microsoft.com/office/powerpoint/2010/main" val="1380412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15" name="TextBox 14"/>
          <p:cNvSpPr txBox="1"/>
          <p:nvPr/>
        </p:nvSpPr>
        <p:spPr>
          <a:xfrm>
            <a:off x="457200" y="908720"/>
            <a:ext cx="5050904" cy="584775"/>
          </a:xfrm>
          <a:prstGeom prst="rect">
            <a:avLst/>
          </a:prstGeom>
          <a:noFill/>
        </p:spPr>
        <p:txBody>
          <a:bodyPr wrap="square" rtlCol="0">
            <a:spAutoFit/>
          </a:bodyPr>
          <a:lstStyle/>
          <a:p>
            <a:r>
              <a:rPr lang="tr-TR" sz="3200" dirty="0" err="1">
                <a:solidFill>
                  <a:srgbClr val="FF0000"/>
                </a:solidFill>
              </a:rPr>
              <a:t>Double</a:t>
            </a:r>
            <a:r>
              <a:rPr lang="tr-TR" sz="3200" dirty="0">
                <a:solidFill>
                  <a:srgbClr val="FF0000"/>
                </a:solidFill>
              </a:rPr>
              <a:t> </a:t>
            </a:r>
            <a:r>
              <a:rPr lang="tr-TR" sz="3200" dirty="0" err="1">
                <a:solidFill>
                  <a:srgbClr val="FF0000"/>
                </a:solidFill>
              </a:rPr>
              <a:t>Quotation</a:t>
            </a:r>
            <a:r>
              <a:rPr lang="tr-TR" sz="3200" dirty="0">
                <a:solidFill>
                  <a:srgbClr val="FF0000"/>
                </a:solidFill>
              </a:rPr>
              <a:t> Mark "  </a:t>
            </a:r>
          </a:p>
        </p:txBody>
      </p:sp>
      <p:sp>
        <p:nvSpPr>
          <p:cNvPr id="2" name="TextBox 1"/>
          <p:cNvSpPr txBox="1"/>
          <p:nvPr/>
        </p:nvSpPr>
        <p:spPr>
          <a:xfrm>
            <a:off x="457200" y="1772816"/>
            <a:ext cx="7931224" cy="1938992"/>
          </a:xfrm>
          <a:prstGeom prst="rect">
            <a:avLst/>
          </a:prstGeom>
          <a:noFill/>
        </p:spPr>
        <p:txBody>
          <a:bodyPr wrap="square" rtlCol="0">
            <a:spAutoFit/>
          </a:bodyPr>
          <a:lstStyle/>
          <a:p>
            <a:pPr algn="just"/>
            <a:r>
              <a:rPr lang="tr-TR" sz="2400" dirty="0" err="1"/>
              <a:t>In</a:t>
            </a:r>
            <a:r>
              <a:rPr lang="tr-TR" sz="2400" dirty="0"/>
              <a:t> </a:t>
            </a:r>
            <a:r>
              <a:rPr lang="tr-TR" sz="2400" dirty="0" err="1"/>
              <a:t>programming</a:t>
            </a:r>
            <a:r>
              <a:rPr lang="tr-TR" sz="2400" dirty="0"/>
              <a:t> </a:t>
            </a:r>
            <a:r>
              <a:rPr lang="tr-TR" sz="2400" dirty="0" err="1"/>
              <a:t>languages</a:t>
            </a:r>
            <a:r>
              <a:rPr lang="tr-TR" sz="2400" dirty="0"/>
              <a:t>, a </a:t>
            </a:r>
            <a:r>
              <a:rPr lang="tr-TR" sz="2400" dirty="0" err="1"/>
              <a:t>character</a:t>
            </a:r>
            <a:r>
              <a:rPr lang="tr-TR" sz="2400" dirty="0"/>
              <a:t> </a:t>
            </a:r>
            <a:r>
              <a:rPr lang="tr-TR" sz="2400" dirty="0" err="1"/>
              <a:t>means</a:t>
            </a:r>
            <a:r>
              <a:rPr lang="tr-TR" sz="2400" dirty="0"/>
              <a:t> a </a:t>
            </a:r>
            <a:r>
              <a:rPr lang="tr-TR" sz="2400" dirty="0" err="1"/>
              <a:t>letter</a:t>
            </a:r>
            <a:r>
              <a:rPr lang="tr-TR" sz="2400" dirty="0"/>
              <a:t>, </a:t>
            </a:r>
            <a:r>
              <a:rPr lang="tr-TR" sz="2400" dirty="0" err="1"/>
              <a:t>number</a:t>
            </a:r>
            <a:r>
              <a:rPr lang="tr-TR" sz="2400" dirty="0"/>
              <a:t>, </a:t>
            </a:r>
            <a:r>
              <a:rPr lang="tr-TR" sz="2400" dirty="0" err="1"/>
              <a:t>punctuation</a:t>
            </a:r>
            <a:r>
              <a:rPr lang="tr-TR" sz="2400" dirty="0"/>
              <a:t> mark, </a:t>
            </a:r>
            <a:r>
              <a:rPr lang="tr-TR" sz="2400" dirty="0" err="1"/>
              <a:t>or</a:t>
            </a:r>
            <a:r>
              <a:rPr lang="tr-TR" sz="2400" dirty="0"/>
              <a:t> a </a:t>
            </a:r>
            <a:r>
              <a:rPr lang="tr-TR" sz="2400" dirty="0" err="1"/>
              <a:t>symbol</a:t>
            </a:r>
            <a:r>
              <a:rPr lang="tr-TR" sz="2400" dirty="0"/>
              <a:t>. </a:t>
            </a:r>
            <a:r>
              <a:rPr lang="tr-TR" sz="2400" dirty="0" err="1"/>
              <a:t>The</a:t>
            </a:r>
            <a:r>
              <a:rPr lang="tr-TR" sz="2400" dirty="0"/>
              <a:t> </a:t>
            </a:r>
            <a:r>
              <a:rPr lang="tr-TR" sz="2400" dirty="0" err="1"/>
              <a:t>String</a:t>
            </a:r>
            <a:r>
              <a:rPr lang="tr-TR" sz="2400" dirty="0"/>
              <a:t>, on </a:t>
            </a:r>
            <a:r>
              <a:rPr lang="tr-TR" sz="2400" dirty="0" err="1"/>
              <a:t>the</a:t>
            </a:r>
            <a:r>
              <a:rPr lang="tr-TR" sz="2400" dirty="0"/>
              <a:t> </a:t>
            </a:r>
            <a:r>
              <a:rPr lang="tr-TR" sz="2400" dirty="0" err="1"/>
              <a:t>other</a:t>
            </a:r>
            <a:r>
              <a:rPr lang="tr-TR" sz="2400" dirty="0"/>
              <a:t> </a:t>
            </a:r>
            <a:r>
              <a:rPr lang="tr-TR" sz="2400" dirty="0" err="1"/>
              <a:t>hand</a:t>
            </a:r>
            <a:r>
              <a:rPr lang="tr-TR" sz="2400" dirty="0"/>
              <a:t>, </a:t>
            </a:r>
            <a:r>
              <a:rPr lang="tr-TR" sz="2400" dirty="0" err="1"/>
              <a:t>means</a:t>
            </a:r>
            <a:r>
              <a:rPr lang="tr-TR" sz="2400" dirty="0"/>
              <a:t> </a:t>
            </a:r>
            <a:r>
              <a:rPr lang="tr-TR" sz="2400" dirty="0" err="1"/>
              <a:t>the</a:t>
            </a:r>
            <a:r>
              <a:rPr lang="tr-TR" sz="2400" dirty="0"/>
              <a:t> </a:t>
            </a:r>
            <a:r>
              <a:rPr lang="tr-TR" sz="2400" dirty="0" err="1"/>
              <a:t>string</a:t>
            </a:r>
            <a:r>
              <a:rPr lang="tr-TR" sz="2400" dirty="0"/>
              <a:t> </a:t>
            </a:r>
            <a:r>
              <a:rPr lang="tr-TR" sz="2400" dirty="0" err="1"/>
              <a:t>formed</a:t>
            </a:r>
            <a:r>
              <a:rPr lang="tr-TR" sz="2400" dirty="0"/>
              <a:t> </a:t>
            </a:r>
            <a:r>
              <a:rPr lang="tr-TR" sz="2400" dirty="0" err="1"/>
              <a:t>by</a:t>
            </a:r>
            <a:r>
              <a:rPr lang="tr-TR" sz="2400" dirty="0"/>
              <a:t> </a:t>
            </a:r>
            <a:r>
              <a:rPr lang="tr-TR" sz="2400" dirty="0" err="1"/>
              <a:t>the</a:t>
            </a:r>
            <a:r>
              <a:rPr lang="tr-TR" sz="2400" dirty="0"/>
              <a:t> </a:t>
            </a:r>
            <a:r>
              <a:rPr lang="tr-TR" sz="2400" dirty="0" err="1"/>
              <a:t>characters</a:t>
            </a:r>
            <a:r>
              <a:rPr lang="tr-TR" sz="2400" dirty="0"/>
              <a:t> </a:t>
            </a:r>
            <a:r>
              <a:rPr lang="tr-TR" sz="2400" dirty="0" err="1"/>
              <a:t>coming</a:t>
            </a:r>
            <a:r>
              <a:rPr lang="tr-TR" sz="2400" dirty="0"/>
              <a:t> </a:t>
            </a:r>
            <a:r>
              <a:rPr lang="tr-TR" sz="2400" dirty="0" err="1"/>
              <a:t>together</a:t>
            </a:r>
            <a:r>
              <a:rPr lang="tr-TR" sz="2400" dirty="0"/>
              <a:t>. A </a:t>
            </a:r>
            <a:r>
              <a:rPr lang="tr-TR" sz="2400" dirty="0" err="1"/>
              <a:t>variable</a:t>
            </a:r>
            <a:r>
              <a:rPr lang="tr-TR" sz="2400" dirty="0"/>
              <a:t> </a:t>
            </a:r>
            <a:r>
              <a:rPr lang="tr-TR" sz="2400" dirty="0" err="1"/>
              <a:t>consisting</a:t>
            </a:r>
            <a:r>
              <a:rPr lang="tr-TR" sz="2400" dirty="0"/>
              <a:t> of </a:t>
            </a:r>
            <a:r>
              <a:rPr lang="tr-TR" sz="2400" dirty="0" err="1"/>
              <a:t>strings</a:t>
            </a:r>
            <a:r>
              <a:rPr lang="tr-TR" sz="2400" dirty="0"/>
              <a:t> is </a:t>
            </a:r>
            <a:r>
              <a:rPr lang="tr-TR" sz="2400" dirty="0" err="1"/>
              <a:t>specified</a:t>
            </a:r>
            <a:r>
              <a:rPr lang="tr-TR" sz="2400" dirty="0"/>
              <a:t> </a:t>
            </a:r>
            <a:r>
              <a:rPr lang="tr-TR" sz="2400" dirty="0" err="1"/>
              <a:t>with</a:t>
            </a:r>
            <a:r>
              <a:rPr lang="tr-TR" sz="2400" dirty="0"/>
              <a:t> </a:t>
            </a:r>
            <a:r>
              <a:rPr lang="tr-TR" sz="2400" dirty="0" err="1"/>
              <a:t>double</a:t>
            </a:r>
            <a:r>
              <a:rPr lang="tr-TR" sz="2400" dirty="0"/>
              <a:t> </a:t>
            </a:r>
            <a:r>
              <a:rPr lang="tr-TR" sz="2400" dirty="0" err="1"/>
              <a:t>quotes</a:t>
            </a:r>
            <a:r>
              <a:rPr lang="tr-TR" sz="2400" dirty="0"/>
              <a:t> in C#.</a:t>
            </a:r>
          </a:p>
        </p:txBody>
      </p:sp>
      <p:sp>
        <p:nvSpPr>
          <p:cNvPr id="6" name="TextBox 5"/>
          <p:cNvSpPr txBox="1"/>
          <p:nvPr/>
        </p:nvSpPr>
        <p:spPr>
          <a:xfrm>
            <a:off x="350542" y="3763164"/>
            <a:ext cx="8804150" cy="707886"/>
          </a:xfrm>
          <a:prstGeom prst="rect">
            <a:avLst/>
          </a:prstGeom>
          <a:noFill/>
        </p:spPr>
        <p:txBody>
          <a:bodyPr wrap="square" rtlCol="0">
            <a:spAutoFit/>
          </a:bodyPr>
          <a:lstStyle/>
          <a:p>
            <a:r>
              <a:rPr lang="tr-TR" sz="2000" dirty="0">
                <a:solidFill>
                  <a:srgbClr val="FF0000"/>
                </a:solidFill>
              </a:rPr>
              <a:t>Assignment1 : Write </a:t>
            </a:r>
            <a:r>
              <a:rPr lang="tr-TR" sz="2000" dirty="0" err="1">
                <a:solidFill>
                  <a:srgbClr val="FF0000"/>
                </a:solidFill>
              </a:rPr>
              <a:t>the</a:t>
            </a:r>
            <a:r>
              <a:rPr lang="tr-TR" sz="2000" dirty="0">
                <a:solidFill>
                  <a:srgbClr val="FF0000"/>
                </a:solidFill>
              </a:rPr>
              <a:t> </a:t>
            </a:r>
            <a:r>
              <a:rPr lang="tr-TR" sz="2000" dirty="0" err="1">
                <a:solidFill>
                  <a:srgbClr val="FF0000"/>
                </a:solidFill>
              </a:rPr>
              <a:t>console</a:t>
            </a:r>
            <a:r>
              <a:rPr lang="tr-TR" sz="2000" dirty="0">
                <a:solidFill>
                  <a:srgbClr val="FF0000"/>
                </a:solidFill>
              </a:rPr>
              <a:t> </a:t>
            </a:r>
            <a:r>
              <a:rPr lang="tr-TR" sz="2000" dirty="0" err="1">
                <a:solidFill>
                  <a:srgbClr val="FF0000"/>
                </a:solidFill>
              </a:rPr>
              <a:t>application</a:t>
            </a:r>
            <a:r>
              <a:rPr lang="tr-TR" sz="2000" dirty="0">
                <a:solidFill>
                  <a:srgbClr val="FF0000"/>
                </a:solidFill>
              </a:rPr>
              <a:t> </a:t>
            </a:r>
            <a:r>
              <a:rPr lang="tr-TR" sz="2000" dirty="0" err="1">
                <a:solidFill>
                  <a:srgbClr val="FF0000"/>
                </a:solidFill>
              </a:rPr>
              <a:t>that</a:t>
            </a:r>
            <a:r>
              <a:rPr lang="tr-TR" sz="2000" dirty="0">
                <a:solidFill>
                  <a:srgbClr val="FF0000"/>
                </a:solidFill>
              </a:rPr>
              <a:t> </a:t>
            </a:r>
            <a:r>
              <a:rPr lang="tr-TR" sz="2000" dirty="0" err="1">
                <a:solidFill>
                  <a:srgbClr val="FF0000"/>
                </a:solidFill>
              </a:rPr>
              <a:t>outputs</a:t>
            </a:r>
            <a:r>
              <a:rPr lang="tr-TR" sz="2000" dirty="0">
                <a:solidFill>
                  <a:srgbClr val="FF0000"/>
                </a:solidFill>
              </a:rPr>
              <a:t> "</a:t>
            </a:r>
            <a:r>
              <a:rPr lang="tr-TR" sz="2000" dirty="0" err="1">
                <a:solidFill>
                  <a:srgbClr val="FF0000"/>
                </a:solidFill>
              </a:rPr>
              <a:t>Hello</a:t>
            </a:r>
            <a:r>
              <a:rPr lang="tr-TR" sz="2000" dirty="0">
                <a:solidFill>
                  <a:srgbClr val="FF0000"/>
                </a:solidFill>
              </a:rPr>
              <a:t>, </a:t>
            </a:r>
            <a:r>
              <a:rPr lang="tr-TR" sz="2000" dirty="0" err="1">
                <a:solidFill>
                  <a:srgbClr val="FF0000"/>
                </a:solidFill>
              </a:rPr>
              <a:t>this</a:t>
            </a:r>
            <a:r>
              <a:rPr lang="tr-TR" sz="2000" dirty="0">
                <a:solidFill>
                  <a:srgbClr val="FF0000"/>
                </a:solidFill>
              </a:rPr>
              <a:t> is </a:t>
            </a:r>
            <a:r>
              <a:rPr lang="tr-TR" sz="2000" dirty="0" err="1">
                <a:solidFill>
                  <a:srgbClr val="FF0000"/>
                </a:solidFill>
              </a:rPr>
              <a:t>my</a:t>
            </a:r>
            <a:r>
              <a:rPr lang="tr-TR" sz="2000" dirty="0">
                <a:solidFill>
                  <a:srgbClr val="FF0000"/>
                </a:solidFill>
              </a:rPr>
              <a:t> </a:t>
            </a:r>
            <a:r>
              <a:rPr lang="tr-TR" sz="2000" dirty="0" err="1">
                <a:solidFill>
                  <a:srgbClr val="FF0000"/>
                </a:solidFill>
              </a:rPr>
              <a:t>first</a:t>
            </a:r>
            <a:r>
              <a:rPr lang="tr-TR" sz="2000" dirty="0">
                <a:solidFill>
                  <a:srgbClr val="FF0000"/>
                </a:solidFill>
              </a:rPr>
              <a:t> program" as a </a:t>
            </a:r>
            <a:r>
              <a:rPr lang="tr-TR" sz="2000" dirty="0" err="1">
                <a:solidFill>
                  <a:srgbClr val="FF0000"/>
                </a:solidFill>
              </a:rPr>
              <a:t>screen</a:t>
            </a:r>
            <a:r>
              <a:rPr lang="tr-TR" sz="2000" dirty="0">
                <a:solidFill>
                  <a:srgbClr val="FF0000"/>
                </a:solidFill>
              </a:rPr>
              <a:t> </a:t>
            </a:r>
            <a:r>
              <a:rPr lang="tr-TR" sz="2000" dirty="0" err="1">
                <a:solidFill>
                  <a:srgbClr val="FF0000"/>
                </a:solidFill>
              </a:rPr>
              <a:t>output</a:t>
            </a:r>
            <a:r>
              <a:rPr lang="tr-TR" sz="2000" dirty="0">
                <a:solidFill>
                  <a:srgbClr val="FF0000"/>
                </a:solidFill>
              </a:rPr>
              <a:t>. </a:t>
            </a:r>
            <a:r>
              <a:rPr lang="tr-TR" sz="2000" dirty="0" err="1">
                <a:solidFill>
                  <a:srgbClr val="FF0000"/>
                </a:solidFill>
              </a:rPr>
              <a:t>Quotation</a:t>
            </a:r>
            <a:r>
              <a:rPr lang="tr-TR" sz="2000" dirty="0">
                <a:solidFill>
                  <a:srgbClr val="FF0000"/>
                </a:solidFill>
              </a:rPr>
              <a:t> </a:t>
            </a:r>
            <a:r>
              <a:rPr lang="tr-TR" sz="2000" dirty="0" err="1">
                <a:solidFill>
                  <a:srgbClr val="FF0000"/>
                </a:solidFill>
              </a:rPr>
              <a:t>marks</a:t>
            </a:r>
            <a:r>
              <a:rPr lang="tr-TR" sz="2000" dirty="0">
                <a:solidFill>
                  <a:srgbClr val="FF0000"/>
                </a:solidFill>
              </a:rPr>
              <a:t> </a:t>
            </a:r>
            <a:r>
              <a:rPr lang="tr-TR" sz="2000" dirty="0" err="1">
                <a:solidFill>
                  <a:srgbClr val="FF0000"/>
                </a:solidFill>
              </a:rPr>
              <a:t>will</a:t>
            </a:r>
            <a:r>
              <a:rPr lang="tr-TR" sz="2000" dirty="0">
                <a:solidFill>
                  <a:srgbClr val="FF0000"/>
                </a:solidFill>
              </a:rPr>
              <a:t> </a:t>
            </a:r>
            <a:r>
              <a:rPr lang="tr-TR" sz="2000" dirty="0" err="1">
                <a:solidFill>
                  <a:srgbClr val="FF0000"/>
                </a:solidFill>
              </a:rPr>
              <a:t>appear</a:t>
            </a:r>
            <a:r>
              <a:rPr lang="tr-TR" sz="2000" dirty="0">
                <a:solidFill>
                  <a:srgbClr val="FF0000"/>
                </a:solidFill>
              </a:rPr>
              <a:t> on </a:t>
            </a:r>
            <a:r>
              <a:rPr lang="tr-TR" sz="2000" dirty="0" err="1">
                <a:solidFill>
                  <a:srgbClr val="FF0000"/>
                </a:solidFill>
              </a:rPr>
              <a:t>the</a:t>
            </a:r>
            <a:r>
              <a:rPr lang="tr-TR" sz="2000" dirty="0">
                <a:solidFill>
                  <a:srgbClr val="FF0000"/>
                </a:solidFill>
              </a:rPr>
              <a:t> </a:t>
            </a:r>
            <a:r>
              <a:rPr lang="tr-TR" sz="2000" dirty="0" err="1">
                <a:solidFill>
                  <a:srgbClr val="FF0000"/>
                </a:solidFill>
              </a:rPr>
              <a:t>screen</a:t>
            </a:r>
            <a:r>
              <a:rPr lang="tr-TR" sz="2000" dirty="0">
                <a:solidFill>
                  <a:srgbClr val="FF0000"/>
                </a:solidFill>
              </a:rPr>
              <a:t>.</a:t>
            </a:r>
          </a:p>
        </p:txBody>
      </p:sp>
      <p:pic>
        <p:nvPicPr>
          <p:cNvPr id="3" name="Resim 2"/>
          <p:cNvPicPr>
            <a:picLocks noChangeAspect="1"/>
          </p:cNvPicPr>
          <p:nvPr/>
        </p:nvPicPr>
        <p:blipFill>
          <a:blip r:embed="rId3"/>
          <a:stretch>
            <a:fillRect/>
          </a:stretch>
        </p:blipFill>
        <p:spPr>
          <a:xfrm>
            <a:off x="217412" y="4553238"/>
            <a:ext cx="8709176" cy="1915696"/>
          </a:xfrm>
          <a:prstGeom prst="rect">
            <a:avLst/>
          </a:prstGeom>
        </p:spPr>
      </p:pic>
    </p:spTree>
    <p:extLst>
      <p:ext uri="{BB962C8B-B14F-4D97-AF65-F5344CB8AC3E}">
        <p14:creationId xmlns:p14="http://schemas.microsoft.com/office/powerpoint/2010/main" val="926576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15" name="TextBox 14"/>
          <p:cNvSpPr txBox="1"/>
          <p:nvPr/>
        </p:nvSpPr>
        <p:spPr>
          <a:xfrm>
            <a:off x="457200" y="908720"/>
            <a:ext cx="5050904" cy="584775"/>
          </a:xfrm>
          <a:prstGeom prst="rect">
            <a:avLst/>
          </a:prstGeom>
          <a:noFill/>
        </p:spPr>
        <p:txBody>
          <a:bodyPr wrap="square" rtlCol="0">
            <a:spAutoFit/>
          </a:bodyPr>
          <a:lstStyle/>
          <a:p>
            <a:r>
              <a:rPr lang="tr-TR" sz="3200" dirty="0" err="1">
                <a:solidFill>
                  <a:srgbClr val="FF0000"/>
                </a:solidFill>
              </a:rPr>
              <a:t>Semicolon</a:t>
            </a:r>
            <a:r>
              <a:rPr lang="tr-TR" sz="3200" dirty="0">
                <a:solidFill>
                  <a:srgbClr val="FF0000"/>
                </a:solidFill>
              </a:rPr>
              <a:t> ;</a:t>
            </a:r>
          </a:p>
        </p:txBody>
      </p:sp>
      <p:sp>
        <p:nvSpPr>
          <p:cNvPr id="2" name="TextBox 1"/>
          <p:cNvSpPr txBox="1"/>
          <p:nvPr/>
        </p:nvSpPr>
        <p:spPr>
          <a:xfrm>
            <a:off x="457200" y="1556792"/>
            <a:ext cx="7931224" cy="1200329"/>
          </a:xfrm>
          <a:prstGeom prst="rect">
            <a:avLst/>
          </a:prstGeom>
          <a:noFill/>
        </p:spPr>
        <p:txBody>
          <a:bodyPr wrap="square" rtlCol="0">
            <a:spAutoFit/>
          </a:bodyPr>
          <a:lstStyle/>
          <a:p>
            <a:r>
              <a:rPr lang="tr-TR" sz="2400" dirty="0" err="1"/>
              <a:t>Forgetting</a:t>
            </a:r>
            <a:r>
              <a:rPr lang="tr-TR" sz="2400" dirty="0"/>
              <a:t> </a:t>
            </a:r>
            <a:r>
              <a:rPr lang="tr-TR" sz="2400" dirty="0" err="1"/>
              <a:t>to</a:t>
            </a:r>
            <a:r>
              <a:rPr lang="tr-TR" sz="2400" dirty="0"/>
              <a:t> </a:t>
            </a:r>
            <a:r>
              <a:rPr lang="tr-TR" sz="2400" dirty="0" err="1"/>
              <a:t>add</a:t>
            </a:r>
            <a:r>
              <a:rPr lang="tr-TR" sz="2400" dirty="0"/>
              <a:t> a </a:t>
            </a:r>
            <a:r>
              <a:rPr lang="tr-TR" sz="2400" dirty="0" err="1"/>
              <a:t>semicolon</a:t>
            </a:r>
            <a:r>
              <a:rPr lang="tr-TR" sz="2400" dirty="0"/>
              <a:t> </a:t>
            </a:r>
            <a:r>
              <a:rPr lang="tr-TR" sz="2400" dirty="0" err="1"/>
              <a:t>to</a:t>
            </a:r>
            <a:r>
              <a:rPr lang="tr-TR" sz="2400" dirty="0"/>
              <a:t> </a:t>
            </a:r>
            <a:r>
              <a:rPr lang="tr-TR" sz="2400" dirty="0" err="1"/>
              <a:t>the</a:t>
            </a:r>
            <a:r>
              <a:rPr lang="tr-TR" sz="2400" dirty="0"/>
              <a:t> </a:t>
            </a:r>
            <a:r>
              <a:rPr lang="tr-TR" sz="2400" dirty="0" err="1"/>
              <a:t>end</a:t>
            </a:r>
            <a:r>
              <a:rPr lang="tr-TR" sz="2400" dirty="0"/>
              <a:t> of </a:t>
            </a:r>
            <a:r>
              <a:rPr lang="tr-TR" sz="2400" dirty="0" err="1"/>
              <a:t>any</a:t>
            </a:r>
            <a:r>
              <a:rPr lang="tr-TR" sz="2400" dirty="0"/>
              <a:t> C# </a:t>
            </a:r>
            <a:r>
              <a:rPr lang="tr-TR" sz="2400" dirty="0" err="1"/>
              <a:t>statement</a:t>
            </a:r>
            <a:r>
              <a:rPr lang="tr-TR" sz="2400" dirty="0"/>
              <a:t> </a:t>
            </a:r>
            <a:r>
              <a:rPr lang="tr-TR" sz="2400" dirty="0" err="1"/>
              <a:t>will</a:t>
            </a:r>
            <a:r>
              <a:rPr lang="tr-TR" sz="2400" dirty="0"/>
              <a:t> </a:t>
            </a:r>
            <a:r>
              <a:rPr lang="tr-TR" sz="2400" dirty="0" err="1"/>
              <a:t>cause</a:t>
            </a:r>
            <a:r>
              <a:rPr lang="tr-TR" sz="2400" dirty="0"/>
              <a:t> </a:t>
            </a:r>
            <a:r>
              <a:rPr lang="tr-TR" sz="2400" dirty="0" err="1"/>
              <a:t>our</a:t>
            </a:r>
            <a:r>
              <a:rPr lang="tr-TR" sz="2400" dirty="0"/>
              <a:t> program </a:t>
            </a:r>
            <a:r>
              <a:rPr lang="tr-TR" sz="2400" dirty="0" err="1"/>
              <a:t>to</a:t>
            </a:r>
            <a:r>
              <a:rPr lang="tr-TR" sz="2400" dirty="0"/>
              <a:t> </a:t>
            </a:r>
            <a:r>
              <a:rPr lang="tr-TR" sz="2400" dirty="0" err="1"/>
              <a:t>give</a:t>
            </a:r>
            <a:r>
              <a:rPr lang="tr-TR" sz="2400" dirty="0"/>
              <a:t> </a:t>
            </a:r>
            <a:r>
              <a:rPr lang="tr-TR" sz="2400" dirty="0" err="1"/>
              <a:t>error</a:t>
            </a:r>
            <a:r>
              <a:rPr lang="tr-TR" sz="2400" dirty="0"/>
              <a:t>.</a:t>
            </a:r>
          </a:p>
          <a:p>
            <a:endParaRPr lang="tr-TR" sz="2400" dirty="0"/>
          </a:p>
        </p:txBody>
      </p:sp>
      <p:sp>
        <p:nvSpPr>
          <p:cNvPr id="8" name="Rectangle 7"/>
          <p:cNvSpPr/>
          <p:nvPr/>
        </p:nvSpPr>
        <p:spPr>
          <a:xfrm>
            <a:off x="457200" y="2924944"/>
            <a:ext cx="8363272" cy="1872500"/>
          </a:xfrm>
          <a:prstGeom prst="rect">
            <a:avLst/>
          </a:prstGeom>
        </p:spPr>
        <p:txBody>
          <a:bodyPr wrap="square">
            <a:spAutoFit/>
          </a:bodyPr>
          <a:lstStyle/>
          <a:p>
            <a:pPr algn="just">
              <a:lnSpc>
                <a:spcPct val="80000"/>
              </a:lnSpc>
            </a:pPr>
            <a:r>
              <a:rPr lang="tr-TR" sz="3200" dirty="0" err="1">
                <a:solidFill>
                  <a:srgbClr val="FF0000"/>
                </a:solidFill>
              </a:rPr>
              <a:t>blank</a:t>
            </a:r>
            <a:r>
              <a:rPr lang="tr-TR" sz="3200" dirty="0">
                <a:solidFill>
                  <a:srgbClr val="FF0000"/>
                </a:solidFill>
              </a:rPr>
              <a:t> </a:t>
            </a:r>
            <a:r>
              <a:rPr lang="tr-TR" sz="3200" dirty="0" err="1">
                <a:solidFill>
                  <a:srgbClr val="FF0000"/>
                </a:solidFill>
              </a:rPr>
              <a:t>line</a:t>
            </a:r>
            <a:endParaRPr lang="tr-TR" sz="3200" dirty="0">
              <a:solidFill>
                <a:srgbClr val="FF0000"/>
              </a:solidFill>
            </a:endParaRPr>
          </a:p>
          <a:p>
            <a:pPr algn="just">
              <a:lnSpc>
                <a:spcPct val="80000"/>
              </a:lnSpc>
            </a:pPr>
            <a:endParaRPr lang="tr-TR" sz="2000" dirty="0"/>
          </a:p>
          <a:p>
            <a:pPr algn="just">
              <a:lnSpc>
                <a:spcPct val="80000"/>
              </a:lnSpc>
            </a:pPr>
            <a:endParaRPr lang="tr-TR" sz="2000" dirty="0"/>
          </a:p>
          <a:p>
            <a:pPr algn="just">
              <a:lnSpc>
                <a:spcPct val="80000"/>
              </a:lnSpc>
            </a:pPr>
            <a:r>
              <a:rPr lang="tr-TR" sz="2400" dirty="0" err="1"/>
              <a:t>It</a:t>
            </a:r>
            <a:r>
              <a:rPr lang="tr-TR" sz="2400" dirty="0"/>
              <a:t> </a:t>
            </a:r>
            <a:r>
              <a:rPr lang="tr-TR" sz="2400" dirty="0" err="1"/>
              <a:t>makes</a:t>
            </a:r>
            <a:r>
              <a:rPr lang="tr-TR" sz="2400" dirty="0"/>
              <a:t> </a:t>
            </a:r>
            <a:r>
              <a:rPr lang="tr-TR" sz="2400" dirty="0" err="1"/>
              <a:t>the</a:t>
            </a:r>
            <a:r>
              <a:rPr lang="tr-TR" sz="2400" dirty="0"/>
              <a:t> program </a:t>
            </a:r>
            <a:r>
              <a:rPr lang="tr-TR" sz="2400" dirty="0" err="1"/>
              <a:t>easier</a:t>
            </a:r>
            <a:r>
              <a:rPr lang="tr-TR" sz="2400" dirty="0"/>
              <a:t> </a:t>
            </a:r>
            <a:r>
              <a:rPr lang="tr-TR" sz="2400" dirty="0" err="1"/>
              <a:t>to</a:t>
            </a:r>
            <a:r>
              <a:rPr lang="tr-TR" sz="2400" dirty="0"/>
              <a:t> </a:t>
            </a:r>
            <a:r>
              <a:rPr lang="tr-TR" sz="2400" dirty="0" err="1"/>
              <a:t>read</a:t>
            </a:r>
            <a:r>
              <a:rPr lang="tr-TR" sz="2400" dirty="0"/>
              <a:t> </a:t>
            </a:r>
            <a:r>
              <a:rPr lang="tr-TR" sz="2400" dirty="0" err="1"/>
              <a:t>and</a:t>
            </a:r>
            <a:r>
              <a:rPr lang="tr-TR" sz="2400" dirty="0"/>
              <a:t> </a:t>
            </a:r>
            <a:r>
              <a:rPr lang="tr-TR" sz="2400" dirty="0" err="1"/>
              <a:t>understand</a:t>
            </a:r>
            <a:r>
              <a:rPr lang="tr-TR" sz="2400" dirty="0"/>
              <a:t>.</a:t>
            </a:r>
          </a:p>
          <a:p>
            <a:pPr algn="just">
              <a:lnSpc>
                <a:spcPct val="80000"/>
              </a:lnSpc>
            </a:pPr>
            <a:endParaRPr lang="tr-TR" sz="2400" dirty="0"/>
          </a:p>
          <a:p>
            <a:pPr algn="just">
              <a:lnSpc>
                <a:spcPct val="80000"/>
              </a:lnSpc>
            </a:pPr>
            <a:r>
              <a:rPr lang="tr-TR" sz="2400" dirty="0" err="1"/>
              <a:t>Blank</a:t>
            </a:r>
            <a:r>
              <a:rPr lang="tr-TR" sz="2400" dirty="0"/>
              <a:t> </a:t>
            </a:r>
            <a:r>
              <a:rPr lang="tr-TR" sz="2400" dirty="0" err="1"/>
              <a:t>lines</a:t>
            </a:r>
            <a:r>
              <a:rPr lang="tr-TR" sz="2400" dirty="0"/>
              <a:t> </a:t>
            </a:r>
            <a:r>
              <a:rPr lang="tr-TR" sz="2400" dirty="0" err="1"/>
              <a:t>are</a:t>
            </a:r>
            <a:r>
              <a:rPr lang="tr-TR" sz="2400" dirty="0"/>
              <a:t> </a:t>
            </a:r>
            <a:r>
              <a:rPr lang="tr-TR" sz="2400" dirty="0" err="1"/>
              <a:t>ignored</a:t>
            </a:r>
            <a:r>
              <a:rPr lang="tr-TR" sz="2400" dirty="0"/>
              <a:t> </a:t>
            </a:r>
            <a:r>
              <a:rPr lang="tr-TR" sz="2400" dirty="0" err="1"/>
              <a:t>by</a:t>
            </a:r>
            <a:r>
              <a:rPr lang="tr-TR" sz="2400" dirty="0"/>
              <a:t> </a:t>
            </a:r>
            <a:r>
              <a:rPr lang="tr-TR" sz="2400" dirty="0" err="1"/>
              <a:t>the</a:t>
            </a:r>
            <a:r>
              <a:rPr lang="tr-TR" sz="2400" dirty="0"/>
              <a:t> </a:t>
            </a:r>
            <a:r>
              <a:rPr lang="tr-TR" sz="2400" dirty="0" err="1"/>
              <a:t>compiler</a:t>
            </a:r>
            <a:r>
              <a:rPr lang="tr-TR" sz="2400" dirty="0"/>
              <a:t>.</a:t>
            </a:r>
            <a:endParaRPr lang="en-US" sz="2400" dirty="0"/>
          </a:p>
        </p:txBody>
      </p:sp>
    </p:spTree>
    <p:extLst>
      <p:ext uri="{BB962C8B-B14F-4D97-AF65-F5344CB8AC3E}">
        <p14:creationId xmlns:p14="http://schemas.microsoft.com/office/powerpoint/2010/main" val="1153257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15" name="TextBox 14"/>
          <p:cNvSpPr txBox="1"/>
          <p:nvPr/>
        </p:nvSpPr>
        <p:spPr>
          <a:xfrm>
            <a:off x="457200" y="908720"/>
            <a:ext cx="7931224" cy="584775"/>
          </a:xfrm>
          <a:prstGeom prst="rect">
            <a:avLst/>
          </a:prstGeom>
          <a:noFill/>
        </p:spPr>
        <p:txBody>
          <a:bodyPr wrap="square" rtlCol="0">
            <a:spAutoFit/>
          </a:bodyPr>
          <a:lstStyle/>
          <a:p>
            <a:r>
              <a:rPr lang="tr-TR" sz="3200" dirty="0">
                <a:solidFill>
                  <a:srgbClr val="FF0000"/>
                </a:solidFill>
              </a:rPr>
              <a:t>Do </a:t>
            </a:r>
            <a:r>
              <a:rPr lang="tr-TR" sz="3200" dirty="0" err="1">
                <a:solidFill>
                  <a:srgbClr val="FF0000"/>
                </a:solidFill>
              </a:rPr>
              <a:t>the</a:t>
            </a:r>
            <a:r>
              <a:rPr lang="tr-TR" sz="3200" dirty="0">
                <a:solidFill>
                  <a:srgbClr val="FF0000"/>
                </a:solidFill>
              </a:rPr>
              <a:t> </a:t>
            </a:r>
            <a:r>
              <a:rPr lang="tr-TR" sz="3200" dirty="0" err="1">
                <a:solidFill>
                  <a:srgbClr val="FF0000"/>
                </a:solidFill>
              </a:rPr>
              <a:t>following</a:t>
            </a:r>
            <a:r>
              <a:rPr lang="tr-TR" sz="3200" dirty="0">
                <a:solidFill>
                  <a:srgbClr val="FF0000"/>
                </a:solidFill>
              </a:rPr>
              <a:t> </a:t>
            </a:r>
            <a:r>
              <a:rPr lang="tr-TR" sz="3200" dirty="0" err="1">
                <a:solidFill>
                  <a:srgbClr val="FF0000"/>
                </a:solidFill>
              </a:rPr>
              <a:t>lines</a:t>
            </a:r>
            <a:r>
              <a:rPr lang="tr-TR" sz="3200" dirty="0">
                <a:solidFill>
                  <a:srgbClr val="FF0000"/>
                </a:solidFill>
              </a:rPr>
              <a:t> of </a:t>
            </a:r>
            <a:r>
              <a:rPr lang="tr-TR" sz="3200" dirty="0" err="1">
                <a:solidFill>
                  <a:srgbClr val="FF0000"/>
                </a:solidFill>
              </a:rPr>
              <a:t>code</a:t>
            </a:r>
            <a:r>
              <a:rPr lang="tr-TR" sz="3200" dirty="0">
                <a:solidFill>
                  <a:srgbClr val="FF0000"/>
                </a:solidFill>
              </a:rPr>
              <a:t> </a:t>
            </a:r>
            <a:r>
              <a:rPr lang="tr-TR" sz="3200" dirty="0" err="1">
                <a:solidFill>
                  <a:srgbClr val="FF0000"/>
                </a:solidFill>
              </a:rPr>
              <a:t>give</a:t>
            </a:r>
            <a:r>
              <a:rPr lang="tr-TR" sz="3200" dirty="0">
                <a:solidFill>
                  <a:srgbClr val="FF0000"/>
                </a:solidFill>
              </a:rPr>
              <a:t> an </a:t>
            </a:r>
            <a:r>
              <a:rPr lang="tr-TR" sz="3200" dirty="0" err="1">
                <a:solidFill>
                  <a:srgbClr val="FF0000"/>
                </a:solidFill>
              </a:rPr>
              <a:t>error</a:t>
            </a:r>
            <a:r>
              <a:rPr lang="tr-TR" sz="3200" dirty="0">
                <a:solidFill>
                  <a:srgbClr val="FF0000"/>
                </a:solidFill>
              </a:rPr>
              <a:t>?</a:t>
            </a:r>
          </a:p>
        </p:txBody>
      </p:sp>
      <p:sp>
        <p:nvSpPr>
          <p:cNvPr id="3" name="TextBox 2"/>
          <p:cNvSpPr txBox="1"/>
          <p:nvPr/>
        </p:nvSpPr>
        <p:spPr>
          <a:xfrm>
            <a:off x="457200" y="1916832"/>
            <a:ext cx="5482952" cy="369332"/>
          </a:xfrm>
          <a:prstGeom prst="rect">
            <a:avLst/>
          </a:prstGeom>
          <a:noFill/>
        </p:spPr>
        <p:txBody>
          <a:bodyPr wrap="square" rtlCol="0">
            <a:spAutoFit/>
          </a:bodyPr>
          <a:lstStyle/>
          <a:p>
            <a:r>
              <a:rPr lang="tr-TR" dirty="0">
                <a:solidFill>
                  <a:srgbClr val="2B91AF"/>
                </a:solidFill>
              </a:rPr>
              <a:t>Console</a:t>
            </a:r>
            <a:r>
              <a:rPr lang="tr-TR" dirty="0">
                <a:solidFill>
                  <a:prstClr val="black"/>
                </a:solidFill>
              </a:rPr>
              <a:t>.WriteLine(</a:t>
            </a:r>
            <a:r>
              <a:rPr lang="tr-TR" dirty="0">
                <a:solidFill>
                  <a:srgbClr val="A31515"/>
                </a:solidFill>
              </a:rPr>
              <a:t>"Merhaba, Bu benim ilk programim"</a:t>
            </a:r>
            <a:r>
              <a:rPr lang="tr-TR" dirty="0">
                <a:solidFill>
                  <a:prstClr val="black"/>
                </a:solidFill>
              </a:rPr>
              <a:t>)</a:t>
            </a:r>
            <a:endParaRPr lang="tr-TR" dirty="0"/>
          </a:p>
        </p:txBody>
      </p:sp>
      <p:sp>
        <p:nvSpPr>
          <p:cNvPr id="9" name="TextBox 8"/>
          <p:cNvSpPr txBox="1"/>
          <p:nvPr/>
        </p:nvSpPr>
        <p:spPr>
          <a:xfrm>
            <a:off x="467544" y="2854677"/>
            <a:ext cx="5832648" cy="646331"/>
          </a:xfrm>
          <a:prstGeom prst="rect">
            <a:avLst/>
          </a:prstGeom>
          <a:noFill/>
        </p:spPr>
        <p:txBody>
          <a:bodyPr wrap="square" rtlCol="0">
            <a:spAutoFit/>
          </a:bodyPr>
          <a:lstStyle/>
          <a:p>
            <a:r>
              <a:rPr lang="tr-TR" dirty="0">
                <a:solidFill>
                  <a:srgbClr val="2B91AF"/>
                </a:solidFill>
              </a:rPr>
              <a:t>Console</a:t>
            </a:r>
            <a:r>
              <a:rPr lang="tr-TR" dirty="0">
                <a:solidFill>
                  <a:prstClr val="black"/>
                </a:solidFill>
              </a:rPr>
              <a:t>.</a:t>
            </a:r>
          </a:p>
          <a:p>
            <a:r>
              <a:rPr lang="tr-TR" dirty="0">
                <a:solidFill>
                  <a:prstClr val="black"/>
                </a:solidFill>
              </a:rPr>
              <a:t>                WriteLine(</a:t>
            </a:r>
            <a:r>
              <a:rPr lang="tr-TR" dirty="0">
                <a:solidFill>
                  <a:srgbClr val="A31515"/>
                </a:solidFill>
              </a:rPr>
              <a:t>"Merhaba, Bu benim ilk programim"</a:t>
            </a:r>
            <a:r>
              <a:rPr lang="tr-TR" dirty="0">
                <a:solidFill>
                  <a:prstClr val="black"/>
                </a:solidFill>
              </a:rPr>
              <a:t>); </a:t>
            </a:r>
            <a:endParaRPr lang="tr-TR" dirty="0"/>
          </a:p>
        </p:txBody>
      </p:sp>
      <p:sp>
        <p:nvSpPr>
          <p:cNvPr id="7" name="Rectangle 6"/>
          <p:cNvSpPr/>
          <p:nvPr/>
        </p:nvSpPr>
        <p:spPr>
          <a:xfrm>
            <a:off x="4604575" y="4219259"/>
            <a:ext cx="4398127" cy="369332"/>
          </a:xfrm>
          <a:prstGeom prst="rect">
            <a:avLst/>
          </a:prstGeom>
        </p:spPr>
        <p:txBody>
          <a:bodyPr wrap="none">
            <a:spAutoFit/>
          </a:bodyPr>
          <a:lstStyle/>
          <a:p>
            <a:r>
              <a:rPr lang="tr-TR" dirty="0">
                <a:solidFill>
                  <a:srgbClr val="00B050"/>
                </a:solidFill>
              </a:rPr>
              <a:t>//</a:t>
            </a:r>
            <a:r>
              <a:rPr lang="tr-TR" dirty="0" err="1">
                <a:solidFill>
                  <a:srgbClr val="00B050"/>
                </a:solidFill>
              </a:rPr>
              <a:t>Doesn't</a:t>
            </a:r>
            <a:r>
              <a:rPr lang="tr-TR" dirty="0">
                <a:solidFill>
                  <a:srgbClr val="00B050"/>
                </a:solidFill>
              </a:rPr>
              <a:t> </a:t>
            </a:r>
            <a:r>
              <a:rPr lang="tr-TR" dirty="0" err="1">
                <a:solidFill>
                  <a:srgbClr val="00B050"/>
                </a:solidFill>
              </a:rPr>
              <a:t>work</a:t>
            </a:r>
            <a:r>
              <a:rPr lang="tr-TR" dirty="0">
                <a:solidFill>
                  <a:srgbClr val="00B050"/>
                </a:solidFill>
              </a:rPr>
              <a:t>. A </a:t>
            </a:r>
            <a:r>
              <a:rPr lang="tr-TR" dirty="0" err="1">
                <a:solidFill>
                  <a:srgbClr val="00B050"/>
                </a:solidFill>
              </a:rPr>
              <a:t>string</a:t>
            </a:r>
            <a:r>
              <a:rPr lang="tr-TR" dirty="0">
                <a:solidFill>
                  <a:srgbClr val="00B050"/>
                </a:solidFill>
              </a:rPr>
              <a:t> </a:t>
            </a:r>
            <a:r>
              <a:rPr lang="tr-TR" dirty="0" err="1">
                <a:solidFill>
                  <a:srgbClr val="00B050"/>
                </a:solidFill>
              </a:rPr>
              <a:t>must</a:t>
            </a:r>
            <a:r>
              <a:rPr lang="tr-TR" dirty="0">
                <a:solidFill>
                  <a:srgbClr val="00B050"/>
                </a:solidFill>
              </a:rPr>
              <a:t> be a </a:t>
            </a:r>
            <a:r>
              <a:rPr lang="tr-TR" dirty="0" err="1">
                <a:solidFill>
                  <a:srgbClr val="00B050"/>
                </a:solidFill>
              </a:rPr>
              <a:t>single</a:t>
            </a:r>
            <a:r>
              <a:rPr lang="tr-TR" dirty="0">
                <a:solidFill>
                  <a:srgbClr val="00B050"/>
                </a:solidFill>
              </a:rPr>
              <a:t> </a:t>
            </a:r>
            <a:r>
              <a:rPr lang="tr-TR" dirty="0" err="1">
                <a:solidFill>
                  <a:srgbClr val="00B050"/>
                </a:solidFill>
              </a:rPr>
              <a:t>line</a:t>
            </a:r>
            <a:endParaRPr lang="tr-TR" dirty="0">
              <a:solidFill>
                <a:srgbClr val="00B050"/>
              </a:solidFill>
            </a:endParaRPr>
          </a:p>
        </p:txBody>
      </p:sp>
      <p:sp>
        <p:nvSpPr>
          <p:cNvPr id="11" name="TextBox 10"/>
          <p:cNvSpPr txBox="1"/>
          <p:nvPr/>
        </p:nvSpPr>
        <p:spPr>
          <a:xfrm>
            <a:off x="430786" y="4219259"/>
            <a:ext cx="3975956" cy="646331"/>
          </a:xfrm>
          <a:prstGeom prst="rect">
            <a:avLst/>
          </a:prstGeom>
          <a:noFill/>
        </p:spPr>
        <p:txBody>
          <a:bodyPr wrap="square" rtlCol="0">
            <a:spAutoFit/>
          </a:bodyPr>
          <a:lstStyle/>
          <a:p>
            <a:r>
              <a:rPr lang="tr-TR" dirty="0">
                <a:solidFill>
                  <a:srgbClr val="2B91AF"/>
                </a:solidFill>
              </a:rPr>
              <a:t>Console</a:t>
            </a:r>
            <a:r>
              <a:rPr lang="tr-TR" dirty="0">
                <a:solidFill>
                  <a:prstClr val="black"/>
                </a:solidFill>
              </a:rPr>
              <a:t>.WriteLine(</a:t>
            </a:r>
            <a:r>
              <a:rPr lang="tr-TR" dirty="0">
                <a:solidFill>
                  <a:srgbClr val="A31515"/>
                </a:solidFill>
              </a:rPr>
              <a:t>"Merhaba, </a:t>
            </a:r>
          </a:p>
          <a:p>
            <a:r>
              <a:rPr lang="tr-TR" dirty="0">
                <a:solidFill>
                  <a:prstClr val="black"/>
                </a:solidFill>
              </a:rPr>
              <a:t>                    Bu benim ilk programim</a:t>
            </a:r>
            <a:r>
              <a:rPr lang="tr-TR" dirty="0">
                <a:solidFill>
                  <a:srgbClr val="A31515"/>
                </a:solidFill>
              </a:rPr>
              <a:t>");</a:t>
            </a:r>
            <a:endParaRPr lang="tr-TR" dirty="0"/>
          </a:p>
        </p:txBody>
      </p:sp>
      <p:sp>
        <p:nvSpPr>
          <p:cNvPr id="5" name="Rectangle 4"/>
          <p:cNvSpPr/>
          <p:nvPr/>
        </p:nvSpPr>
        <p:spPr>
          <a:xfrm>
            <a:off x="5868144" y="1916832"/>
            <a:ext cx="3064429" cy="369332"/>
          </a:xfrm>
          <a:prstGeom prst="rect">
            <a:avLst/>
          </a:prstGeom>
        </p:spPr>
        <p:txBody>
          <a:bodyPr wrap="none">
            <a:spAutoFit/>
          </a:bodyPr>
          <a:lstStyle/>
          <a:p>
            <a:r>
              <a:rPr lang="tr-TR" dirty="0">
                <a:solidFill>
                  <a:srgbClr val="008000"/>
                </a:solidFill>
              </a:rPr>
              <a:t>//</a:t>
            </a:r>
            <a:r>
              <a:rPr lang="tr-TR" dirty="0" err="1">
                <a:solidFill>
                  <a:srgbClr val="008000"/>
                </a:solidFill>
              </a:rPr>
              <a:t>doesn’t</a:t>
            </a:r>
            <a:r>
              <a:rPr lang="tr-TR" dirty="0">
                <a:solidFill>
                  <a:srgbClr val="008000"/>
                </a:solidFill>
              </a:rPr>
              <a:t> </a:t>
            </a:r>
            <a:r>
              <a:rPr lang="tr-TR" dirty="0" err="1">
                <a:solidFill>
                  <a:srgbClr val="008000"/>
                </a:solidFill>
              </a:rPr>
              <a:t>work</a:t>
            </a:r>
            <a:r>
              <a:rPr lang="tr-TR" dirty="0">
                <a:solidFill>
                  <a:srgbClr val="008000"/>
                </a:solidFill>
              </a:rPr>
              <a:t>, </a:t>
            </a:r>
            <a:r>
              <a:rPr lang="tr-TR" dirty="0" err="1">
                <a:solidFill>
                  <a:srgbClr val="008000"/>
                </a:solidFill>
              </a:rPr>
              <a:t>no</a:t>
            </a:r>
            <a:r>
              <a:rPr lang="tr-TR" dirty="0">
                <a:solidFill>
                  <a:srgbClr val="008000"/>
                </a:solidFill>
              </a:rPr>
              <a:t> </a:t>
            </a:r>
            <a:r>
              <a:rPr lang="tr-TR" dirty="0" err="1">
                <a:solidFill>
                  <a:srgbClr val="008000"/>
                </a:solidFill>
              </a:rPr>
              <a:t>semicolon</a:t>
            </a:r>
            <a:r>
              <a:rPr lang="tr-TR" dirty="0">
                <a:solidFill>
                  <a:srgbClr val="008000"/>
                </a:solidFill>
              </a:rPr>
              <a:t> ;</a:t>
            </a:r>
            <a:endParaRPr lang="tr-TR" dirty="0"/>
          </a:p>
        </p:txBody>
      </p:sp>
      <p:sp>
        <p:nvSpPr>
          <p:cNvPr id="6" name="Rectangle 5"/>
          <p:cNvSpPr/>
          <p:nvPr/>
        </p:nvSpPr>
        <p:spPr>
          <a:xfrm>
            <a:off x="6062690" y="3131676"/>
            <a:ext cx="1187633" cy="369332"/>
          </a:xfrm>
          <a:prstGeom prst="rect">
            <a:avLst/>
          </a:prstGeom>
        </p:spPr>
        <p:txBody>
          <a:bodyPr wrap="none">
            <a:spAutoFit/>
          </a:bodyPr>
          <a:lstStyle/>
          <a:p>
            <a:r>
              <a:rPr lang="tr-TR" dirty="0">
                <a:solidFill>
                  <a:srgbClr val="008000"/>
                </a:solidFill>
              </a:rPr>
              <a:t>// </a:t>
            </a:r>
            <a:r>
              <a:rPr lang="tr-TR" dirty="0" err="1">
                <a:solidFill>
                  <a:srgbClr val="008000"/>
                </a:solidFill>
              </a:rPr>
              <a:t>no</a:t>
            </a:r>
            <a:r>
              <a:rPr lang="tr-TR" dirty="0">
                <a:solidFill>
                  <a:srgbClr val="008000"/>
                </a:solidFill>
              </a:rPr>
              <a:t> </a:t>
            </a:r>
            <a:r>
              <a:rPr lang="tr-TR" dirty="0" err="1">
                <a:solidFill>
                  <a:srgbClr val="008000"/>
                </a:solidFill>
              </a:rPr>
              <a:t>error</a:t>
            </a:r>
            <a:endParaRPr lang="tr-TR" dirty="0"/>
          </a:p>
        </p:txBody>
      </p:sp>
    </p:spTree>
    <p:extLst>
      <p:ext uri="{BB962C8B-B14F-4D97-AF65-F5344CB8AC3E}">
        <p14:creationId xmlns:p14="http://schemas.microsoft.com/office/powerpoint/2010/main" val="142902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detailed review</a:t>
            </a:r>
          </a:p>
        </p:txBody>
      </p:sp>
      <p:sp>
        <p:nvSpPr>
          <p:cNvPr id="2" name="Rectangle 1"/>
          <p:cNvSpPr/>
          <p:nvPr/>
        </p:nvSpPr>
        <p:spPr>
          <a:xfrm>
            <a:off x="457200" y="3568948"/>
            <a:ext cx="8229600" cy="2554545"/>
          </a:xfrm>
          <a:prstGeom prst="rect">
            <a:avLst/>
          </a:prstGeom>
        </p:spPr>
        <p:txBody>
          <a:bodyPr wrap="square">
            <a:spAutoFit/>
          </a:bodyPr>
          <a:lstStyle/>
          <a:p>
            <a:r>
              <a:rPr lang="en-US" sz="2000" dirty="0"/>
              <a:t>All C# console applications start by executing the </a:t>
            </a:r>
            <a:r>
              <a:rPr lang="en-US" sz="2000" dirty="0">
                <a:solidFill>
                  <a:srgbClr val="FF0000"/>
                </a:solidFill>
              </a:rPr>
              <a:t>Main</a:t>
            </a:r>
            <a:r>
              <a:rPr lang="en-US" sz="2000" dirty="0"/>
              <a:t> function.</a:t>
            </a:r>
          </a:p>
          <a:p>
            <a:r>
              <a:rPr lang="en-US" sz="2000" dirty="0"/>
              <a:t>A C# application without the </a:t>
            </a:r>
            <a:r>
              <a:rPr lang="en-US" sz="2000" dirty="0">
                <a:solidFill>
                  <a:srgbClr val="FF0000"/>
                </a:solidFill>
              </a:rPr>
              <a:t>Main</a:t>
            </a:r>
            <a:r>
              <a:rPr lang="en-US" sz="2000" dirty="0"/>
              <a:t> function is unthinkable.</a:t>
            </a:r>
          </a:p>
          <a:p>
            <a:r>
              <a:rPr lang="en-US" sz="2000" dirty="0"/>
              <a:t>The first letter of the word </a:t>
            </a:r>
            <a:r>
              <a:rPr lang="en-US" sz="2000" dirty="0">
                <a:solidFill>
                  <a:srgbClr val="FF0000"/>
                </a:solidFill>
              </a:rPr>
              <a:t>Main</a:t>
            </a:r>
            <a:r>
              <a:rPr lang="en-US" sz="2000" dirty="0"/>
              <a:t>, </a:t>
            </a:r>
            <a:r>
              <a:rPr lang="en-US" sz="2000" dirty="0">
                <a:solidFill>
                  <a:srgbClr val="FF0000"/>
                </a:solidFill>
              </a:rPr>
              <a:t>M</a:t>
            </a:r>
            <a:r>
              <a:rPr lang="en-US" sz="2000" dirty="0"/>
              <a:t>, should always be capitalized. (Note that C# is case-sensitive.)</a:t>
            </a:r>
          </a:p>
          <a:p>
            <a:r>
              <a:rPr lang="en-US" sz="2000" dirty="0"/>
              <a:t>Normal parentheses after the word </a:t>
            </a:r>
            <a:r>
              <a:rPr lang="en-US" sz="2000" dirty="0">
                <a:solidFill>
                  <a:srgbClr val="FF0000"/>
                </a:solidFill>
              </a:rPr>
              <a:t>Main</a:t>
            </a:r>
            <a:r>
              <a:rPr lang="en-US" sz="2000" dirty="0"/>
              <a:t> indicate the existence of a function (method).</a:t>
            </a:r>
          </a:p>
          <a:p>
            <a:r>
              <a:rPr lang="en-US" sz="2000" dirty="0"/>
              <a:t>Methods do specific work and usually return a value.</a:t>
            </a:r>
          </a:p>
          <a:p>
            <a:r>
              <a:rPr lang="en-US" sz="2000" dirty="0"/>
              <a:t>The </a:t>
            </a:r>
            <a:r>
              <a:rPr lang="en-US" sz="2000" dirty="0">
                <a:solidFill>
                  <a:srgbClr val="FF0000"/>
                </a:solidFill>
              </a:rPr>
              <a:t>void</a:t>
            </a:r>
            <a:r>
              <a:rPr lang="en-US" sz="2000" dirty="0"/>
              <a:t> keyword specifies that the </a:t>
            </a:r>
            <a:r>
              <a:rPr lang="en-US" sz="2000" dirty="0">
                <a:solidFill>
                  <a:srgbClr val="FF0000"/>
                </a:solidFill>
              </a:rPr>
              <a:t>Main</a:t>
            </a:r>
            <a:r>
              <a:rPr lang="en-US" sz="2000" dirty="0"/>
              <a:t> function returns no value.</a:t>
            </a:r>
          </a:p>
        </p:txBody>
      </p:sp>
      <p:pic>
        <p:nvPicPr>
          <p:cNvPr id="3" name="Resim 2"/>
          <p:cNvPicPr>
            <a:picLocks noChangeAspect="1"/>
          </p:cNvPicPr>
          <p:nvPr/>
        </p:nvPicPr>
        <p:blipFill>
          <a:blip r:embed="rId2"/>
          <a:stretch>
            <a:fillRect/>
          </a:stretch>
        </p:blipFill>
        <p:spPr>
          <a:xfrm>
            <a:off x="611560" y="819548"/>
            <a:ext cx="6336704" cy="2567636"/>
          </a:xfrm>
          <a:prstGeom prst="rect">
            <a:avLst/>
          </a:prstGeom>
        </p:spPr>
      </p:pic>
    </p:spTree>
    <p:extLst>
      <p:ext uri="{BB962C8B-B14F-4D97-AF65-F5344CB8AC3E}">
        <p14:creationId xmlns:p14="http://schemas.microsoft.com/office/powerpoint/2010/main" val="1771900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err="1"/>
              <a:t>example</a:t>
            </a:r>
            <a:endParaRPr lang="tr-TR" dirty="0"/>
          </a:p>
        </p:txBody>
      </p:sp>
      <p:sp>
        <p:nvSpPr>
          <p:cNvPr id="3" name="Metin kutusu 2"/>
          <p:cNvSpPr txBox="1"/>
          <p:nvPr/>
        </p:nvSpPr>
        <p:spPr>
          <a:xfrm>
            <a:off x="1353030" y="4653136"/>
            <a:ext cx="6419850" cy="646331"/>
          </a:xfrm>
          <a:prstGeom prst="rect">
            <a:avLst/>
          </a:prstGeom>
          <a:noFill/>
        </p:spPr>
        <p:txBody>
          <a:bodyPr wrap="square" rtlCol="0">
            <a:spAutoFit/>
          </a:bodyPr>
          <a:lstStyle/>
          <a:p>
            <a:r>
              <a:rPr lang="en-US" dirty="0"/>
              <a:t>Perform the code with the screen output as in the picture, only by using the </a:t>
            </a:r>
            <a:r>
              <a:rPr lang="en-US" dirty="0" err="1"/>
              <a:t>writeline</a:t>
            </a:r>
            <a:r>
              <a:rPr lang="en-US" dirty="0"/>
              <a:t> method.</a:t>
            </a:r>
          </a:p>
        </p:txBody>
      </p:sp>
      <p:pic>
        <p:nvPicPr>
          <p:cNvPr id="2" name="Resim 1"/>
          <p:cNvPicPr>
            <a:picLocks noChangeAspect="1"/>
          </p:cNvPicPr>
          <p:nvPr/>
        </p:nvPicPr>
        <p:blipFill>
          <a:blip r:embed="rId2"/>
          <a:stretch>
            <a:fillRect/>
          </a:stretch>
        </p:blipFill>
        <p:spPr>
          <a:xfrm>
            <a:off x="403186" y="819547"/>
            <a:ext cx="8283614" cy="3557278"/>
          </a:xfrm>
          <a:prstGeom prst="rect">
            <a:avLst/>
          </a:prstGeom>
        </p:spPr>
      </p:pic>
    </p:spTree>
    <p:extLst>
      <p:ext uri="{BB962C8B-B14F-4D97-AF65-F5344CB8AC3E}">
        <p14:creationId xmlns:p14="http://schemas.microsoft.com/office/powerpoint/2010/main" val="1316223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err="1"/>
              <a:t>Example</a:t>
            </a:r>
            <a:r>
              <a:rPr lang="tr-TR" dirty="0"/>
              <a:t> </a:t>
            </a:r>
            <a:r>
              <a:rPr lang="tr-TR" dirty="0" err="1"/>
              <a:t>Code</a:t>
            </a:r>
            <a:endParaRPr lang="tr-TR" dirty="0"/>
          </a:p>
        </p:txBody>
      </p:sp>
      <p:sp>
        <p:nvSpPr>
          <p:cNvPr id="2" name="Dikdörtgen 1"/>
          <p:cNvSpPr/>
          <p:nvPr/>
        </p:nvSpPr>
        <p:spPr>
          <a:xfrm>
            <a:off x="971600" y="1700809"/>
            <a:ext cx="7128792" cy="2462213"/>
          </a:xfrm>
          <a:prstGeom prst="rect">
            <a:avLst/>
          </a:prstGeom>
        </p:spPr>
        <p:txBody>
          <a:bodyPr wrap="square">
            <a:spAutoFit/>
          </a:bodyPr>
          <a:lstStyle/>
          <a:p>
            <a:r>
              <a:rPr lang="tr-TR" sz="1400" dirty="0">
                <a:solidFill>
                  <a:srgbClr val="2B91AF"/>
                </a:solidFill>
                <a:latin typeface="Consolas"/>
              </a:rPr>
              <a:t>	   Console</a:t>
            </a:r>
            <a:r>
              <a:rPr lang="tr-TR" sz="1400" dirty="0">
                <a:solidFill>
                  <a:prstClr val="black"/>
                </a:solidFill>
                <a:latin typeface="Consolas"/>
              </a:rPr>
              <a:t>.WriteLine(</a:t>
            </a:r>
            <a:r>
              <a:rPr lang="tr-TR" sz="1400" dirty="0">
                <a:solidFill>
                  <a:srgbClr val="A31515"/>
                </a:solidFill>
                <a:latin typeface="Consolas"/>
              </a:rPr>
              <a:t>"--------------------------------"</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                                "</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"------ATATURK UNİVERSİTESİ------"</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                                "</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"--ENDUSTRİ MÜHENDİSLİGİ BÖLÜMÜ--"</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                                "</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"---------ERZURUM 2019-----------"</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                                "</a:t>
            </a:r>
            <a:r>
              <a:rPr lang="tr-TR" sz="1400" dirty="0">
                <a:solidFill>
                  <a:prstClr val="black"/>
                </a:solidFill>
                <a:latin typeface="Consolas"/>
              </a:rPr>
              <a:t>);</a:t>
            </a:r>
          </a:p>
          <a:p>
            <a:r>
              <a:rPr lang="tr-TR" sz="1400" dirty="0">
                <a:solidFill>
                  <a:prstClr val="black"/>
                </a:solidFill>
                <a:latin typeface="Consolas"/>
              </a:rPr>
              <a:t>            </a:t>
            </a:r>
            <a:r>
              <a:rPr lang="tr-TR" sz="1400" dirty="0">
                <a:solidFill>
                  <a:srgbClr val="2B91AF"/>
                </a:solidFill>
                <a:latin typeface="Consolas"/>
              </a:rPr>
              <a:t>Console</a:t>
            </a:r>
            <a:r>
              <a:rPr lang="tr-TR" sz="1400" dirty="0">
                <a:solidFill>
                  <a:prstClr val="black"/>
                </a:solidFill>
                <a:latin typeface="Consolas"/>
              </a:rPr>
              <a:t>.WriteLine(</a:t>
            </a:r>
            <a:r>
              <a:rPr lang="tr-TR" sz="1400" dirty="0">
                <a:solidFill>
                  <a:srgbClr val="A31515"/>
                </a:solidFill>
                <a:latin typeface="Consolas"/>
              </a:rPr>
              <a:t>"--------------------------------"</a:t>
            </a:r>
            <a:r>
              <a:rPr lang="tr-TR" sz="1400" dirty="0">
                <a:solidFill>
                  <a:prstClr val="black"/>
                </a:solidFill>
                <a:latin typeface="Consolas"/>
              </a:rPr>
              <a:t>);</a:t>
            </a:r>
          </a:p>
          <a:p>
            <a:r>
              <a:rPr lang="tr-TR" sz="1400" dirty="0">
                <a:solidFill>
                  <a:prstClr val="black"/>
                </a:solidFill>
                <a:latin typeface="Consolas"/>
              </a:rPr>
              <a:t>            </a:t>
            </a:r>
            <a:r>
              <a:rPr lang="tr-TR" sz="1400" dirty="0" err="1">
                <a:solidFill>
                  <a:srgbClr val="2B91AF"/>
                </a:solidFill>
                <a:latin typeface="Consolas"/>
              </a:rPr>
              <a:t>Console</a:t>
            </a:r>
            <a:r>
              <a:rPr lang="tr-TR" sz="1400" dirty="0" err="1">
                <a:solidFill>
                  <a:prstClr val="black"/>
                </a:solidFill>
                <a:latin typeface="Consolas"/>
              </a:rPr>
              <a:t>.ReadLine</a:t>
            </a:r>
            <a:r>
              <a:rPr lang="tr-TR" sz="1400" dirty="0">
                <a:solidFill>
                  <a:prstClr val="black"/>
                </a:solidFill>
                <a:latin typeface="Consolas"/>
              </a:rPr>
              <a:t>();</a:t>
            </a:r>
          </a:p>
          <a:p>
            <a:endParaRPr lang="tr-TR" sz="1400" dirty="0">
              <a:solidFill>
                <a:prstClr val="black"/>
              </a:solidFill>
              <a:latin typeface="Consolas"/>
            </a:endParaRPr>
          </a:p>
        </p:txBody>
      </p:sp>
    </p:spTree>
    <p:extLst>
      <p:ext uri="{BB962C8B-B14F-4D97-AF65-F5344CB8AC3E}">
        <p14:creationId xmlns:p14="http://schemas.microsoft.com/office/powerpoint/2010/main" val="1810503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visual application</a:t>
            </a:r>
          </a:p>
        </p:txBody>
      </p:sp>
      <p:sp>
        <p:nvSpPr>
          <p:cNvPr id="3" name="TextBox 2"/>
          <p:cNvSpPr txBox="1"/>
          <p:nvPr/>
        </p:nvSpPr>
        <p:spPr>
          <a:xfrm>
            <a:off x="738970" y="819547"/>
            <a:ext cx="5904656" cy="369332"/>
          </a:xfrm>
          <a:prstGeom prst="rect">
            <a:avLst/>
          </a:prstGeom>
          <a:noFill/>
        </p:spPr>
        <p:txBody>
          <a:bodyPr wrap="square" rtlCol="0">
            <a:spAutoFit/>
          </a:bodyPr>
          <a:lstStyle/>
          <a:p>
            <a:r>
              <a:rPr lang="tr-TR" dirty="0"/>
              <a:t>File-new-project</a:t>
            </a:r>
          </a:p>
        </p:txBody>
      </p:sp>
      <p:pic>
        <p:nvPicPr>
          <p:cNvPr id="5" name="Resim 4"/>
          <p:cNvPicPr>
            <a:picLocks noChangeAspect="1"/>
          </p:cNvPicPr>
          <p:nvPr/>
        </p:nvPicPr>
        <p:blipFill>
          <a:blip r:embed="rId2"/>
          <a:stretch>
            <a:fillRect/>
          </a:stretch>
        </p:blipFill>
        <p:spPr>
          <a:xfrm>
            <a:off x="611560" y="1191277"/>
            <a:ext cx="7702822" cy="5343473"/>
          </a:xfrm>
          <a:prstGeom prst="rect">
            <a:avLst/>
          </a:prstGeom>
        </p:spPr>
      </p:pic>
    </p:spTree>
    <p:extLst>
      <p:ext uri="{BB962C8B-B14F-4D97-AF65-F5344CB8AC3E}">
        <p14:creationId xmlns:p14="http://schemas.microsoft.com/office/powerpoint/2010/main" val="2013118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visual application</a:t>
            </a:r>
          </a:p>
        </p:txBody>
      </p:sp>
      <p:sp>
        <p:nvSpPr>
          <p:cNvPr id="3" name="TextBox 2"/>
          <p:cNvSpPr txBox="1"/>
          <p:nvPr/>
        </p:nvSpPr>
        <p:spPr>
          <a:xfrm>
            <a:off x="1547664" y="908720"/>
            <a:ext cx="5904656" cy="369332"/>
          </a:xfrm>
          <a:prstGeom prst="rect">
            <a:avLst/>
          </a:prstGeom>
          <a:noFill/>
        </p:spPr>
        <p:txBody>
          <a:bodyPr wrap="square" rtlCol="0">
            <a:spAutoFit/>
          </a:bodyPr>
          <a:lstStyle/>
          <a:p>
            <a:r>
              <a:rPr lang="en-US" dirty="0"/>
              <a:t>Drag and drop a button and a textbox to Form1</a:t>
            </a:r>
          </a:p>
        </p:txBody>
      </p:sp>
      <p:pic>
        <p:nvPicPr>
          <p:cNvPr id="2" name="Resim 1"/>
          <p:cNvPicPr>
            <a:picLocks noChangeAspect="1"/>
          </p:cNvPicPr>
          <p:nvPr/>
        </p:nvPicPr>
        <p:blipFill>
          <a:blip r:embed="rId2"/>
          <a:stretch>
            <a:fillRect/>
          </a:stretch>
        </p:blipFill>
        <p:spPr>
          <a:xfrm>
            <a:off x="6948264" y="819547"/>
            <a:ext cx="2088300" cy="5347742"/>
          </a:xfrm>
          <a:prstGeom prst="rect">
            <a:avLst/>
          </a:prstGeom>
        </p:spPr>
      </p:pic>
      <p:pic>
        <p:nvPicPr>
          <p:cNvPr id="5" name="Resim 4"/>
          <p:cNvPicPr>
            <a:picLocks noChangeAspect="1"/>
          </p:cNvPicPr>
          <p:nvPr/>
        </p:nvPicPr>
        <p:blipFill>
          <a:blip r:embed="rId3"/>
          <a:stretch>
            <a:fillRect/>
          </a:stretch>
        </p:blipFill>
        <p:spPr>
          <a:xfrm>
            <a:off x="1115616" y="1398933"/>
            <a:ext cx="5381625" cy="4438650"/>
          </a:xfrm>
          <a:prstGeom prst="rect">
            <a:avLst/>
          </a:prstGeom>
        </p:spPr>
      </p:pic>
    </p:spTree>
    <p:extLst>
      <p:ext uri="{BB962C8B-B14F-4D97-AF65-F5344CB8AC3E}">
        <p14:creationId xmlns:p14="http://schemas.microsoft.com/office/powerpoint/2010/main" val="800554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visual application</a:t>
            </a:r>
          </a:p>
        </p:txBody>
      </p:sp>
      <p:sp>
        <p:nvSpPr>
          <p:cNvPr id="3" name="TextBox 2"/>
          <p:cNvSpPr txBox="1"/>
          <p:nvPr/>
        </p:nvSpPr>
        <p:spPr>
          <a:xfrm>
            <a:off x="1259632" y="692696"/>
            <a:ext cx="6768752" cy="923330"/>
          </a:xfrm>
          <a:prstGeom prst="rect">
            <a:avLst/>
          </a:prstGeom>
          <a:noFill/>
        </p:spPr>
        <p:txBody>
          <a:bodyPr wrap="square" rtlCol="0">
            <a:spAutoFit/>
          </a:bodyPr>
          <a:lstStyle/>
          <a:p>
            <a:r>
              <a:rPr lang="en-US" dirty="0"/>
              <a:t>When we double click button1: we access the click event of the button. So when we click the button, we write what we want the program to do here.</a:t>
            </a:r>
          </a:p>
        </p:txBody>
      </p:sp>
      <p:pic>
        <p:nvPicPr>
          <p:cNvPr id="5" name="Resim 4"/>
          <p:cNvPicPr>
            <a:picLocks noChangeAspect="1"/>
          </p:cNvPicPr>
          <p:nvPr/>
        </p:nvPicPr>
        <p:blipFill>
          <a:blip r:embed="rId2"/>
          <a:stretch>
            <a:fillRect/>
          </a:stretch>
        </p:blipFill>
        <p:spPr>
          <a:xfrm>
            <a:off x="1832719" y="1537803"/>
            <a:ext cx="5478561" cy="5222342"/>
          </a:xfrm>
          <a:prstGeom prst="rect">
            <a:avLst/>
          </a:prstGeom>
        </p:spPr>
      </p:pic>
    </p:spTree>
    <p:extLst>
      <p:ext uri="{BB962C8B-B14F-4D97-AF65-F5344CB8AC3E}">
        <p14:creationId xmlns:p14="http://schemas.microsoft.com/office/powerpoint/2010/main" val="3778394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 first program visual application</a:t>
            </a:r>
          </a:p>
        </p:txBody>
      </p:sp>
      <p:sp>
        <p:nvSpPr>
          <p:cNvPr id="3" name="TextBox 2"/>
          <p:cNvSpPr txBox="1"/>
          <p:nvPr/>
        </p:nvSpPr>
        <p:spPr>
          <a:xfrm>
            <a:off x="457200" y="797341"/>
            <a:ext cx="8291264" cy="1477328"/>
          </a:xfrm>
          <a:prstGeom prst="rect">
            <a:avLst/>
          </a:prstGeom>
          <a:noFill/>
        </p:spPr>
        <p:txBody>
          <a:bodyPr wrap="square" rtlCol="0">
            <a:spAutoFit/>
          </a:bodyPr>
          <a:lstStyle/>
          <a:p>
            <a:r>
              <a:rPr lang="en-US" dirty="0"/>
              <a:t>We want a text to be written in the textbox when the button is clicked in our program. Below is the image that will appear when the written code and the program run.</a:t>
            </a:r>
          </a:p>
          <a:p>
            <a:br>
              <a:rPr lang="en-US" dirty="0"/>
            </a:br>
            <a:endParaRPr lang="tr-TR" dirty="0"/>
          </a:p>
        </p:txBody>
      </p:sp>
      <p:sp>
        <p:nvSpPr>
          <p:cNvPr id="7" name="Rectangle 6"/>
          <p:cNvSpPr/>
          <p:nvPr/>
        </p:nvSpPr>
        <p:spPr>
          <a:xfrm>
            <a:off x="827584" y="1724615"/>
            <a:ext cx="7704856" cy="1200329"/>
          </a:xfrm>
          <a:prstGeom prst="rect">
            <a:avLst/>
          </a:prstGeom>
        </p:spPr>
        <p:txBody>
          <a:bodyPr wrap="square">
            <a:spAutoFit/>
          </a:bodyPr>
          <a:lstStyle/>
          <a:p>
            <a:r>
              <a:rPr lang="en-US" dirty="0"/>
              <a:t> </a:t>
            </a:r>
            <a:r>
              <a:rPr lang="en-US" dirty="0">
                <a:solidFill>
                  <a:srgbClr val="0000FF"/>
                </a:solidFill>
              </a:rPr>
              <a:t>private</a:t>
            </a:r>
            <a:r>
              <a:rPr lang="en-US" dirty="0">
                <a:solidFill>
                  <a:prstClr val="black"/>
                </a:solidFill>
              </a:rPr>
              <a:t> </a:t>
            </a:r>
            <a:r>
              <a:rPr lang="en-US" dirty="0">
                <a:solidFill>
                  <a:srgbClr val="0000FF"/>
                </a:solidFill>
              </a:rPr>
              <a:t>void</a:t>
            </a:r>
            <a:r>
              <a:rPr lang="en-US" dirty="0">
                <a:solidFill>
                  <a:prstClr val="black"/>
                </a:solidFill>
              </a:rPr>
              <a:t> button1_Click(</a:t>
            </a:r>
            <a:r>
              <a:rPr lang="en-US" dirty="0">
                <a:solidFill>
                  <a:srgbClr val="0000FF"/>
                </a:solidFill>
              </a:rPr>
              <a:t>object</a:t>
            </a:r>
            <a:r>
              <a:rPr lang="en-US" dirty="0">
                <a:solidFill>
                  <a:prstClr val="black"/>
                </a:solidFill>
              </a:rPr>
              <a:t> sender, </a:t>
            </a:r>
            <a:r>
              <a:rPr lang="en-US" dirty="0" err="1">
                <a:solidFill>
                  <a:srgbClr val="2B91AF"/>
                </a:solidFill>
              </a:rPr>
              <a:t>EventArgs</a:t>
            </a:r>
            <a:r>
              <a:rPr lang="en-US" dirty="0">
                <a:solidFill>
                  <a:prstClr val="black"/>
                </a:solidFill>
              </a:rPr>
              <a:t> e)</a:t>
            </a:r>
          </a:p>
          <a:p>
            <a:r>
              <a:rPr lang="tr-TR" dirty="0">
                <a:solidFill>
                  <a:prstClr val="black"/>
                </a:solidFill>
              </a:rPr>
              <a:t>        {</a:t>
            </a:r>
          </a:p>
          <a:p>
            <a:r>
              <a:rPr lang="tr-TR" dirty="0">
                <a:solidFill>
                  <a:prstClr val="black"/>
                </a:solidFill>
              </a:rPr>
              <a:t>            textBox1.Text = </a:t>
            </a:r>
            <a:r>
              <a:rPr lang="tr-TR" dirty="0">
                <a:solidFill>
                  <a:srgbClr val="A31515"/>
                </a:solidFill>
              </a:rPr>
              <a:t>"Merhaba Bu benim ilk programım"</a:t>
            </a:r>
            <a:r>
              <a:rPr lang="tr-TR" dirty="0">
                <a:solidFill>
                  <a:prstClr val="black"/>
                </a:solidFill>
              </a:rPr>
              <a:t>;  </a:t>
            </a:r>
          </a:p>
          <a:p>
            <a:r>
              <a:rPr lang="tr-TR" dirty="0">
                <a:solidFill>
                  <a:prstClr val="black"/>
                </a:solidFill>
              </a:rPr>
              <a:t>        }</a:t>
            </a:r>
            <a:endParaRPr lang="tr-TR" dirty="0"/>
          </a:p>
        </p:txBody>
      </p:sp>
      <p:pic>
        <p:nvPicPr>
          <p:cNvPr id="5" name="Resim 4"/>
          <p:cNvPicPr>
            <a:picLocks noChangeAspect="1"/>
          </p:cNvPicPr>
          <p:nvPr/>
        </p:nvPicPr>
        <p:blipFill>
          <a:blip r:embed="rId2"/>
          <a:stretch>
            <a:fillRect/>
          </a:stretch>
        </p:blipFill>
        <p:spPr>
          <a:xfrm>
            <a:off x="1907704" y="2739730"/>
            <a:ext cx="5178896" cy="4217662"/>
          </a:xfrm>
          <a:prstGeom prst="rect">
            <a:avLst/>
          </a:prstGeom>
        </p:spPr>
      </p:pic>
    </p:spTree>
    <p:extLst>
      <p:ext uri="{BB962C8B-B14F-4D97-AF65-F5344CB8AC3E}">
        <p14:creationId xmlns:p14="http://schemas.microsoft.com/office/powerpoint/2010/main" val="3882945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using</a:t>
            </a:r>
            <a:r>
              <a:rPr lang="tr-TR" dirty="0"/>
              <a:t> C# </a:t>
            </a:r>
            <a:r>
              <a:rPr lang="tr-TR" dirty="0" err="1"/>
              <a:t>MessageBox</a:t>
            </a:r>
            <a:endParaRPr lang="tr-TR" dirty="0"/>
          </a:p>
        </p:txBody>
      </p:sp>
      <p:pic>
        <p:nvPicPr>
          <p:cNvPr id="7" name="İçerik Yer Tutucusu 6"/>
          <p:cNvPicPr>
            <a:picLocks noGrp="1" noChangeAspect="1"/>
          </p:cNvPicPr>
          <p:nvPr>
            <p:ph idx="1"/>
          </p:nvPr>
        </p:nvPicPr>
        <p:blipFill>
          <a:blip r:embed="rId3"/>
          <a:stretch>
            <a:fillRect/>
          </a:stretch>
        </p:blipFill>
        <p:spPr>
          <a:xfrm>
            <a:off x="3563888" y="1508094"/>
            <a:ext cx="5029200" cy="3086100"/>
          </a:xfrm>
          <a:prstGeom prst="rect">
            <a:avLst/>
          </a:prstGeom>
        </p:spPr>
      </p:pic>
      <p:pic>
        <p:nvPicPr>
          <p:cNvPr id="6" name="Resim 5"/>
          <p:cNvPicPr>
            <a:picLocks noChangeAspect="1"/>
          </p:cNvPicPr>
          <p:nvPr/>
        </p:nvPicPr>
        <p:blipFill>
          <a:blip r:embed="rId4"/>
          <a:stretch>
            <a:fillRect/>
          </a:stretch>
        </p:blipFill>
        <p:spPr>
          <a:xfrm>
            <a:off x="494907" y="1484784"/>
            <a:ext cx="2809875" cy="2867025"/>
          </a:xfrm>
          <a:prstGeom prst="rect">
            <a:avLst/>
          </a:prstGeom>
        </p:spPr>
      </p:pic>
      <p:sp>
        <p:nvSpPr>
          <p:cNvPr id="8" name="Metin kutusu 7"/>
          <p:cNvSpPr txBox="1"/>
          <p:nvPr/>
        </p:nvSpPr>
        <p:spPr>
          <a:xfrm flipH="1">
            <a:off x="971600" y="4869160"/>
            <a:ext cx="7386453" cy="1200329"/>
          </a:xfrm>
          <a:prstGeom prst="rect">
            <a:avLst/>
          </a:prstGeom>
          <a:noFill/>
        </p:spPr>
        <p:txBody>
          <a:bodyPr wrap="square" rtlCol="0">
            <a:spAutoFit/>
          </a:bodyPr>
          <a:lstStyle/>
          <a:p>
            <a:r>
              <a:rPr lang="en-US" dirty="0"/>
              <a:t> private void button1_Click(object sender, </a:t>
            </a:r>
            <a:r>
              <a:rPr lang="en-US" dirty="0" err="1"/>
              <a:t>EventArgs</a:t>
            </a:r>
            <a:r>
              <a:rPr lang="en-US" dirty="0"/>
              <a:t> e)</a:t>
            </a:r>
          </a:p>
          <a:p>
            <a:r>
              <a:rPr lang="tr-TR" dirty="0"/>
              <a:t>        {</a:t>
            </a:r>
          </a:p>
          <a:p>
            <a:r>
              <a:rPr lang="tr-TR" dirty="0"/>
              <a:t>            </a:t>
            </a:r>
            <a:r>
              <a:rPr lang="tr-TR" dirty="0" err="1"/>
              <a:t>MessageBox.Show</a:t>
            </a:r>
            <a:r>
              <a:rPr lang="tr-TR" dirty="0"/>
              <a:t>("Merhaba Dünya!!!");</a:t>
            </a:r>
          </a:p>
          <a:p>
            <a:r>
              <a:rPr lang="tr-TR" dirty="0"/>
              <a:t>        }</a:t>
            </a:r>
          </a:p>
        </p:txBody>
      </p:sp>
    </p:spTree>
    <p:extLst>
      <p:ext uri="{BB962C8B-B14F-4D97-AF65-F5344CB8AC3E}">
        <p14:creationId xmlns:p14="http://schemas.microsoft.com/office/powerpoint/2010/main" val="3365668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a:solidFill>
                  <a:srgbClr val="FF0000"/>
                </a:solidFill>
              </a:rPr>
              <a:t>Example:2-1</a:t>
            </a:r>
          </a:p>
        </p:txBody>
      </p:sp>
      <p:sp>
        <p:nvSpPr>
          <p:cNvPr id="7" name="Rectangle 6"/>
          <p:cNvSpPr/>
          <p:nvPr/>
        </p:nvSpPr>
        <p:spPr>
          <a:xfrm>
            <a:off x="719572" y="764704"/>
            <a:ext cx="7704856" cy="5375831"/>
          </a:xfrm>
          <a:prstGeom prst="rect">
            <a:avLst/>
          </a:prstGeom>
        </p:spPr>
        <p:txBody>
          <a:bodyPr wrap="square">
            <a:spAutoFit/>
          </a:bodyPr>
          <a:lstStyle/>
          <a:p>
            <a:pPr>
              <a:spcAft>
                <a:spcPts val="1000"/>
              </a:spcAft>
            </a:pPr>
            <a:r>
              <a:rPr lang="en-US" sz="2000" dirty="0"/>
              <a:t>If we want to visualize the application a little more. For a C# project with the project name ornek_2_1</a:t>
            </a:r>
          </a:p>
          <a:p>
            <a:pPr>
              <a:spcAft>
                <a:spcPts val="1000"/>
              </a:spcAft>
            </a:pPr>
            <a:r>
              <a:rPr lang="en-US" sz="2000" b="1" u="sng" dirty="0"/>
              <a:t>Requirements</a:t>
            </a:r>
            <a:endParaRPr lang="en-US" sz="2000" dirty="0"/>
          </a:p>
          <a:p>
            <a:pPr>
              <a:spcAft>
                <a:spcPts val="1000"/>
              </a:spcAft>
            </a:pPr>
            <a:r>
              <a:rPr lang="en-US" sz="2000" dirty="0"/>
              <a:t>3 buttons on the form, 1 textbox</a:t>
            </a:r>
          </a:p>
          <a:p>
            <a:pPr>
              <a:spcAft>
                <a:spcPts val="1000"/>
              </a:spcAft>
            </a:pPr>
            <a:r>
              <a:rPr lang="en-US" sz="2000" dirty="0"/>
              <a:t>Text on button1: write to textbox</a:t>
            </a:r>
          </a:p>
          <a:p>
            <a:pPr>
              <a:spcAft>
                <a:spcPts val="1000"/>
              </a:spcAft>
            </a:pPr>
            <a:r>
              <a:rPr lang="en-US" sz="2000" dirty="0"/>
              <a:t>Text on button2: delete</a:t>
            </a:r>
          </a:p>
          <a:p>
            <a:pPr>
              <a:spcAft>
                <a:spcPts val="1000"/>
              </a:spcAft>
            </a:pPr>
            <a:r>
              <a:rPr lang="en-US" sz="2000" dirty="0"/>
              <a:t>Text on button3: close</a:t>
            </a:r>
          </a:p>
          <a:p>
            <a:pPr>
              <a:spcAft>
                <a:spcPts val="1000"/>
              </a:spcAft>
            </a:pPr>
            <a:r>
              <a:rPr lang="en-US" sz="2000" dirty="0"/>
              <a:t>Textbox background color is red</a:t>
            </a:r>
          </a:p>
          <a:p>
            <a:pPr>
              <a:spcAft>
                <a:spcPts val="1000"/>
              </a:spcAft>
            </a:pPr>
            <a:r>
              <a:rPr lang="en-US" sz="2000" dirty="0"/>
              <a:t>The color of the text on the textbox is yellow</a:t>
            </a:r>
          </a:p>
          <a:p>
            <a:pPr>
              <a:spcAft>
                <a:spcPts val="1000"/>
              </a:spcAft>
            </a:pPr>
            <a:r>
              <a:rPr lang="en-US" sz="2000" dirty="0"/>
              <a:t>When button1 is pressed, we will write the message we want on the textbox.</a:t>
            </a:r>
          </a:p>
          <a:p>
            <a:pPr>
              <a:spcAft>
                <a:spcPts val="1000"/>
              </a:spcAft>
            </a:pPr>
            <a:r>
              <a:rPr lang="en-US" sz="2000" dirty="0"/>
              <a:t>When button2 is pressed, the text on the textbox will be deleted and</a:t>
            </a:r>
          </a:p>
          <a:p>
            <a:pPr>
              <a:spcAft>
                <a:spcPts val="1000"/>
              </a:spcAft>
            </a:pPr>
            <a:r>
              <a:rPr lang="en-US" sz="2000" dirty="0"/>
              <a:t>When button 3 is pressed, the program will be closed.</a:t>
            </a:r>
          </a:p>
        </p:txBody>
      </p:sp>
    </p:spTree>
    <p:extLst>
      <p:ext uri="{BB962C8B-B14F-4D97-AF65-F5344CB8AC3E}">
        <p14:creationId xmlns:p14="http://schemas.microsoft.com/office/powerpoint/2010/main" val="4272998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a:solidFill>
                  <a:srgbClr val="FF0000"/>
                </a:solidFill>
              </a:rPr>
              <a:t>Example:2-1</a:t>
            </a:r>
          </a:p>
        </p:txBody>
      </p:sp>
      <p:sp>
        <p:nvSpPr>
          <p:cNvPr id="7" name="Rectangle 6"/>
          <p:cNvSpPr/>
          <p:nvPr/>
        </p:nvSpPr>
        <p:spPr>
          <a:xfrm>
            <a:off x="719572" y="829313"/>
            <a:ext cx="7704856" cy="1200329"/>
          </a:xfrm>
          <a:prstGeom prst="rect">
            <a:avLst/>
          </a:prstGeom>
        </p:spPr>
        <p:txBody>
          <a:bodyPr wrap="square">
            <a:spAutoFit/>
          </a:bodyPr>
          <a:lstStyle/>
          <a:p>
            <a:r>
              <a:rPr lang="en-US" dirty="0"/>
              <a:t>Let's go step by step according to what is requested. First of all, we create a new project named Ornek_2_1.</a:t>
            </a:r>
          </a:p>
          <a:p>
            <a:br>
              <a:rPr lang="en-US" dirty="0"/>
            </a:br>
            <a:endParaRPr lang="tr-TR" dirty="0"/>
          </a:p>
        </p:txBody>
      </p:sp>
      <p:pic>
        <p:nvPicPr>
          <p:cNvPr id="2" name="Resim 1"/>
          <p:cNvPicPr>
            <a:picLocks noChangeAspect="1"/>
          </p:cNvPicPr>
          <p:nvPr/>
        </p:nvPicPr>
        <p:blipFill>
          <a:blip r:embed="rId2"/>
          <a:stretch>
            <a:fillRect/>
          </a:stretch>
        </p:blipFill>
        <p:spPr>
          <a:xfrm>
            <a:off x="971600" y="1484784"/>
            <a:ext cx="7496323" cy="5205115"/>
          </a:xfrm>
          <a:prstGeom prst="rect">
            <a:avLst/>
          </a:prstGeom>
        </p:spPr>
      </p:pic>
    </p:spTree>
    <p:extLst>
      <p:ext uri="{BB962C8B-B14F-4D97-AF65-F5344CB8AC3E}">
        <p14:creationId xmlns:p14="http://schemas.microsoft.com/office/powerpoint/2010/main" val="3995702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a:solidFill>
                  <a:srgbClr val="FF0000"/>
                </a:solidFill>
              </a:rPr>
              <a:t>Example:2-1</a:t>
            </a:r>
          </a:p>
        </p:txBody>
      </p:sp>
      <p:sp>
        <p:nvSpPr>
          <p:cNvPr id="7" name="Rectangle 6"/>
          <p:cNvSpPr/>
          <p:nvPr/>
        </p:nvSpPr>
        <p:spPr>
          <a:xfrm>
            <a:off x="719572" y="829313"/>
            <a:ext cx="7704856" cy="923330"/>
          </a:xfrm>
          <a:prstGeom prst="rect">
            <a:avLst/>
          </a:prstGeom>
        </p:spPr>
        <p:txBody>
          <a:bodyPr wrap="square">
            <a:spAutoFit/>
          </a:bodyPr>
          <a:lstStyle/>
          <a:p>
            <a:r>
              <a:rPr lang="en-US" dirty="0"/>
              <a:t>We drag and drop 3 buttons and 1 textbox from the toolbox on the form.</a:t>
            </a:r>
          </a:p>
          <a:p>
            <a:br>
              <a:rPr lang="en-US" dirty="0"/>
            </a:br>
            <a:endParaRPr lang="tr-TR" dirty="0"/>
          </a:p>
        </p:txBody>
      </p:sp>
      <p:sp>
        <p:nvSpPr>
          <p:cNvPr id="8" name="Rectangle 7"/>
          <p:cNvSpPr/>
          <p:nvPr/>
        </p:nvSpPr>
        <p:spPr>
          <a:xfrm>
            <a:off x="539552" y="5445224"/>
            <a:ext cx="8147248" cy="1846659"/>
          </a:xfrm>
          <a:prstGeom prst="rect">
            <a:avLst/>
          </a:prstGeom>
        </p:spPr>
        <p:txBody>
          <a:bodyPr wrap="square">
            <a:spAutoFit/>
          </a:bodyPr>
          <a:lstStyle/>
          <a:p>
            <a:r>
              <a:rPr lang="en-US" b="1" dirty="0"/>
              <a:t>Note: </a:t>
            </a:r>
            <a:r>
              <a:rPr lang="en-US" dirty="0"/>
              <a:t>If we want to change the button names during the design phase, we can change the text property of the button using the properties window. However, we want the button names to change after the program is running, that is, while the form is being loaded. Double-click anywhere on the form that is empty.</a:t>
            </a:r>
          </a:p>
          <a:p>
            <a:br>
              <a:rPr lang="en-US" sz="2400" dirty="0"/>
            </a:br>
            <a:endParaRPr lang="tr-TR" dirty="0"/>
          </a:p>
        </p:txBody>
      </p:sp>
      <p:pic>
        <p:nvPicPr>
          <p:cNvPr id="2" name="Resim 1"/>
          <p:cNvPicPr>
            <a:picLocks noChangeAspect="1"/>
          </p:cNvPicPr>
          <p:nvPr/>
        </p:nvPicPr>
        <p:blipFill>
          <a:blip r:embed="rId2"/>
          <a:stretch>
            <a:fillRect/>
          </a:stretch>
        </p:blipFill>
        <p:spPr>
          <a:xfrm>
            <a:off x="2279551" y="1358999"/>
            <a:ext cx="4667250" cy="4086225"/>
          </a:xfrm>
          <a:prstGeom prst="rect">
            <a:avLst/>
          </a:prstGeom>
        </p:spPr>
      </p:pic>
    </p:spTree>
    <p:extLst>
      <p:ext uri="{BB962C8B-B14F-4D97-AF65-F5344CB8AC3E}">
        <p14:creationId xmlns:p14="http://schemas.microsoft.com/office/powerpoint/2010/main" val="221707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a:solidFill>
                  <a:srgbClr val="FF0000"/>
                </a:solidFill>
              </a:rPr>
              <a:t>Example:2-1</a:t>
            </a:r>
          </a:p>
        </p:txBody>
      </p:sp>
      <p:sp>
        <p:nvSpPr>
          <p:cNvPr id="7" name="Rectangle 6"/>
          <p:cNvSpPr/>
          <p:nvPr/>
        </p:nvSpPr>
        <p:spPr>
          <a:xfrm>
            <a:off x="719572" y="620688"/>
            <a:ext cx="7704856" cy="1200329"/>
          </a:xfrm>
          <a:prstGeom prst="rect">
            <a:avLst/>
          </a:prstGeom>
        </p:spPr>
        <p:txBody>
          <a:bodyPr wrap="square">
            <a:spAutoFit/>
          </a:bodyPr>
          <a:lstStyle/>
          <a:p>
            <a:r>
              <a:rPr lang="en-US" dirty="0"/>
              <a:t>On the screen that appears, we write the situations that we want to occur when the form is loaded.</a:t>
            </a:r>
          </a:p>
          <a:p>
            <a:br>
              <a:rPr lang="en-US" dirty="0"/>
            </a:br>
            <a:endParaRPr lang="tr-TR" dirty="0"/>
          </a:p>
        </p:txBody>
      </p:sp>
      <p:sp>
        <p:nvSpPr>
          <p:cNvPr id="5" name="Rectangle 4"/>
          <p:cNvSpPr/>
          <p:nvPr/>
        </p:nvSpPr>
        <p:spPr>
          <a:xfrm>
            <a:off x="480594" y="5589240"/>
            <a:ext cx="8206206" cy="646331"/>
          </a:xfrm>
          <a:prstGeom prst="rect">
            <a:avLst/>
          </a:prstGeom>
        </p:spPr>
        <p:txBody>
          <a:bodyPr wrap="square">
            <a:spAutoFit/>
          </a:bodyPr>
          <a:lstStyle/>
          <a:p>
            <a:r>
              <a:rPr lang="tr-TR" dirty="0"/>
              <a:t> button1.AutoSize = </a:t>
            </a:r>
            <a:r>
              <a:rPr lang="tr-TR" dirty="0" err="1">
                <a:solidFill>
                  <a:srgbClr val="0000FF"/>
                </a:solidFill>
              </a:rPr>
              <a:t>true</a:t>
            </a:r>
            <a:r>
              <a:rPr lang="tr-TR" dirty="0">
                <a:solidFill>
                  <a:prstClr val="black"/>
                </a:solidFill>
              </a:rPr>
              <a:t>;    (</a:t>
            </a:r>
            <a:r>
              <a:rPr lang="en-US" dirty="0"/>
              <a:t>automatically arranges size of button according to the size of text on the button</a:t>
            </a:r>
            <a:r>
              <a:rPr lang="tr-TR" dirty="0">
                <a:solidFill>
                  <a:prstClr val="black"/>
                </a:solidFill>
              </a:rPr>
              <a:t>)</a:t>
            </a:r>
            <a:endParaRPr lang="tr-TR" dirty="0"/>
          </a:p>
        </p:txBody>
      </p:sp>
      <p:sp>
        <p:nvSpPr>
          <p:cNvPr id="9" name="Rectangle 8"/>
          <p:cNvSpPr/>
          <p:nvPr/>
        </p:nvSpPr>
        <p:spPr>
          <a:xfrm>
            <a:off x="506242" y="6235571"/>
            <a:ext cx="6961842" cy="369332"/>
          </a:xfrm>
          <a:prstGeom prst="rect">
            <a:avLst/>
          </a:prstGeom>
        </p:spPr>
        <p:txBody>
          <a:bodyPr wrap="none">
            <a:spAutoFit/>
          </a:bodyPr>
          <a:lstStyle/>
          <a:p>
            <a:r>
              <a:rPr lang="tr-TR" dirty="0"/>
              <a:t>button1.Text = </a:t>
            </a:r>
            <a:r>
              <a:rPr lang="tr-TR" dirty="0">
                <a:solidFill>
                  <a:srgbClr val="A31515"/>
                </a:solidFill>
              </a:rPr>
              <a:t>"textbox'a yaz"</a:t>
            </a:r>
            <a:r>
              <a:rPr lang="tr-TR" dirty="0">
                <a:solidFill>
                  <a:prstClr val="black"/>
                </a:solidFill>
              </a:rPr>
              <a:t>; (</a:t>
            </a:r>
            <a:r>
              <a:rPr lang="en-US" dirty="0"/>
              <a:t>changes the text property of the button</a:t>
            </a:r>
            <a:r>
              <a:rPr lang="tr-TR" dirty="0">
                <a:solidFill>
                  <a:prstClr val="black"/>
                </a:solidFill>
              </a:rPr>
              <a:t>)</a:t>
            </a:r>
            <a:endParaRPr lang="tr-TR" dirty="0"/>
          </a:p>
        </p:txBody>
      </p:sp>
      <p:pic>
        <p:nvPicPr>
          <p:cNvPr id="2" name="Resim 1"/>
          <p:cNvPicPr>
            <a:picLocks noChangeAspect="1"/>
          </p:cNvPicPr>
          <p:nvPr/>
        </p:nvPicPr>
        <p:blipFill>
          <a:blip r:embed="rId3"/>
          <a:stretch>
            <a:fillRect/>
          </a:stretch>
        </p:blipFill>
        <p:spPr>
          <a:xfrm>
            <a:off x="1975036" y="1195229"/>
            <a:ext cx="5534025" cy="4429125"/>
          </a:xfrm>
          <a:prstGeom prst="rect">
            <a:avLst/>
          </a:prstGeom>
        </p:spPr>
      </p:pic>
    </p:spTree>
    <p:extLst>
      <p:ext uri="{BB962C8B-B14F-4D97-AF65-F5344CB8AC3E}">
        <p14:creationId xmlns:p14="http://schemas.microsoft.com/office/powerpoint/2010/main" val="3335173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a:solidFill>
                  <a:srgbClr val="FF0000"/>
                </a:solidFill>
              </a:rPr>
              <a:t>Example:2-1</a:t>
            </a:r>
          </a:p>
        </p:txBody>
      </p:sp>
      <p:sp>
        <p:nvSpPr>
          <p:cNvPr id="7" name="Rectangle 6"/>
          <p:cNvSpPr/>
          <p:nvPr/>
        </p:nvSpPr>
        <p:spPr>
          <a:xfrm>
            <a:off x="719572" y="829313"/>
            <a:ext cx="7704856" cy="923330"/>
          </a:xfrm>
          <a:prstGeom prst="rect">
            <a:avLst/>
          </a:prstGeom>
        </p:spPr>
        <p:txBody>
          <a:bodyPr wrap="square">
            <a:spAutoFit/>
          </a:bodyPr>
          <a:lstStyle/>
          <a:p>
            <a:r>
              <a:rPr lang="en-US" dirty="0"/>
              <a:t>If we run our trial program:</a:t>
            </a:r>
          </a:p>
          <a:p>
            <a:br>
              <a:rPr lang="en-US" dirty="0"/>
            </a:br>
            <a:endParaRPr lang="tr-TR" dirty="0"/>
          </a:p>
        </p:txBody>
      </p:sp>
      <p:sp>
        <p:nvSpPr>
          <p:cNvPr id="2" name="TextBox 1"/>
          <p:cNvSpPr txBox="1"/>
          <p:nvPr/>
        </p:nvSpPr>
        <p:spPr>
          <a:xfrm>
            <a:off x="1403648" y="5157192"/>
            <a:ext cx="1872208" cy="369332"/>
          </a:xfrm>
          <a:prstGeom prst="rect">
            <a:avLst/>
          </a:prstGeom>
          <a:noFill/>
        </p:spPr>
        <p:txBody>
          <a:bodyPr wrap="square" rtlCol="0">
            <a:spAutoFit/>
          </a:bodyPr>
          <a:lstStyle/>
          <a:p>
            <a:r>
              <a:rPr lang="tr-TR" dirty="0" err="1"/>
              <a:t>Before</a:t>
            </a:r>
            <a:endParaRPr lang="tr-TR" dirty="0"/>
          </a:p>
        </p:txBody>
      </p:sp>
      <p:sp>
        <p:nvSpPr>
          <p:cNvPr id="10" name="TextBox 9"/>
          <p:cNvSpPr txBox="1"/>
          <p:nvPr/>
        </p:nvSpPr>
        <p:spPr>
          <a:xfrm>
            <a:off x="6241182" y="5146859"/>
            <a:ext cx="1872208" cy="369332"/>
          </a:xfrm>
          <a:prstGeom prst="rect">
            <a:avLst/>
          </a:prstGeom>
          <a:noFill/>
        </p:spPr>
        <p:txBody>
          <a:bodyPr wrap="square" rtlCol="0">
            <a:spAutoFit/>
          </a:bodyPr>
          <a:lstStyle/>
          <a:p>
            <a:r>
              <a:rPr lang="tr-TR" dirty="0" err="1"/>
              <a:t>After</a:t>
            </a:r>
            <a:endParaRPr lang="tr-TR" dirty="0"/>
          </a:p>
        </p:txBody>
      </p:sp>
      <p:cxnSp>
        <p:nvCxnSpPr>
          <p:cNvPr id="6" name="Straight Arrow Connector 5"/>
          <p:cNvCxnSpPr/>
          <p:nvPr/>
        </p:nvCxnSpPr>
        <p:spPr>
          <a:xfrm flipV="1">
            <a:off x="1763688" y="4797153"/>
            <a:ext cx="0" cy="2880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6742434" y="4797153"/>
            <a:ext cx="0" cy="2880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27584" y="6021288"/>
            <a:ext cx="7285806" cy="1200329"/>
          </a:xfrm>
          <a:prstGeom prst="rect">
            <a:avLst/>
          </a:prstGeom>
          <a:noFill/>
        </p:spPr>
        <p:txBody>
          <a:bodyPr wrap="square" rtlCol="0">
            <a:spAutoFit/>
          </a:bodyPr>
          <a:lstStyle/>
          <a:p>
            <a:r>
              <a:rPr lang="en-US" dirty="0"/>
              <a:t>Now let's double-click button1 and set the textbox properties to the desired state;</a:t>
            </a:r>
          </a:p>
          <a:p>
            <a:br>
              <a:rPr lang="en-US" dirty="0"/>
            </a:br>
            <a:endParaRPr lang="tr-TR" dirty="0"/>
          </a:p>
        </p:txBody>
      </p:sp>
      <p:pic>
        <p:nvPicPr>
          <p:cNvPr id="3" name="Resim 2"/>
          <p:cNvPicPr>
            <a:picLocks noChangeAspect="1"/>
          </p:cNvPicPr>
          <p:nvPr/>
        </p:nvPicPr>
        <p:blipFill>
          <a:blip r:embed="rId2"/>
          <a:stretch>
            <a:fillRect/>
          </a:stretch>
        </p:blipFill>
        <p:spPr>
          <a:xfrm>
            <a:off x="4788024" y="1462595"/>
            <a:ext cx="3791347" cy="3267593"/>
          </a:xfrm>
          <a:prstGeom prst="rect">
            <a:avLst/>
          </a:prstGeom>
        </p:spPr>
      </p:pic>
      <p:pic>
        <p:nvPicPr>
          <p:cNvPr id="14" name="Resim 13"/>
          <p:cNvPicPr>
            <a:picLocks noChangeAspect="1"/>
          </p:cNvPicPr>
          <p:nvPr/>
        </p:nvPicPr>
        <p:blipFill>
          <a:blip r:embed="rId3"/>
          <a:stretch>
            <a:fillRect/>
          </a:stretch>
        </p:blipFill>
        <p:spPr>
          <a:xfrm>
            <a:off x="395536" y="1480289"/>
            <a:ext cx="3750915" cy="3283964"/>
          </a:xfrm>
          <a:prstGeom prst="rect">
            <a:avLst/>
          </a:prstGeom>
        </p:spPr>
      </p:pic>
    </p:spTree>
    <p:extLst>
      <p:ext uri="{BB962C8B-B14F-4D97-AF65-F5344CB8AC3E}">
        <p14:creationId xmlns:p14="http://schemas.microsoft.com/office/powerpoint/2010/main" val="1568844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a:solidFill>
                  <a:srgbClr val="FF0000"/>
                </a:solidFill>
              </a:rPr>
              <a:t>Example:2-1</a:t>
            </a:r>
          </a:p>
        </p:txBody>
      </p:sp>
      <p:sp>
        <p:nvSpPr>
          <p:cNvPr id="7" name="Rectangle 6"/>
          <p:cNvSpPr/>
          <p:nvPr/>
        </p:nvSpPr>
        <p:spPr>
          <a:xfrm>
            <a:off x="719572" y="829313"/>
            <a:ext cx="7704856" cy="646331"/>
          </a:xfrm>
          <a:prstGeom prst="rect">
            <a:avLst/>
          </a:prstGeom>
        </p:spPr>
        <p:txBody>
          <a:bodyPr wrap="square">
            <a:spAutoFit/>
          </a:bodyPr>
          <a:lstStyle/>
          <a:p>
            <a:r>
              <a:rPr lang="en-US" dirty="0"/>
              <a:t>Codes we need to write in button1's click event</a:t>
            </a:r>
          </a:p>
          <a:p>
            <a:endParaRPr lang="tr-TR" dirty="0"/>
          </a:p>
        </p:txBody>
      </p:sp>
      <p:sp>
        <p:nvSpPr>
          <p:cNvPr id="5" name="Rectangle 4"/>
          <p:cNvSpPr/>
          <p:nvPr/>
        </p:nvSpPr>
        <p:spPr>
          <a:xfrm>
            <a:off x="719572" y="1484784"/>
            <a:ext cx="7967228" cy="1754326"/>
          </a:xfrm>
          <a:prstGeom prst="rect">
            <a:avLst/>
          </a:prstGeom>
        </p:spPr>
        <p:txBody>
          <a:bodyPr wrap="square">
            <a:spAutoFit/>
          </a:bodyPr>
          <a:lstStyle/>
          <a:p>
            <a:r>
              <a:rPr lang="en-US" dirty="0">
                <a:solidFill>
                  <a:srgbClr val="0000FF"/>
                </a:solidFill>
              </a:rPr>
              <a:t>private</a:t>
            </a:r>
            <a:r>
              <a:rPr lang="en-US" dirty="0">
                <a:solidFill>
                  <a:prstClr val="black"/>
                </a:solidFill>
              </a:rPr>
              <a:t> </a:t>
            </a:r>
            <a:r>
              <a:rPr lang="en-US" dirty="0">
                <a:solidFill>
                  <a:srgbClr val="0000FF"/>
                </a:solidFill>
              </a:rPr>
              <a:t>void</a:t>
            </a:r>
            <a:r>
              <a:rPr lang="en-US" dirty="0">
                <a:solidFill>
                  <a:prstClr val="black"/>
                </a:solidFill>
              </a:rPr>
              <a:t> button1_Click(</a:t>
            </a:r>
            <a:r>
              <a:rPr lang="en-US" dirty="0">
                <a:solidFill>
                  <a:srgbClr val="0000FF"/>
                </a:solidFill>
              </a:rPr>
              <a:t>object</a:t>
            </a:r>
            <a:r>
              <a:rPr lang="en-US" dirty="0">
                <a:solidFill>
                  <a:prstClr val="black"/>
                </a:solidFill>
              </a:rPr>
              <a:t> sender, </a:t>
            </a:r>
            <a:r>
              <a:rPr lang="en-US" dirty="0" err="1">
                <a:solidFill>
                  <a:srgbClr val="2B91AF"/>
                </a:solidFill>
              </a:rPr>
              <a:t>EventArgs</a:t>
            </a:r>
            <a:r>
              <a:rPr lang="en-US" dirty="0">
                <a:solidFill>
                  <a:prstClr val="black"/>
                </a:solidFill>
              </a:rPr>
              <a:t> e)</a:t>
            </a:r>
          </a:p>
          <a:p>
            <a:r>
              <a:rPr lang="tr-TR" dirty="0">
                <a:solidFill>
                  <a:prstClr val="black"/>
                </a:solidFill>
              </a:rPr>
              <a:t>        {</a:t>
            </a:r>
          </a:p>
          <a:p>
            <a:r>
              <a:rPr lang="tr-TR" dirty="0">
                <a:solidFill>
                  <a:prstClr val="black"/>
                </a:solidFill>
              </a:rPr>
              <a:t>            textBox1.Text = </a:t>
            </a:r>
            <a:r>
              <a:rPr lang="tr-TR" dirty="0">
                <a:solidFill>
                  <a:srgbClr val="A31515"/>
                </a:solidFill>
              </a:rPr>
              <a:t>"Merhaba, Bu benim ilk programım!!"</a:t>
            </a:r>
            <a:r>
              <a:rPr lang="tr-TR" dirty="0">
                <a:solidFill>
                  <a:prstClr val="black"/>
                </a:solidFill>
              </a:rPr>
              <a:t>;</a:t>
            </a:r>
          </a:p>
          <a:p>
            <a:r>
              <a:rPr lang="tr-TR" dirty="0">
                <a:solidFill>
                  <a:prstClr val="black"/>
                </a:solidFill>
              </a:rPr>
              <a:t>            textBox1.ForeColor = </a:t>
            </a:r>
            <a:r>
              <a:rPr lang="tr-TR" dirty="0">
                <a:solidFill>
                  <a:srgbClr val="2B91AF"/>
                </a:solidFill>
              </a:rPr>
              <a:t>Color</a:t>
            </a:r>
            <a:r>
              <a:rPr lang="tr-TR" dirty="0">
                <a:solidFill>
                  <a:prstClr val="black"/>
                </a:solidFill>
              </a:rPr>
              <a:t>.Yellow;</a:t>
            </a:r>
          </a:p>
          <a:p>
            <a:r>
              <a:rPr lang="tr-TR" dirty="0">
                <a:solidFill>
                  <a:prstClr val="black"/>
                </a:solidFill>
              </a:rPr>
              <a:t>            textBox1.BackColor = </a:t>
            </a:r>
            <a:r>
              <a:rPr lang="tr-TR" dirty="0">
                <a:solidFill>
                  <a:srgbClr val="2B91AF"/>
                </a:solidFill>
              </a:rPr>
              <a:t>Color</a:t>
            </a:r>
            <a:r>
              <a:rPr lang="tr-TR" dirty="0">
                <a:solidFill>
                  <a:prstClr val="black"/>
                </a:solidFill>
              </a:rPr>
              <a:t>.Red;  </a:t>
            </a:r>
          </a:p>
          <a:p>
            <a:r>
              <a:rPr lang="tr-TR" dirty="0">
                <a:solidFill>
                  <a:prstClr val="black"/>
                </a:solidFill>
              </a:rPr>
              <a:t>        }</a:t>
            </a:r>
            <a:endParaRPr lang="tr-TR" dirty="0"/>
          </a:p>
        </p:txBody>
      </p:sp>
      <p:sp>
        <p:nvSpPr>
          <p:cNvPr id="9" name="TextBox 8"/>
          <p:cNvSpPr txBox="1"/>
          <p:nvPr/>
        </p:nvSpPr>
        <p:spPr>
          <a:xfrm>
            <a:off x="719572" y="3645024"/>
            <a:ext cx="3983614" cy="2031325"/>
          </a:xfrm>
          <a:prstGeom prst="rect">
            <a:avLst/>
          </a:prstGeom>
          <a:noFill/>
        </p:spPr>
        <p:txBody>
          <a:bodyPr wrap="square" rtlCol="0">
            <a:spAutoFit/>
          </a:bodyPr>
          <a:lstStyle/>
          <a:p>
            <a:r>
              <a:rPr lang="en-US" dirty="0"/>
              <a:t>In this state, since no code is written on the button that says “Sil” and the button that says “</a:t>
            </a:r>
            <a:r>
              <a:rPr lang="en-US" dirty="0" err="1"/>
              <a:t>Programı</a:t>
            </a:r>
            <a:r>
              <a:rPr lang="en-US" dirty="0"/>
              <a:t> </a:t>
            </a:r>
            <a:r>
              <a:rPr lang="en-US" dirty="0" err="1"/>
              <a:t>Kapat</a:t>
            </a:r>
            <a:r>
              <a:rPr lang="en-US" dirty="0"/>
              <a:t>”, nothing happens when these buttons are pressed.</a:t>
            </a:r>
          </a:p>
          <a:p>
            <a:br>
              <a:rPr lang="en-US" dirty="0"/>
            </a:br>
            <a:endParaRPr lang="tr-TR" dirty="0"/>
          </a:p>
        </p:txBody>
      </p:sp>
      <p:pic>
        <p:nvPicPr>
          <p:cNvPr id="2" name="Resim 1"/>
          <p:cNvPicPr>
            <a:picLocks noChangeAspect="1"/>
          </p:cNvPicPr>
          <p:nvPr/>
        </p:nvPicPr>
        <p:blipFill>
          <a:blip r:embed="rId2"/>
          <a:stretch>
            <a:fillRect/>
          </a:stretch>
        </p:blipFill>
        <p:spPr>
          <a:xfrm>
            <a:off x="4703186" y="2996952"/>
            <a:ext cx="4270479" cy="3697610"/>
          </a:xfrm>
          <a:prstGeom prst="rect">
            <a:avLst/>
          </a:prstGeom>
        </p:spPr>
      </p:pic>
    </p:spTree>
    <p:extLst>
      <p:ext uri="{BB962C8B-B14F-4D97-AF65-F5344CB8AC3E}">
        <p14:creationId xmlns:p14="http://schemas.microsoft.com/office/powerpoint/2010/main" val="2959149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txBox="1">
            <a:spLocks/>
          </p:cNvSpPr>
          <p:nvPr/>
        </p:nvSpPr>
        <p:spPr>
          <a:xfrm>
            <a:off x="457200" y="116632"/>
            <a:ext cx="8229600" cy="702915"/>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dirty="0">
                <a:solidFill>
                  <a:srgbClr val="FF0000"/>
                </a:solidFill>
              </a:rPr>
              <a:t>Example:2-1</a:t>
            </a:r>
          </a:p>
        </p:txBody>
      </p:sp>
      <p:sp>
        <p:nvSpPr>
          <p:cNvPr id="7" name="Rectangle 6"/>
          <p:cNvSpPr/>
          <p:nvPr/>
        </p:nvSpPr>
        <p:spPr>
          <a:xfrm>
            <a:off x="719572" y="829313"/>
            <a:ext cx="7704856" cy="923330"/>
          </a:xfrm>
          <a:prstGeom prst="rect">
            <a:avLst/>
          </a:prstGeom>
        </p:spPr>
        <p:txBody>
          <a:bodyPr wrap="square">
            <a:spAutoFit/>
          </a:bodyPr>
          <a:lstStyle/>
          <a:p>
            <a:r>
              <a:rPr lang="en-US" dirty="0"/>
              <a:t>Now let's write the necessary codes for button2 and button3.</a:t>
            </a:r>
          </a:p>
          <a:p>
            <a:br>
              <a:rPr lang="en-US" dirty="0"/>
            </a:br>
            <a:endParaRPr lang="tr-TR" dirty="0"/>
          </a:p>
        </p:txBody>
      </p:sp>
      <p:sp>
        <p:nvSpPr>
          <p:cNvPr id="3" name="Rectangle 2"/>
          <p:cNvSpPr/>
          <p:nvPr/>
        </p:nvSpPr>
        <p:spPr>
          <a:xfrm>
            <a:off x="601216" y="1358766"/>
            <a:ext cx="7643192" cy="2862322"/>
          </a:xfrm>
          <a:prstGeom prst="rect">
            <a:avLst/>
          </a:prstGeom>
        </p:spPr>
        <p:txBody>
          <a:bodyPr wrap="square">
            <a:spAutoFit/>
          </a:bodyPr>
          <a:lstStyle/>
          <a:p>
            <a:r>
              <a:rPr lang="en-US" dirty="0"/>
              <a:t> </a:t>
            </a:r>
            <a:r>
              <a:rPr lang="en-US" dirty="0">
                <a:solidFill>
                  <a:srgbClr val="0000FF"/>
                </a:solidFill>
              </a:rPr>
              <a:t>private</a:t>
            </a:r>
            <a:r>
              <a:rPr lang="en-US" dirty="0">
                <a:solidFill>
                  <a:prstClr val="black"/>
                </a:solidFill>
              </a:rPr>
              <a:t> </a:t>
            </a:r>
            <a:r>
              <a:rPr lang="en-US" dirty="0">
                <a:solidFill>
                  <a:srgbClr val="0000FF"/>
                </a:solidFill>
              </a:rPr>
              <a:t>void</a:t>
            </a:r>
            <a:r>
              <a:rPr lang="en-US" dirty="0">
                <a:solidFill>
                  <a:prstClr val="black"/>
                </a:solidFill>
              </a:rPr>
              <a:t> button2_Click(</a:t>
            </a:r>
            <a:r>
              <a:rPr lang="en-US" dirty="0">
                <a:solidFill>
                  <a:srgbClr val="0000FF"/>
                </a:solidFill>
              </a:rPr>
              <a:t>object</a:t>
            </a:r>
            <a:r>
              <a:rPr lang="en-US" dirty="0">
                <a:solidFill>
                  <a:prstClr val="black"/>
                </a:solidFill>
              </a:rPr>
              <a:t> sender, </a:t>
            </a:r>
            <a:r>
              <a:rPr lang="en-US" dirty="0" err="1">
                <a:solidFill>
                  <a:srgbClr val="2B91AF"/>
                </a:solidFill>
              </a:rPr>
              <a:t>EventArgs</a:t>
            </a:r>
            <a:r>
              <a:rPr lang="en-US" dirty="0">
                <a:solidFill>
                  <a:prstClr val="black"/>
                </a:solidFill>
              </a:rPr>
              <a:t> e)</a:t>
            </a:r>
          </a:p>
          <a:p>
            <a:r>
              <a:rPr lang="tr-TR" dirty="0">
                <a:solidFill>
                  <a:prstClr val="black"/>
                </a:solidFill>
              </a:rPr>
              <a:t>        {</a:t>
            </a:r>
          </a:p>
          <a:p>
            <a:r>
              <a:rPr lang="tr-TR" dirty="0">
                <a:solidFill>
                  <a:prstClr val="black"/>
                </a:solidFill>
              </a:rPr>
              <a:t>            textBox1.Text = </a:t>
            </a:r>
            <a:r>
              <a:rPr lang="tr-TR" dirty="0">
                <a:solidFill>
                  <a:srgbClr val="A31515"/>
                </a:solidFill>
              </a:rPr>
              <a:t>""</a:t>
            </a:r>
            <a:r>
              <a:rPr lang="tr-TR" dirty="0">
                <a:solidFill>
                  <a:prstClr val="black"/>
                </a:solidFill>
              </a:rPr>
              <a:t>; </a:t>
            </a:r>
          </a:p>
          <a:p>
            <a:endParaRPr lang="tr-TR" dirty="0">
              <a:solidFill>
                <a:prstClr val="black"/>
              </a:solidFill>
            </a:endParaRPr>
          </a:p>
          <a:p>
            <a:r>
              <a:rPr lang="tr-TR" dirty="0">
                <a:solidFill>
                  <a:prstClr val="black"/>
                </a:solidFill>
              </a:rPr>
              <a:t>        }</a:t>
            </a:r>
          </a:p>
          <a:p>
            <a:endParaRPr lang="tr-TR" dirty="0">
              <a:solidFill>
                <a:prstClr val="black"/>
              </a:solidFill>
            </a:endParaRPr>
          </a:p>
          <a:p>
            <a:r>
              <a:rPr lang="en-US" dirty="0">
                <a:solidFill>
                  <a:prstClr val="black"/>
                </a:solidFill>
              </a:rPr>
              <a:t>        </a:t>
            </a:r>
            <a:r>
              <a:rPr lang="en-US" dirty="0">
                <a:solidFill>
                  <a:srgbClr val="0000FF"/>
                </a:solidFill>
              </a:rPr>
              <a:t>private</a:t>
            </a:r>
            <a:r>
              <a:rPr lang="en-US" dirty="0">
                <a:solidFill>
                  <a:prstClr val="black"/>
                </a:solidFill>
              </a:rPr>
              <a:t> </a:t>
            </a:r>
            <a:r>
              <a:rPr lang="en-US" dirty="0">
                <a:solidFill>
                  <a:srgbClr val="0000FF"/>
                </a:solidFill>
              </a:rPr>
              <a:t>void</a:t>
            </a:r>
            <a:r>
              <a:rPr lang="en-US" dirty="0">
                <a:solidFill>
                  <a:prstClr val="black"/>
                </a:solidFill>
              </a:rPr>
              <a:t> button3_Click(</a:t>
            </a:r>
            <a:r>
              <a:rPr lang="en-US" dirty="0">
                <a:solidFill>
                  <a:srgbClr val="0000FF"/>
                </a:solidFill>
              </a:rPr>
              <a:t>object</a:t>
            </a:r>
            <a:r>
              <a:rPr lang="en-US" dirty="0">
                <a:solidFill>
                  <a:prstClr val="black"/>
                </a:solidFill>
              </a:rPr>
              <a:t> sender, </a:t>
            </a:r>
            <a:r>
              <a:rPr lang="en-US" dirty="0" err="1">
                <a:solidFill>
                  <a:srgbClr val="2B91AF"/>
                </a:solidFill>
              </a:rPr>
              <a:t>EventArgs</a:t>
            </a:r>
            <a:r>
              <a:rPr lang="en-US" dirty="0">
                <a:solidFill>
                  <a:prstClr val="black"/>
                </a:solidFill>
              </a:rPr>
              <a:t> e)</a:t>
            </a:r>
          </a:p>
          <a:p>
            <a:r>
              <a:rPr lang="tr-TR" dirty="0">
                <a:solidFill>
                  <a:prstClr val="black"/>
                </a:solidFill>
              </a:rPr>
              <a:t>        {</a:t>
            </a:r>
          </a:p>
          <a:p>
            <a:r>
              <a:rPr lang="tr-TR" dirty="0">
                <a:solidFill>
                  <a:prstClr val="black"/>
                </a:solidFill>
              </a:rPr>
              <a:t>            </a:t>
            </a:r>
            <a:r>
              <a:rPr lang="tr-TR" dirty="0">
                <a:solidFill>
                  <a:srgbClr val="0000FF"/>
                </a:solidFill>
              </a:rPr>
              <a:t>this</a:t>
            </a:r>
            <a:r>
              <a:rPr lang="tr-TR" dirty="0">
                <a:solidFill>
                  <a:prstClr val="black"/>
                </a:solidFill>
              </a:rPr>
              <a:t>.Close();  </a:t>
            </a:r>
          </a:p>
          <a:p>
            <a:r>
              <a:rPr lang="tr-TR" dirty="0">
                <a:solidFill>
                  <a:prstClr val="black"/>
                </a:solidFill>
              </a:rPr>
              <a:t>        }</a:t>
            </a:r>
            <a:endParaRPr lang="tr-TR" dirty="0"/>
          </a:p>
        </p:txBody>
      </p:sp>
      <p:sp>
        <p:nvSpPr>
          <p:cNvPr id="6" name="TextBox 5"/>
          <p:cNvSpPr txBox="1"/>
          <p:nvPr/>
        </p:nvSpPr>
        <p:spPr>
          <a:xfrm>
            <a:off x="457200" y="4509120"/>
            <a:ext cx="8229600" cy="1477328"/>
          </a:xfrm>
          <a:prstGeom prst="rect">
            <a:avLst/>
          </a:prstGeom>
          <a:noFill/>
        </p:spPr>
        <p:txBody>
          <a:bodyPr wrap="square" rtlCol="0">
            <a:spAutoFit/>
          </a:bodyPr>
          <a:lstStyle/>
          <a:p>
            <a:r>
              <a:rPr lang="en-US" dirty="0"/>
              <a:t>The code in button2 deletes the text, and </a:t>
            </a:r>
            <a:r>
              <a:rPr lang="en-US" dirty="0" err="1"/>
              <a:t>this.Close</a:t>
            </a:r>
            <a:r>
              <a:rPr lang="en-US" dirty="0"/>
              <a:t>() in button3 closes the form. What line of code would be written if you wanted button2 to change the textbox's background color from red to white?</a:t>
            </a:r>
          </a:p>
          <a:p>
            <a:br>
              <a:rPr lang="en-US" dirty="0"/>
            </a:br>
            <a:endParaRPr lang="tr-TR" dirty="0"/>
          </a:p>
        </p:txBody>
      </p:sp>
    </p:spTree>
    <p:extLst>
      <p:ext uri="{BB962C8B-B14F-4D97-AF65-F5344CB8AC3E}">
        <p14:creationId xmlns:p14="http://schemas.microsoft.com/office/powerpoint/2010/main" val="2584758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965C71F-E128-47F2-8C41-614B381C503B}" type="slidenum">
              <a:rPr lang="en-US" altLang="en-US" smtClean="0">
                <a:latin typeface="Garamond" pitchFamily="18" charset="0"/>
              </a:rPr>
              <a:pPr eaLnBrk="1" hangingPunct="1"/>
              <a:t>32</a:t>
            </a:fld>
            <a:endParaRPr lang="en-US" altLang="en-US">
              <a:latin typeface="Garamond" pitchFamily="18" charset="0"/>
            </a:endParaRPr>
          </a:p>
        </p:txBody>
      </p:sp>
      <p:sp>
        <p:nvSpPr>
          <p:cNvPr id="4099" name="Rectangle 2"/>
          <p:cNvSpPr>
            <a:spLocks noGrp="1" noChangeArrowheads="1"/>
          </p:cNvSpPr>
          <p:nvPr>
            <p:ph type="title"/>
          </p:nvPr>
        </p:nvSpPr>
        <p:spPr/>
        <p:txBody>
          <a:bodyPr/>
          <a:lstStyle/>
          <a:p>
            <a:pPr eaLnBrk="1" hangingPunct="1"/>
            <a:r>
              <a:rPr lang="tr-TR" dirty="0" err="1"/>
              <a:t>Variables</a:t>
            </a:r>
            <a:endParaRPr lang="en-US" dirty="0"/>
          </a:p>
        </p:txBody>
      </p:sp>
      <p:sp>
        <p:nvSpPr>
          <p:cNvPr id="4100" name="Rectangle 3"/>
          <p:cNvSpPr>
            <a:spLocks noGrp="1" noChangeArrowheads="1"/>
          </p:cNvSpPr>
          <p:nvPr>
            <p:ph type="body" idx="1"/>
          </p:nvPr>
        </p:nvSpPr>
        <p:spPr/>
        <p:txBody>
          <a:bodyPr/>
          <a:lstStyle/>
          <a:p>
            <a:pPr eaLnBrk="1" hangingPunct="1"/>
            <a:r>
              <a:rPr lang="tr-TR" dirty="0" err="1"/>
              <a:t>Variable</a:t>
            </a:r>
            <a:endParaRPr lang="tr-TR" dirty="0"/>
          </a:p>
          <a:p>
            <a:pPr lvl="2"/>
            <a:r>
              <a:rPr lang="tr-TR" sz="1600" dirty="0" err="1"/>
              <a:t>They</a:t>
            </a:r>
            <a:r>
              <a:rPr lang="tr-TR" sz="1600" dirty="0"/>
              <a:t> </a:t>
            </a:r>
            <a:r>
              <a:rPr lang="tr-TR" sz="1600" dirty="0" err="1"/>
              <a:t>are</a:t>
            </a:r>
            <a:r>
              <a:rPr lang="tr-TR" sz="1600" dirty="0"/>
              <a:t> </a:t>
            </a:r>
            <a:r>
              <a:rPr lang="tr-TR" sz="1600" dirty="0" err="1"/>
              <a:t>the</a:t>
            </a:r>
            <a:r>
              <a:rPr lang="tr-TR" sz="1600" dirty="0"/>
              <a:t> </a:t>
            </a:r>
            <a:r>
              <a:rPr lang="tr-TR" sz="1600" b="1" dirty="0" err="1"/>
              <a:t>memory</a:t>
            </a:r>
            <a:r>
              <a:rPr lang="tr-TR" sz="1600" b="1" dirty="0"/>
              <a:t> </a:t>
            </a:r>
            <a:r>
              <a:rPr lang="tr-TR" sz="1600" b="1" dirty="0" err="1"/>
              <a:t>areas</a:t>
            </a:r>
            <a:r>
              <a:rPr lang="tr-TR" sz="1600" b="1" dirty="0"/>
              <a:t> </a:t>
            </a:r>
            <a:r>
              <a:rPr lang="tr-TR" sz="1600" dirty="0" err="1"/>
              <a:t>we</a:t>
            </a:r>
            <a:r>
              <a:rPr lang="tr-TR" sz="1600" dirty="0"/>
              <a:t> </a:t>
            </a:r>
            <a:r>
              <a:rPr lang="tr-TR" sz="1600" dirty="0" err="1"/>
              <a:t>use</a:t>
            </a:r>
            <a:r>
              <a:rPr lang="tr-TR" sz="1600" dirty="0"/>
              <a:t> </a:t>
            </a:r>
            <a:r>
              <a:rPr lang="tr-TR" sz="1600" dirty="0" err="1"/>
              <a:t>to</a:t>
            </a:r>
            <a:r>
              <a:rPr lang="tr-TR" sz="1600" dirty="0"/>
              <a:t> </a:t>
            </a:r>
            <a:r>
              <a:rPr lang="tr-TR" sz="1600" dirty="0" err="1"/>
              <a:t>keep</a:t>
            </a:r>
            <a:r>
              <a:rPr lang="tr-TR" sz="1600" dirty="0"/>
              <a:t> </a:t>
            </a:r>
            <a:r>
              <a:rPr lang="tr-TR" sz="1600" dirty="0" err="1"/>
              <a:t>the</a:t>
            </a:r>
            <a:r>
              <a:rPr lang="tr-TR" sz="1600" dirty="0"/>
              <a:t> </a:t>
            </a:r>
            <a:r>
              <a:rPr lang="tr-TR" sz="1600" dirty="0" err="1"/>
              <a:t>values</a:t>
            </a:r>
            <a:r>
              <a:rPr lang="tr-TR" sz="1600" dirty="0"/>
              <a:t> ​​</a:t>
            </a:r>
            <a:r>
              <a:rPr lang="tr-TR" sz="1600" dirty="0" err="1"/>
              <a:t>we</a:t>
            </a:r>
            <a:r>
              <a:rPr lang="tr-TR" sz="1600" dirty="0"/>
              <a:t> </a:t>
            </a:r>
            <a:r>
              <a:rPr lang="tr-TR" sz="1600" dirty="0" err="1"/>
              <a:t>want</a:t>
            </a:r>
            <a:r>
              <a:rPr lang="tr-TR" sz="1600" dirty="0"/>
              <a:t> in </a:t>
            </a:r>
            <a:r>
              <a:rPr lang="tr-TR" sz="1600" dirty="0" err="1"/>
              <a:t>the</a:t>
            </a:r>
            <a:r>
              <a:rPr lang="tr-TR" sz="1600" dirty="0"/>
              <a:t> </a:t>
            </a:r>
            <a:r>
              <a:rPr lang="tr-TR" sz="1600" dirty="0" err="1"/>
              <a:t>computer's</a:t>
            </a:r>
            <a:r>
              <a:rPr lang="tr-TR" sz="1600" dirty="0"/>
              <a:t> </a:t>
            </a:r>
            <a:r>
              <a:rPr lang="tr-TR" sz="1600" dirty="0" err="1"/>
              <a:t>memory</a:t>
            </a:r>
            <a:r>
              <a:rPr lang="tr-TR" sz="1600" dirty="0"/>
              <a:t> .</a:t>
            </a:r>
          </a:p>
          <a:p>
            <a:pPr lvl="4" eaLnBrk="1" hangingPunct="1"/>
            <a:r>
              <a:rPr lang="tr-TR" sz="1600" dirty="0">
                <a:latin typeface="Courier New" pitchFamily="49" charset="0"/>
              </a:rPr>
              <a:t>x=33,6;</a:t>
            </a:r>
          </a:p>
          <a:p>
            <a:pPr lvl="4" eaLnBrk="1" hangingPunct="1"/>
            <a:r>
              <a:rPr lang="tr-TR" sz="1600" dirty="0" err="1">
                <a:latin typeface="Courier New" pitchFamily="49" charset="0"/>
              </a:rPr>
              <a:t>Lname</a:t>
            </a:r>
            <a:r>
              <a:rPr lang="tr-TR" sz="1600" dirty="0">
                <a:latin typeface="Courier New" pitchFamily="49" charset="0"/>
              </a:rPr>
              <a:t>=“Demirci”;</a:t>
            </a:r>
          </a:p>
          <a:p>
            <a:pPr lvl="4" eaLnBrk="1" hangingPunct="1"/>
            <a:r>
              <a:rPr lang="tr-TR" sz="1600" dirty="0">
                <a:latin typeface="Courier New" pitchFamily="49" charset="0"/>
              </a:rPr>
              <a:t>ConnectionString=“RecordDataBase.mdb”;</a:t>
            </a:r>
          </a:p>
          <a:p>
            <a:pPr lvl="4" eaLnBrk="1" hangingPunct="1"/>
            <a:r>
              <a:rPr lang="tr-TR" sz="1600" dirty="0">
                <a:latin typeface="Courier New" pitchFamily="49" charset="0"/>
              </a:rPr>
              <a:t>Result=True/False;</a:t>
            </a:r>
          </a:p>
          <a:p>
            <a:pPr lvl="4" eaLnBrk="1" hangingPunct="1"/>
            <a:r>
              <a:rPr lang="tr-TR" sz="1600" dirty="0">
                <a:latin typeface="Courier New" pitchFamily="49" charset="0"/>
              </a:rPr>
              <a:t>SpecialDay=3.11.2009;</a:t>
            </a:r>
          </a:p>
          <a:p>
            <a:pPr lvl="2"/>
            <a:r>
              <a:rPr lang="tr-TR" sz="1600" dirty="0" err="1"/>
              <a:t>They</a:t>
            </a:r>
            <a:r>
              <a:rPr lang="tr-TR" sz="1600" dirty="0"/>
              <a:t> can be </a:t>
            </a:r>
            <a:r>
              <a:rPr lang="tr-TR" sz="1600" dirty="0" err="1"/>
              <a:t>used</a:t>
            </a:r>
            <a:r>
              <a:rPr lang="tr-TR" sz="1600" dirty="0"/>
              <a:t> inside an </a:t>
            </a:r>
            <a:r>
              <a:rPr lang="tr-TR" sz="1600" dirty="0" err="1"/>
              <a:t>expression</a:t>
            </a:r>
            <a:r>
              <a:rPr lang="tr-TR" sz="1600" dirty="0"/>
              <a:t> </a:t>
            </a:r>
            <a:r>
              <a:rPr lang="tr-TR" sz="1600" dirty="0" err="1"/>
              <a:t>or</a:t>
            </a:r>
            <a:r>
              <a:rPr lang="tr-TR" sz="1600" dirty="0"/>
              <a:t> as a </a:t>
            </a:r>
            <a:r>
              <a:rPr lang="tr-TR" sz="1600" dirty="0" err="1"/>
              <a:t>parameter</a:t>
            </a:r>
            <a:r>
              <a:rPr lang="tr-TR" sz="1600" dirty="0"/>
              <a:t>.</a:t>
            </a:r>
          </a:p>
          <a:p>
            <a:pPr lvl="4" eaLnBrk="1" hangingPunct="1"/>
            <a:r>
              <a:rPr lang="tr-TR" sz="1600" dirty="0" err="1">
                <a:latin typeface="Courier New" pitchFamily="49" charset="0"/>
              </a:rPr>
              <a:t>MessageBox.Show</a:t>
            </a:r>
            <a:r>
              <a:rPr lang="tr-TR" sz="1600" dirty="0">
                <a:latin typeface="Courier New" pitchFamily="49" charset="0"/>
              </a:rPr>
              <a:t>(“</a:t>
            </a:r>
            <a:r>
              <a:rPr lang="tr-TR" sz="1600" dirty="0" err="1">
                <a:latin typeface="Courier New" pitchFamily="49" charset="0"/>
              </a:rPr>
              <a:t>Hi</a:t>
            </a:r>
            <a:r>
              <a:rPr lang="tr-TR" sz="1600" dirty="0">
                <a:latin typeface="Courier New" pitchFamily="49" charset="0"/>
              </a:rPr>
              <a:t> Mister ” + </a:t>
            </a:r>
            <a:r>
              <a:rPr lang="tr-TR" sz="1600" dirty="0" err="1">
                <a:latin typeface="Courier New" pitchFamily="49" charset="0"/>
              </a:rPr>
              <a:t>Lname</a:t>
            </a:r>
            <a:r>
              <a:rPr lang="tr-TR" sz="1600" dirty="0">
                <a:latin typeface="Courier New" pitchFamily="49" charset="0"/>
              </a:rPr>
              <a:t>);</a:t>
            </a:r>
          </a:p>
          <a:p>
            <a:pPr lvl="4" eaLnBrk="1" hangingPunct="1"/>
            <a:r>
              <a:rPr lang="tr-TR" sz="1600" dirty="0">
                <a:latin typeface="Courier New" pitchFamily="49" charset="0"/>
              </a:rPr>
              <a:t>If(x&lt;50){IncreaseSize()};</a:t>
            </a:r>
          </a:p>
          <a:p>
            <a:pPr lvl="4" eaLnBrk="1" hangingPunct="1"/>
            <a:r>
              <a:rPr lang="tr-TR" sz="1600" dirty="0">
                <a:latin typeface="Courier New" pitchFamily="49" charset="0"/>
              </a:rPr>
              <a:t>CalculateMyAge(SpecialDay,Now);</a:t>
            </a:r>
          </a:p>
          <a:p>
            <a:pPr lvl="4" eaLnBrk="1" hangingPunct="1"/>
            <a:r>
              <a:rPr lang="tr-TR" sz="1600" dirty="0">
                <a:latin typeface="Courier New" pitchFamily="49" charset="0"/>
              </a:rPr>
              <a:t>Lenght=Form1.Width;</a:t>
            </a:r>
          </a:p>
          <a:p>
            <a:pPr lvl="4" eaLnBrk="1" hangingPunct="1"/>
            <a:r>
              <a:rPr lang="tr-TR" sz="1600" dirty="0">
                <a:latin typeface="Courier New" pitchFamily="49" charset="0"/>
              </a:rPr>
              <a:t>txtUsersurname.Text = </a:t>
            </a:r>
            <a:r>
              <a:rPr lang="tr-TR" sz="1600" dirty="0" err="1">
                <a:latin typeface="Courier New" pitchFamily="49" charset="0"/>
              </a:rPr>
              <a:t>Lname</a:t>
            </a:r>
            <a:r>
              <a:rPr lang="tr-TR" sz="1600" dirty="0">
                <a:latin typeface="Courier New" pitchFamily="49" charset="0"/>
              </a:rPr>
              <a:t>;</a:t>
            </a:r>
            <a:endParaRPr lang="en-US" sz="1600" dirty="0">
              <a:latin typeface="Courier New" pitchFamily="49"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800234381"/>
              </p:ext>
            </p:extLst>
          </p:nvPr>
        </p:nvGraphicFramePr>
        <p:xfrm>
          <a:off x="4143375" y="1206772"/>
          <a:ext cx="4143380" cy="854076"/>
        </p:xfrm>
        <a:graphic>
          <a:graphicData uri="http://schemas.openxmlformats.org/drawingml/2006/table">
            <a:tbl>
              <a:tblPr firstRow="1" bandRow="1">
                <a:tableStyleId>{2D5ABB26-0587-4C30-8999-92F81FD0307C}</a:tableStyleId>
              </a:tblPr>
              <a:tblGrid>
                <a:gridCol w="414338">
                  <a:extLst>
                    <a:ext uri="{9D8B030D-6E8A-4147-A177-3AD203B41FA5}">
                      <a16:colId xmlns:a16="http://schemas.microsoft.com/office/drawing/2014/main" val="20000"/>
                    </a:ext>
                  </a:extLst>
                </a:gridCol>
                <a:gridCol w="414338">
                  <a:extLst>
                    <a:ext uri="{9D8B030D-6E8A-4147-A177-3AD203B41FA5}">
                      <a16:colId xmlns:a16="http://schemas.microsoft.com/office/drawing/2014/main" val="20001"/>
                    </a:ext>
                  </a:extLst>
                </a:gridCol>
                <a:gridCol w="414338">
                  <a:extLst>
                    <a:ext uri="{9D8B030D-6E8A-4147-A177-3AD203B41FA5}">
                      <a16:colId xmlns:a16="http://schemas.microsoft.com/office/drawing/2014/main" val="20002"/>
                    </a:ext>
                  </a:extLst>
                </a:gridCol>
                <a:gridCol w="414338">
                  <a:extLst>
                    <a:ext uri="{9D8B030D-6E8A-4147-A177-3AD203B41FA5}">
                      <a16:colId xmlns:a16="http://schemas.microsoft.com/office/drawing/2014/main" val="20003"/>
                    </a:ext>
                  </a:extLst>
                </a:gridCol>
                <a:gridCol w="414338">
                  <a:extLst>
                    <a:ext uri="{9D8B030D-6E8A-4147-A177-3AD203B41FA5}">
                      <a16:colId xmlns:a16="http://schemas.microsoft.com/office/drawing/2014/main" val="20004"/>
                    </a:ext>
                  </a:extLst>
                </a:gridCol>
                <a:gridCol w="414338">
                  <a:extLst>
                    <a:ext uri="{9D8B030D-6E8A-4147-A177-3AD203B41FA5}">
                      <a16:colId xmlns:a16="http://schemas.microsoft.com/office/drawing/2014/main" val="20005"/>
                    </a:ext>
                  </a:extLst>
                </a:gridCol>
                <a:gridCol w="414338">
                  <a:extLst>
                    <a:ext uri="{9D8B030D-6E8A-4147-A177-3AD203B41FA5}">
                      <a16:colId xmlns:a16="http://schemas.microsoft.com/office/drawing/2014/main" val="20006"/>
                    </a:ext>
                  </a:extLst>
                </a:gridCol>
                <a:gridCol w="414338">
                  <a:extLst>
                    <a:ext uri="{9D8B030D-6E8A-4147-A177-3AD203B41FA5}">
                      <a16:colId xmlns:a16="http://schemas.microsoft.com/office/drawing/2014/main" val="20007"/>
                    </a:ext>
                  </a:extLst>
                </a:gridCol>
                <a:gridCol w="414338">
                  <a:extLst>
                    <a:ext uri="{9D8B030D-6E8A-4147-A177-3AD203B41FA5}">
                      <a16:colId xmlns:a16="http://schemas.microsoft.com/office/drawing/2014/main" val="20008"/>
                    </a:ext>
                  </a:extLst>
                </a:gridCol>
                <a:gridCol w="414338">
                  <a:extLst>
                    <a:ext uri="{9D8B030D-6E8A-4147-A177-3AD203B41FA5}">
                      <a16:colId xmlns:a16="http://schemas.microsoft.com/office/drawing/2014/main" val="20009"/>
                    </a:ext>
                  </a:extLst>
                </a:gridCol>
              </a:tblGrid>
              <a:tr h="213519">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13519">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tr-TR" sz="800" baseline="0" dirty="0"/>
                        <a:t>33,6</a:t>
                      </a:r>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gridSpan="2">
                  <a:txBody>
                    <a:bodyPr/>
                    <a:lstStyle/>
                    <a:p>
                      <a:r>
                        <a:rPr lang="tr-TR" sz="800" baseline="0" dirty="0"/>
                        <a:t>“Demirci”</a:t>
                      </a:r>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tr-TR" sz="800"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13519">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tr-TR" sz="800" baseline="0" dirty="0"/>
                        <a:t>True</a:t>
                      </a:r>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CFF"/>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213519">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gridSpan="3">
                  <a:txBody>
                    <a:bodyPr/>
                    <a:lstStyle/>
                    <a:p>
                      <a:r>
                        <a:rPr lang="tr-TR" sz="800" baseline="0" dirty="0"/>
                        <a:t>3.11.2009</a:t>
                      </a:r>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hMerge="1">
                  <a:txBody>
                    <a:bodyPr/>
                    <a:lstStyle/>
                    <a:p>
                      <a:endParaRPr lang="tr-TR" sz="800"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tr-TR" sz="800" baseline="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endParaRPr lang="tr-TR" sz="800" baseline="0" dirty="0"/>
                    </a:p>
                  </a:txBody>
                  <a:tcPr marL="91439" marR="91439" marT="45754" marB="457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046133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0919EAD-59ED-4A85-8688-F1C6AA16AFA0}" type="slidenum">
              <a:rPr lang="en-US" altLang="en-US" smtClean="0">
                <a:latin typeface="Garamond" pitchFamily="18" charset="0"/>
              </a:rPr>
              <a:pPr eaLnBrk="1" hangingPunct="1"/>
              <a:t>33</a:t>
            </a:fld>
            <a:endParaRPr lang="en-US" altLang="en-US">
              <a:latin typeface="Garamond" pitchFamily="18" charset="0"/>
            </a:endParaRPr>
          </a:p>
        </p:txBody>
      </p:sp>
      <p:sp>
        <p:nvSpPr>
          <p:cNvPr id="5123" name="Rectangle 2"/>
          <p:cNvSpPr>
            <a:spLocks noGrp="1" noChangeArrowheads="1"/>
          </p:cNvSpPr>
          <p:nvPr>
            <p:ph type="title"/>
          </p:nvPr>
        </p:nvSpPr>
        <p:spPr/>
        <p:txBody>
          <a:bodyPr/>
          <a:lstStyle/>
          <a:p>
            <a:r>
              <a:rPr lang="tr-TR" dirty="0" err="1"/>
              <a:t>Variables</a:t>
            </a:r>
            <a:endParaRPr lang="en-US" dirty="0"/>
          </a:p>
        </p:txBody>
      </p:sp>
      <p:graphicFrame>
        <p:nvGraphicFramePr>
          <p:cNvPr id="7562" name="Group 394"/>
          <p:cNvGraphicFramePr>
            <a:graphicFrameLocks noGrp="1"/>
          </p:cNvGraphicFramePr>
          <p:nvPr/>
        </p:nvGraphicFramePr>
        <p:xfrm>
          <a:off x="395288" y="1641475"/>
          <a:ext cx="8462963" cy="4832646"/>
        </p:xfrm>
        <a:graphic>
          <a:graphicData uri="http://schemas.openxmlformats.org/drawingml/2006/table">
            <a:tbl>
              <a:tblPr/>
              <a:tblGrid>
                <a:gridCol w="866009">
                  <a:extLst>
                    <a:ext uri="{9D8B030D-6E8A-4147-A177-3AD203B41FA5}">
                      <a16:colId xmlns:a16="http://schemas.microsoft.com/office/drawing/2014/main" val="20000"/>
                    </a:ext>
                  </a:extLst>
                </a:gridCol>
                <a:gridCol w="1871254">
                  <a:extLst>
                    <a:ext uri="{9D8B030D-6E8A-4147-A177-3AD203B41FA5}">
                      <a16:colId xmlns:a16="http://schemas.microsoft.com/office/drawing/2014/main" val="20001"/>
                    </a:ext>
                  </a:extLst>
                </a:gridCol>
                <a:gridCol w="1225121">
                  <a:extLst>
                    <a:ext uri="{9D8B030D-6E8A-4147-A177-3AD203B41FA5}">
                      <a16:colId xmlns:a16="http://schemas.microsoft.com/office/drawing/2014/main" val="20002"/>
                    </a:ext>
                  </a:extLst>
                </a:gridCol>
                <a:gridCol w="4500579">
                  <a:extLst>
                    <a:ext uri="{9D8B030D-6E8A-4147-A177-3AD203B41FA5}">
                      <a16:colId xmlns:a16="http://schemas.microsoft.com/office/drawing/2014/main" val="20003"/>
                    </a:ext>
                  </a:extLst>
                </a:gridCol>
              </a:tblGrid>
              <a:tr h="45714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dirty="0">
                          <a:ln>
                            <a:noFill/>
                          </a:ln>
                          <a:solidFill>
                            <a:schemeClr val="tx1"/>
                          </a:solidFill>
                          <a:effectLst/>
                          <a:latin typeface="Arial" charset="0"/>
                          <a:cs typeface="Times New Roman" pitchFamily="18" charset="0"/>
                        </a:rPr>
                        <a:t>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type </a:t>
                      </a:r>
                      <a:endParaRPr kumimoji="0" lang="en-US" sz="1200" b="0" i="0" u="none" strike="noStrike" cap="none" normalizeH="0" baseline="0" dirty="0">
                        <a:ln>
                          <a:noFill/>
                        </a:ln>
                        <a:solidFill>
                          <a:schemeClr val="tx1"/>
                        </a:solidFill>
                        <a:effectLst/>
                        <a:latin typeface="Arial" charset="0"/>
                      </a:endParaRPr>
                    </a:p>
                  </a:txBody>
                  <a:tcPr marT="45715" marB="45715" anchor="b"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Times New Roman" pitchFamily="18" charset="0"/>
                        </a:rPr>
                        <a:t>Common language runtime type structure </a:t>
                      </a:r>
                      <a:endParaRPr kumimoji="0" lang="en-US" sz="1000" b="0" i="0" u="none" strike="noStrike" cap="none" normalizeH="0" baseline="0" dirty="0">
                        <a:ln>
                          <a:noFill/>
                        </a:ln>
                        <a:solidFill>
                          <a:schemeClr val="tx1"/>
                        </a:solidFill>
                        <a:effectLst/>
                        <a:latin typeface="Arial" charset="0"/>
                      </a:endParaRPr>
                    </a:p>
                  </a:txBody>
                  <a:tcPr marT="45715" marB="45715" anchor="b"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000" b="0" i="0" u="none" strike="noStrike" cap="none" normalizeH="0" baseline="0" dirty="0">
                          <a:ln>
                            <a:noFill/>
                          </a:ln>
                          <a:solidFill>
                            <a:schemeClr val="tx1"/>
                          </a:solidFill>
                          <a:effectLst/>
                          <a:latin typeface="Arial" charset="0"/>
                        </a:rPr>
                        <a:t>Uzunluk (</a:t>
                      </a:r>
                      <a:r>
                        <a:rPr kumimoji="0" lang="tr-TR" sz="1000" b="0" i="0" u="none" strike="noStrike" cap="none" normalizeH="0" baseline="0" dirty="0" err="1">
                          <a:ln>
                            <a:noFill/>
                          </a:ln>
                          <a:solidFill>
                            <a:schemeClr val="tx1"/>
                          </a:solidFill>
                          <a:effectLst/>
                          <a:latin typeface="Arial" charset="0"/>
                        </a:rPr>
                        <a:t>Byte</a:t>
                      </a:r>
                      <a:r>
                        <a:rPr kumimoji="0" lang="tr-TR" sz="1000" b="0" i="0" u="none" strike="noStrike" cap="none" normalizeH="0" baseline="0" dirty="0">
                          <a:ln>
                            <a:noFill/>
                          </a:ln>
                          <a:solidFill>
                            <a:schemeClr val="tx1"/>
                          </a:solidFill>
                          <a:effectLst/>
                          <a:latin typeface="Arial" charset="0"/>
                        </a:rPr>
                        <a:t>)</a:t>
                      </a:r>
                      <a:endParaRPr kumimoji="0" lang="en-US" sz="1000" b="0" i="0" u="none" strike="noStrike" cap="none" normalizeH="0" baseline="0" dirty="0">
                        <a:ln>
                          <a:noFill/>
                        </a:ln>
                        <a:solidFill>
                          <a:schemeClr val="tx1"/>
                        </a:solidFill>
                        <a:effectLst/>
                        <a:latin typeface="Arial" charset="0"/>
                      </a:endParaRPr>
                    </a:p>
                  </a:txBody>
                  <a:tcPr marT="45715" marB="45715" anchor="b"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Value range </a:t>
                      </a:r>
                      <a:endParaRPr kumimoji="0" lang="en-US" sz="1200" b="0" i="0" u="none" strike="noStrike" cap="none" normalizeH="0" baseline="0" dirty="0">
                        <a:ln>
                          <a:noFill/>
                        </a:ln>
                        <a:solidFill>
                          <a:schemeClr val="tx1"/>
                        </a:solidFill>
                        <a:effectLst/>
                        <a:latin typeface="Arial" charset="0"/>
                      </a:endParaRPr>
                    </a:p>
                  </a:txBody>
                  <a:tcPr marT="45715" marB="45715" anchor="b"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0"/>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a:t>
                      </a:r>
                      <a:r>
                        <a:rPr kumimoji="0" lang="en-US" sz="1200" b="1" i="0" u="none" strike="noStrike" cap="none" normalizeH="0" baseline="0" dirty="0" err="1">
                          <a:ln>
                            <a:noFill/>
                          </a:ln>
                          <a:solidFill>
                            <a:schemeClr val="tx1"/>
                          </a:solidFill>
                          <a:effectLst/>
                          <a:latin typeface="Arial" charset="0"/>
                          <a:cs typeface="Times New Roman" pitchFamily="18" charset="0"/>
                        </a:rPr>
                        <a:t>sbyte</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a:t>
                      </a:r>
                      <a:r>
                        <a:rPr kumimoji="0" lang="en-US" sz="1200" b="0" i="0" u="none" strike="noStrike" cap="none" normalizeH="0" baseline="0" dirty="0" err="1">
                          <a:ln>
                            <a:noFill/>
                          </a:ln>
                          <a:solidFill>
                            <a:schemeClr val="tx1"/>
                          </a:solidFill>
                          <a:effectLst/>
                          <a:latin typeface="Arial" charset="0"/>
                          <a:cs typeface="Times New Roman" pitchFamily="18" charset="0"/>
                        </a:rPr>
                        <a:t>System.</a:t>
                      </a:r>
                      <a:r>
                        <a:rPr kumimoji="0" lang="en-US" sz="1200" b="1" i="0" u="none" strike="noStrike" cap="none" normalizeH="0" baseline="0" dirty="0" err="1">
                          <a:ln>
                            <a:noFill/>
                          </a:ln>
                          <a:solidFill>
                            <a:schemeClr val="tx1"/>
                          </a:solidFill>
                          <a:effectLst/>
                          <a:latin typeface="Arial" charset="0"/>
                          <a:cs typeface="Times New Roman" pitchFamily="18" charset="0"/>
                        </a:rPr>
                        <a:t>SByte</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1</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Integer  between    – 128 and 127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byte</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err="1">
                          <a:ln>
                            <a:noFill/>
                          </a:ln>
                          <a:solidFill>
                            <a:schemeClr val="tx1"/>
                          </a:solidFill>
                          <a:effectLst/>
                          <a:latin typeface="Arial" charset="0"/>
                          <a:cs typeface="Times New Roman" pitchFamily="18" charset="0"/>
                        </a:rPr>
                        <a:t>System.</a:t>
                      </a:r>
                      <a:r>
                        <a:rPr kumimoji="0" lang="en-US" sz="1200" b="1" i="0" u="none" strike="noStrike" cap="none" normalizeH="0" baseline="0" dirty="0" err="1">
                          <a:ln>
                            <a:noFill/>
                          </a:ln>
                          <a:solidFill>
                            <a:schemeClr val="tx1"/>
                          </a:solidFill>
                          <a:effectLst/>
                          <a:latin typeface="Arial" charset="0"/>
                          <a:cs typeface="Times New Roman" pitchFamily="18" charset="0"/>
                        </a:rPr>
                        <a:t>Byte</a:t>
                      </a:r>
                      <a:r>
                        <a:rPr kumimoji="0" lang="en-US" sz="1200" b="0" i="0" u="none" strike="noStrike" cap="none" normalizeH="0" baseline="0" dirty="0">
                          <a:ln>
                            <a:noFill/>
                          </a:ln>
                          <a:solidFill>
                            <a:schemeClr val="tx1"/>
                          </a:solidFill>
                          <a:effectLst/>
                          <a:latin typeface="Arial" charset="0"/>
                          <a:cs typeface="Times New Roman" pitchFamily="18" charset="0"/>
                        </a:rPr>
                        <a:t>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1</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Integer  between  0  and  255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short</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System.</a:t>
                      </a:r>
                      <a:r>
                        <a:rPr kumimoji="0" lang="en-US" sz="1200" b="1" i="0" u="none" strike="noStrike" cap="none" normalizeH="0" baseline="0" dirty="0">
                          <a:ln>
                            <a:noFill/>
                          </a:ln>
                          <a:solidFill>
                            <a:schemeClr val="tx1"/>
                          </a:solidFill>
                          <a:effectLst/>
                          <a:latin typeface="Arial" charset="0"/>
                          <a:cs typeface="Times New Roman" pitchFamily="18" charset="0"/>
                        </a:rPr>
                        <a:t>Int16 </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2</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Integer  between    – 32768 and 32767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a:t>
                      </a:r>
                      <a:r>
                        <a:rPr kumimoji="0" lang="en-US" sz="1200" b="1" i="0" u="none" strike="noStrike" cap="none" normalizeH="0" baseline="0" dirty="0" err="1">
                          <a:ln>
                            <a:noFill/>
                          </a:ln>
                          <a:solidFill>
                            <a:schemeClr val="tx1"/>
                          </a:solidFill>
                          <a:effectLst/>
                          <a:latin typeface="Arial" charset="0"/>
                          <a:cs typeface="Times New Roman" pitchFamily="18" charset="0"/>
                        </a:rPr>
                        <a:t>ushort</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System.</a:t>
                      </a:r>
                      <a:r>
                        <a:rPr kumimoji="0" lang="en-US" sz="1200" b="1" i="0" u="none" strike="noStrike" cap="none" normalizeH="0" baseline="0" dirty="0">
                          <a:ln>
                            <a:noFill/>
                          </a:ln>
                          <a:solidFill>
                            <a:schemeClr val="tx1"/>
                          </a:solidFill>
                          <a:effectLst/>
                          <a:latin typeface="Arial" charset="0"/>
                          <a:cs typeface="Times New Roman" pitchFamily="18" charset="0"/>
                        </a:rPr>
                        <a:t>UInt16</a:t>
                      </a:r>
                      <a:r>
                        <a:rPr kumimoji="0" lang="en-US" sz="1200" b="0" i="0" u="none" strike="noStrike" cap="none" normalizeH="0" baseline="0" dirty="0">
                          <a:ln>
                            <a:noFill/>
                          </a:ln>
                          <a:solidFill>
                            <a:schemeClr val="tx1"/>
                          </a:solidFill>
                          <a:effectLst/>
                          <a:latin typeface="Arial" charset="0"/>
                          <a:cs typeface="Times New Roman" pitchFamily="18" charset="0"/>
                        </a:rPr>
                        <a:t>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2</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Integer  between  0  and  65535</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2792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a:t>
                      </a:r>
                      <a:r>
                        <a:rPr kumimoji="0" lang="en-US" sz="1200" b="1" i="0" u="none" strike="noStrike" cap="none" normalizeH="0" baseline="0" dirty="0" err="1">
                          <a:ln>
                            <a:noFill/>
                          </a:ln>
                          <a:solidFill>
                            <a:schemeClr val="tx1"/>
                          </a:solidFill>
                          <a:effectLst/>
                          <a:latin typeface="Arial" charset="0"/>
                          <a:cs typeface="Times New Roman" pitchFamily="18" charset="0"/>
                        </a:rPr>
                        <a:t>int</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System.I</a:t>
                      </a:r>
                      <a:r>
                        <a:rPr kumimoji="0" lang="en-US" sz="1200" b="1" i="0" u="none" strike="noStrike" cap="none" normalizeH="0" baseline="0" dirty="0">
                          <a:ln>
                            <a:noFill/>
                          </a:ln>
                          <a:solidFill>
                            <a:schemeClr val="tx1"/>
                          </a:solidFill>
                          <a:effectLst/>
                          <a:latin typeface="Arial" charset="0"/>
                          <a:cs typeface="Times New Roman" pitchFamily="18" charset="0"/>
                        </a:rPr>
                        <a:t>nt32</a:t>
                      </a:r>
                      <a:r>
                        <a:rPr kumimoji="0" lang="en-US" sz="1200" b="0" i="0" u="none" strike="noStrike" cap="none" normalizeH="0" baseline="0" dirty="0">
                          <a:ln>
                            <a:noFill/>
                          </a:ln>
                          <a:solidFill>
                            <a:schemeClr val="tx1"/>
                          </a:solidFill>
                          <a:effectLst/>
                          <a:latin typeface="Arial" charset="0"/>
                          <a:cs typeface="Times New Roman" pitchFamily="18" charset="0"/>
                        </a:rPr>
                        <a:t>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4</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Integer  between   – 2147483648  and  2147483647</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381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a:t>
                      </a:r>
                      <a:r>
                        <a:rPr kumimoji="0" lang="en-US" sz="1200" b="1" i="0" u="none" strike="noStrike" cap="none" normalizeH="0" baseline="0" dirty="0" err="1">
                          <a:ln>
                            <a:noFill/>
                          </a:ln>
                          <a:solidFill>
                            <a:schemeClr val="tx1"/>
                          </a:solidFill>
                          <a:effectLst/>
                          <a:latin typeface="Arial" charset="0"/>
                          <a:cs typeface="Times New Roman" pitchFamily="18" charset="0"/>
                        </a:rPr>
                        <a:t>uint</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System.</a:t>
                      </a:r>
                      <a:r>
                        <a:rPr kumimoji="0" lang="en-US" sz="1200" b="1" i="0" u="none" strike="noStrike" cap="none" normalizeH="0" baseline="0" dirty="0">
                          <a:ln>
                            <a:noFill/>
                          </a:ln>
                          <a:solidFill>
                            <a:schemeClr val="tx1"/>
                          </a:solidFill>
                          <a:effectLst/>
                          <a:latin typeface="Arial" charset="0"/>
                          <a:cs typeface="Times New Roman" pitchFamily="18" charset="0"/>
                        </a:rPr>
                        <a:t>UInt32</a:t>
                      </a:r>
                      <a:r>
                        <a:rPr kumimoji="0" lang="en-US" sz="1200" b="0" i="0" u="none" strike="noStrike" cap="none" normalizeH="0" baseline="0" dirty="0">
                          <a:ln>
                            <a:noFill/>
                          </a:ln>
                          <a:solidFill>
                            <a:schemeClr val="tx1"/>
                          </a:solidFill>
                          <a:effectLst/>
                          <a:latin typeface="Arial" charset="0"/>
                          <a:cs typeface="Times New Roman" pitchFamily="18" charset="0"/>
                        </a:rPr>
                        <a:t>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4</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Integer  between  0  and  4294967295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5714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long</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Times New Roman" pitchFamily="18" charset="0"/>
                        </a:rPr>
                        <a:t> System.</a:t>
                      </a:r>
                      <a:r>
                        <a:rPr kumimoji="0" lang="en-US" sz="1200" b="1" i="0" u="none" strike="noStrike" cap="none" normalizeH="0" baseline="0" dirty="0">
                          <a:ln>
                            <a:noFill/>
                          </a:ln>
                          <a:solidFill>
                            <a:schemeClr val="tx1"/>
                          </a:solidFill>
                          <a:effectLst/>
                          <a:latin typeface="Arial" charset="0"/>
                          <a:cs typeface="Times New Roman" pitchFamily="18" charset="0"/>
                        </a:rPr>
                        <a:t>Int64</a:t>
                      </a:r>
                      <a:r>
                        <a:rPr kumimoji="0" lang="en-US" sz="1200" b="0" i="0" u="none" strike="noStrike" cap="none" normalizeH="0" baseline="0" dirty="0">
                          <a:ln>
                            <a:noFill/>
                          </a:ln>
                          <a:solidFill>
                            <a:schemeClr val="tx1"/>
                          </a:solidFill>
                          <a:effectLst/>
                          <a:latin typeface="Arial" charset="0"/>
                          <a:cs typeface="Times New Roman" pitchFamily="18" charset="0"/>
                        </a:rPr>
                        <a:t> </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8</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Integer  between   – 9223372036854775808</a:t>
                      </a:r>
                      <a:r>
                        <a:rPr kumimoji="0" lang="tr-TR" sz="1200" b="0" i="0" u="none" strike="noStrike" cap="none" normalizeH="0" baseline="0" dirty="0">
                          <a:ln>
                            <a:noFill/>
                          </a:ln>
                          <a:solidFill>
                            <a:schemeClr val="tx1"/>
                          </a:solidFill>
                          <a:effectLst/>
                          <a:latin typeface="Arial" charset="0"/>
                        </a:rPr>
                        <a:t> </a:t>
                      </a:r>
                      <a:r>
                        <a:rPr kumimoji="0" lang="tr-TR" sz="1200" b="0" i="0" u="none" strike="noStrike" cap="none" normalizeH="0" baseline="0" dirty="0" err="1">
                          <a:ln>
                            <a:noFill/>
                          </a:ln>
                          <a:solidFill>
                            <a:schemeClr val="tx1"/>
                          </a:solidFill>
                          <a:effectLst/>
                          <a:latin typeface="Arial" charset="0"/>
                        </a:rPr>
                        <a:t>and</a:t>
                      </a:r>
                      <a:r>
                        <a:rPr kumimoji="0" lang="tr-TR"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a:ln>
                            <a:noFill/>
                          </a:ln>
                          <a:solidFill>
                            <a:schemeClr val="tx1"/>
                          </a:solidFill>
                          <a:effectLst/>
                          <a:latin typeface="Arial" charset="0"/>
                        </a:rPr>
                        <a:t>9223372036854775807 </a:t>
                      </a: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110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a:t>
                      </a:r>
                      <a:r>
                        <a:rPr kumimoji="0" lang="en-US" sz="1200" b="1" i="0" u="none" strike="noStrike" cap="none" normalizeH="0" baseline="0" dirty="0" err="1">
                          <a:ln>
                            <a:noFill/>
                          </a:ln>
                          <a:solidFill>
                            <a:schemeClr val="tx1"/>
                          </a:solidFill>
                          <a:effectLst/>
                          <a:latin typeface="Arial" charset="0"/>
                          <a:cs typeface="Times New Roman" pitchFamily="18" charset="0"/>
                        </a:rPr>
                        <a:t>ulong</a:t>
                      </a:r>
                      <a:endParaRPr kumimoji="0" lang="en-US" sz="1200" b="1" i="0" u="none" strike="noStrike" cap="none" normalizeH="0" baseline="0" dirty="0">
                        <a:ln>
                          <a:noFill/>
                        </a:ln>
                        <a:solidFill>
                          <a:schemeClr val="tx1"/>
                        </a:solidFill>
                        <a:effectLst/>
                        <a:latin typeface="Arial" charset="0"/>
                        <a:cs typeface="Times New Roman" pitchFamily="18"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System.</a:t>
                      </a:r>
                      <a:r>
                        <a:rPr kumimoji="0" lang="en-US" sz="1200" b="1" i="0" u="none" strike="noStrike" cap="none" normalizeH="0" baseline="0" dirty="0">
                          <a:ln>
                            <a:noFill/>
                          </a:ln>
                          <a:solidFill>
                            <a:schemeClr val="tx1"/>
                          </a:solidFill>
                          <a:effectLst/>
                          <a:latin typeface="Arial" charset="0"/>
                        </a:rPr>
                        <a:t>UInt64</a:t>
                      </a:r>
                      <a:r>
                        <a:rPr kumimoji="0" lang="en-US" sz="1200" b="0" i="0" u="none" strike="noStrike" cap="none" normalizeH="0" baseline="0" dirty="0">
                          <a:ln>
                            <a:noFill/>
                          </a:ln>
                          <a:solidFill>
                            <a:schemeClr val="tx1"/>
                          </a:solidFill>
                          <a:effectLst/>
                          <a:latin typeface="Arial" charset="0"/>
                        </a:rPr>
                        <a:t> </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8</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Integer  between  0  and  18446744073709551615 </a:t>
                      </a: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3381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decimal</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System.</a:t>
                      </a:r>
                      <a:r>
                        <a:rPr kumimoji="0" lang="en-US" sz="1200" b="1" i="0" u="none" strike="noStrike" cap="none" normalizeH="0" baseline="0" dirty="0" err="1">
                          <a:ln>
                            <a:noFill/>
                          </a:ln>
                          <a:solidFill>
                            <a:schemeClr val="tx1"/>
                          </a:solidFill>
                          <a:effectLst/>
                          <a:latin typeface="Arial" charset="0"/>
                        </a:rPr>
                        <a:t>Decimal</a:t>
                      </a:r>
                      <a:r>
                        <a:rPr kumimoji="0" lang="en-US" sz="1200" b="0" i="0" u="none" strike="noStrike" cap="none" normalizeH="0" baseline="0" dirty="0">
                          <a:ln>
                            <a:noFill/>
                          </a:ln>
                          <a:solidFill>
                            <a:schemeClr val="tx1"/>
                          </a:solidFill>
                          <a:effectLst/>
                          <a:latin typeface="Arial" charset="0"/>
                        </a:rPr>
                        <a:t> </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12</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1.0</a:t>
                      </a:r>
                      <a:r>
                        <a:rPr kumimoji="0" lang="tr-TR" sz="1200" b="0" i="0" u="none" strike="noStrike" cap="none" normalizeH="0" baseline="0" dirty="0">
                          <a:ln>
                            <a:noFill/>
                          </a:ln>
                          <a:solidFill>
                            <a:schemeClr val="tx1"/>
                          </a:solidFill>
                          <a:effectLst/>
                          <a:latin typeface="Arial" charset="0"/>
                        </a:rPr>
                        <a:t>x</a:t>
                      </a:r>
                      <a:r>
                        <a:rPr kumimoji="0" lang="en-US" sz="1200" b="0" i="0" u="none" strike="noStrike" cap="none" normalizeH="0" baseline="0" dirty="0">
                          <a:ln>
                            <a:noFill/>
                          </a:ln>
                          <a:solidFill>
                            <a:schemeClr val="tx1"/>
                          </a:solidFill>
                          <a:effectLst/>
                          <a:latin typeface="Arial" charset="0"/>
                        </a:rPr>
                        <a:t>10</a:t>
                      </a:r>
                      <a:r>
                        <a:rPr kumimoji="0" lang="en-US" sz="1200" b="0" i="0" u="none" strike="noStrike" cap="none" normalizeH="0" baseline="30000" dirty="0">
                          <a:ln>
                            <a:noFill/>
                          </a:ln>
                          <a:solidFill>
                            <a:schemeClr val="tx1"/>
                          </a:solidFill>
                          <a:effectLst/>
                          <a:latin typeface="Arial" charset="0"/>
                        </a:rPr>
                        <a:t>- 28</a:t>
                      </a:r>
                      <a:r>
                        <a:rPr kumimoji="0" lang="tr-TR" sz="1200" b="0" i="0" u="none" strike="noStrike" cap="none" normalizeH="0" baseline="0" dirty="0">
                          <a:ln>
                            <a:noFill/>
                          </a:ln>
                          <a:solidFill>
                            <a:schemeClr val="tx1"/>
                          </a:solidFill>
                          <a:effectLst/>
                          <a:latin typeface="Arial" charset="0"/>
                        </a:rPr>
                        <a:t> - 7.9 x10</a:t>
                      </a:r>
                      <a:r>
                        <a:rPr kumimoji="0" lang="tr-TR" sz="1200" b="0" i="0" u="none" strike="noStrike" cap="none" normalizeH="0" baseline="30000" dirty="0">
                          <a:ln>
                            <a:noFill/>
                          </a:ln>
                          <a:solidFill>
                            <a:schemeClr val="tx1"/>
                          </a:solidFill>
                          <a:effectLst/>
                          <a:latin typeface="Arial" charset="0"/>
                        </a:rPr>
                        <a:t>28</a:t>
                      </a:r>
                      <a:endParaRPr kumimoji="0" lang="en-US" sz="1200" b="0" i="0" u="none" strike="noStrike" cap="none" normalizeH="0" baseline="3000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float</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System.</a:t>
                      </a:r>
                      <a:r>
                        <a:rPr kumimoji="0" lang="tr-TR" sz="1200" b="1" i="0" u="none" strike="noStrike" cap="none" normalizeH="0" baseline="0" dirty="0">
                          <a:ln>
                            <a:noFill/>
                          </a:ln>
                          <a:solidFill>
                            <a:schemeClr val="tx1"/>
                          </a:solidFill>
                          <a:effectLst/>
                          <a:latin typeface="Arial" charset="0"/>
                        </a:rPr>
                        <a:t>S</a:t>
                      </a:r>
                      <a:r>
                        <a:rPr kumimoji="0" lang="en-US" sz="1200" b="1" i="0" u="none" strike="noStrike" cap="none" normalizeH="0" baseline="0" dirty="0">
                          <a:ln>
                            <a:noFill/>
                          </a:ln>
                          <a:solidFill>
                            <a:schemeClr val="tx1"/>
                          </a:solidFill>
                          <a:effectLst/>
                          <a:latin typeface="Arial" charset="0"/>
                        </a:rPr>
                        <a:t>ingle</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4</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1.5</a:t>
                      </a:r>
                      <a:r>
                        <a:rPr kumimoji="0" lang="tr-TR" sz="1200" b="0" i="0" u="none" strike="noStrike" cap="none" normalizeH="0" baseline="0" dirty="0">
                          <a:ln>
                            <a:noFill/>
                          </a:ln>
                          <a:solidFill>
                            <a:schemeClr val="tx1"/>
                          </a:solidFill>
                          <a:effectLst/>
                          <a:latin typeface="Arial" charset="0"/>
                        </a:rPr>
                        <a:t>x</a:t>
                      </a:r>
                      <a:r>
                        <a:rPr kumimoji="0" lang="en-US" sz="1200" b="0" i="0" u="none" strike="noStrike" cap="none" normalizeH="0" baseline="0" dirty="0">
                          <a:ln>
                            <a:noFill/>
                          </a:ln>
                          <a:solidFill>
                            <a:schemeClr val="tx1"/>
                          </a:solidFill>
                          <a:effectLst/>
                          <a:latin typeface="Arial" charset="0"/>
                        </a:rPr>
                        <a:t>10</a:t>
                      </a:r>
                      <a:r>
                        <a:rPr kumimoji="0" lang="en-US" sz="1200" b="0" i="0" u="none" strike="noStrike" cap="none" normalizeH="0" baseline="30000" dirty="0">
                          <a:ln>
                            <a:noFill/>
                          </a:ln>
                          <a:solidFill>
                            <a:schemeClr val="tx1"/>
                          </a:solidFill>
                          <a:effectLst/>
                          <a:latin typeface="Arial" charset="0"/>
                        </a:rPr>
                        <a:t>-45</a:t>
                      </a:r>
                      <a:r>
                        <a:rPr kumimoji="0" lang="tr-TR" sz="1200" b="0" i="0" u="none" strike="noStrike" cap="none" normalizeH="0" baseline="30000" dirty="0">
                          <a:ln>
                            <a:noFill/>
                          </a:ln>
                          <a:solidFill>
                            <a:schemeClr val="tx1"/>
                          </a:solidFill>
                          <a:effectLst/>
                          <a:latin typeface="Arial" charset="0"/>
                        </a:rPr>
                        <a:t>  - </a:t>
                      </a:r>
                      <a:r>
                        <a:rPr kumimoji="0" lang="en-US" sz="1200" b="0" i="0" u="none" strike="noStrike" cap="none" normalizeH="0" baseline="0" dirty="0">
                          <a:ln>
                            <a:noFill/>
                          </a:ln>
                          <a:solidFill>
                            <a:schemeClr val="tx1"/>
                          </a:solidFill>
                          <a:effectLst/>
                          <a:latin typeface="Arial" charset="0"/>
                        </a:rPr>
                        <a:t> 3.4</a:t>
                      </a:r>
                      <a:r>
                        <a:rPr kumimoji="0" lang="tr-TR" sz="1200" b="0" i="0" u="none" strike="noStrike" cap="none" normalizeH="0" baseline="0" dirty="0">
                          <a:ln>
                            <a:noFill/>
                          </a:ln>
                          <a:solidFill>
                            <a:schemeClr val="tx1"/>
                          </a:solidFill>
                          <a:effectLst/>
                          <a:latin typeface="Arial" charset="0"/>
                        </a:rPr>
                        <a:t>x</a:t>
                      </a:r>
                      <a:r>
                        <a:rPr kumimoji="0" lang="en-US" sz="1200" b="0" i="0" u="none" strike="noStrike" cap="none" normalizeH="0" baseline="0" dirty="0">
                          <a:ln>
                            <a:noFill/>
                          </a:ln>
                          <a:solidFill>
                            <a:schemeClr val="tx1"/>
                          </a:solidFill>
                          <a:effectLst/>
                          <a:latin typeface="Arial" charset="0"/>
                        </a:rPr>
                        <a:t>10</a:t>
                      </a:r>
                      <a:r>
                        <a:rPr kumimoji="0" lang="en-US" sz="1200" b="0" i="0" u="none" strike="noStrike" cap="none" normalizeH="0" baseline="30000" dirty="0">
                          <a:ln>
                            <a:noFill/>
                          </a:ln>
                          <a:solidFill>
                            <a:schemeClr val="tx1"/>
                          </a:solidFill>
                          <a:effectLst/>
                          <a:latin typeface="Arial" charset="0"/>
                        </a:rPr>
                        <a:t>38</a:t>
                      </a: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double</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System.</a:t>
                      </a:r>
                      <a:r>
                        <a:rPr kumimoji="0" lang="en-US" sz="1200" b="1" i="0" u="none" strike="noStrike" cap="none" normalizeH="0" baseline="0" dirty="0" err="1">
                          <a:ln>
                            <a:noFill/>
                          </a:ln>
                          <a:solidFill>
                            <a:schemeClr val="tx1"/>
                          </a:solidFill>
                          <a:effectLst/>
                          <a:latin typeface="Arial" charset="0"/>
                        </a:rPr>
                        <a:t>Double</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8</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5.0 </a:t>
                      </a:r>
                      <a:r>
                        <a:rPr kumimoji="0" lang="tr-TR" sz="1200" b="0" i="0" u="none" strike="noStrike" cap="none" normalizeH="0" baseline="0" dirty="0">
                          <a:ln>
                            <a:noFill/>
                          </a:ln>
                          <a:solidFill>
                            <a:schemeClr val="tx1"/>
                          </a:solidFill>
                          <a:effectLst/>
                          <a:latin typeface="Arial" charset="0"/>
                        </a:rPr>
                        <a:t>x 1</a:t>
                      </a:r>
                      <a:r>
                        <a:rPr kumimoji="0" lang="en-US" sz="1200" b="0" i="0" u="none" strike="noStrike" cap="none" normalizeH="0" baseline="0" dirty="0">
                          <a:ln>
                            <a:noFill/>
                          </a:ln>
                          <a:solidFill>
                            <a:schemeClr val="tx1"/>
                          </a:solidFill>
                          <a:effectLst/>
                          <a:latin typeface="Arial" charset="0"/>
                        </a:rPr>
                        <a:t>0</a:t>
                      </a:r>
                      <a:r>
                        <a:rPr kumimoji="0" lang="en-US" sz="1200" b="0" i="0" u="none" strike="noStrike" cap="none" normalizeH="0" baseline="30000" dirty="0">
                          <a:ln>
                            <a:noFill/>
                          </a:ln>
                          <a:solidFill>
                            <a:schemeClr val="tx1"/>
                          </a:solidFill>
                          <a:effectLst/>
                          <a:latin typeface="Arial" charset="0"/>
                        </a:rPr>
                        <a:t>- 324</a:t>
                      </a:r>
                      <a:r>
                        <a:rPr kumimoji="0" lang="tr-TR" sz="1200" b="0" i="0" u="none" strike="noStrike" cap="none" normalizeH="0" baseline="0" dirty="0">
                          <a:ln>
                            <a:noFill/>
                          </a:ln>
                          <a:solidFill>
                            <a:schemeClr val="tx1"/>
                          </a:solidFill>
                          <a:effectLst/>
                          <a:latin typeface="Arial" charset="0"/>
                        </a:rPr>
                        <a:t> - </a:t>
                      </a:r>
                      <a:r>
                        <a:rPr kumimoji="0" lang="en-US" sz="1200" b="0" i="0" u="none" strike="noStrike" cap="none" normalizeH="0" baseline="0" dirty="0">
                          <a:ln>
                            <a:noFill/>
                          </a:ln>
                          <a:solidFill>
                            <a:schemeClr val="tx1"/>
                          </a:solidFill>
                          <a:effectLst/>
                          <a:latin typeface="Arial" charset="0"/>
                        </a:rPr>
                        <a:t>1.7 </a:t>
                      </a:r>
                      <a:r>
                        <a:rPr kumimoji="0" lang="tr-TR" sz="1200" b="0" i="0" u="none" strike="noStrike" cap="none" normalizeH="0" baseline="0" dirty="0">
                          <a:ln>
                            <a:noFill/>
                          </a:ln>
                          <a:solidFill>
                            <a:schemeClr val="tx1"/>
                          </a:solidFill>
                          <a:effectLst/>
                          <a:latin typeface="Arial" charset="0"/>
                        </a:rPr>
                        <a:t>x</a:t>
                      </a:r>
                      <a:r>
                        <a:rPr kumimoji="0" lang="en-US" sz="1200" b="0" i="0" u="none" strike="noStrike" cap="none" normalizeH="0" baseline="0" dirty="0">
                          <a:ln>
                            <a:noFill/>
                          </a:ln>
                          <a:solidFill>
                            <a:schemeClr val="tx1"/>
                          </a:solidFill>
                          <a:effectLst/>
                          <a:latin typeface="Arial" charset="0"/>
                        </a:rPr>
                        <a:t> 10</a:t>
                      </a:r>
                      <a:r>
                        <a:rPr kumimoji="0" lang="en-US" sz="1200" b="0" i="0" u="none" strike="noStrike" cap="none" normalizeH="0" baseline="30000" dirty="0">
                          <a:ln>
                            <a:noFill/>
                          </a:ln>
                          <a:solidFill>
                            <a:schemeClr val="tx1"/>
                          </a:solidFill>
                          <a:effectLst/>
                          <a:latin typeface="Arial" charset="0"/>
                        </a:rPr>
                        <a:t>308</a:t>
                      </a: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r h="45714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char</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System.</a:t>
                      </a:r>
                      <a:r>
                        <a:rPr kumimoji="0" lang="en-US" sz="1200" b="1" i="0" u="none" strike="noStrike" cap="none" normalizeH="0" baseline="0" dirty="0" err="1">
                          <a:ln>
                            <a:noFill/>
                          </a:ln>
                          <a:solidFill>
                            <a:schemeClr val="tx1"/>
                          </a:solidFill>
                          <a:effectLst/>
                          <a:latin typeface="Arial" charset="0"/>
                        </a:rPr>
                        <a:t>Char</a:t>
                      </a:r>
                      <a:r>
                        <a:rPr kumimoji="0" lang="en-US" sz="1200" b="0" i="0" u="none" strike="noStrike" cap="none" normalizeH="0" baseline="0" dirty="0">
                          <a:ln>
                            <a:noFill/>
                          </a:ln>
                          <a:solidFill>
                            <a:schemeClr val="tx1"/>
                          </a:solidFill>
                          <a:effectLst/>
                          <a:latin typeface="Arial" charset="0"/>
                        </a:rPr>
                        <a:t> </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2</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a:t>
                      </a:r>
                      <a:r>
                        <a:rPr kumimoji="0" lang="tr-TR" sz="1200" b="0" i="0" u="none" strike="noStrike" cap="none" normalizeH="0" baseline="0" dirty="0">
                          <a:ln>
                            <a:noFill/>
                          </a:ln>
                          <a:solidFill>
                            <a:schemeClr val="tx1"/>
                          </a:solidFill>
                          <a:effectLst/>
                          <a:latin typeface="Arial" charset="0"/>
                        </a:rPr>
                        <a:t>Tek karakter</a:t>
                      </a:r>
                      <a:r>
                        <a:rPr kumimoji="0" lang="en-US" sz="1200" b="0" i="0" u="none" strike="noStrike" cap="none" normalizeH="0" baseline="0" dirty="0">
                          <a:ln>
                            <a:noFill/>
                          </a:ln>
                          <a:solidFill>
                            <a:schemeClr val="tx1"/>
                          </a:solidFill>
                          <a:effectLst/>
                          <a:latin typeface="Arial" charset="0"/>
                        </a:rPr>
                        <a:t>, </a:t>
                      </a:r>
                      <a:r>
                        <a:rPr kumimoji="0" lang="tr-TR" sz="1200" b="0" i="0" u="none" strike="noStrike" cap="none" normalizeH="0" baseline="0" dirty="0">
                          <a:ln>
                            <a:noFill/>
                          </a:ln>
                          <a:solidFill>
                            <a:schemeClr val="tx1"/>
                          </a:solidFill>
                          <a:effectLst/>
                          <a:latin typeface="Arial" charset="0"/>
                        </a:rPr>
                        <a:t> </a:t>
                      </a:r>
                      <a:r>
                        <a:rPr kumimoji="0" lang="tr-TR" sz="1200" b="0" i="0" u="none" strike="noStrike" cap="none" normalizeH="0" baseline="0" dirty="0" err="1">
                          <a:ln>
                            <a:noFill/>
                          </a:ln>
                          <a:solidFill>
                            <a:schemeClr val="tx1"/>
                          </a:solidFill>
                          <a:effectLst/>
                          <a:latin typeface="Arial" charset="0"/>
                        </a:rPr>
                        <a:t>Integer</a:t>
                      </a:r>
                      <a:r>
                        <a:rPr kumimoji="0" lang="tr-TR" sz="1200" b="0" i="0" u="none" strike="noStrike" cap="none" normalizeH="0" baseline="0" dirty="0">
                          <a:ln>
                            <a:noFill/>
                          </a:ln>
                          <a:solidFill>
                            <a:schemeClr val="tx1"/>
                          </a:solidFill>
                          <a:effectLst/>
                          <a:latin typeface="Arial" charset="0"/>
                        </a:rPr>
                        <a:t> olarak tutulur (</a:t>
                      </a:r>
                      <a:r>
                        <a:rPr kumimoji="0" lang="en-US" sz="1200" b="0" i="0" u="none" strike="noStrike" cap="none" normalizeH="0" baseline="0" dirty="0">
                          <a:ln>
                            <a:noFill/>
                          </a:ln>
                          <a:solidFill>
                            <a:schemeClr val="tx1"/>
                          </a:solidFill>
                          <a:effectLst/>
                          <a:latin typeface="Arial" charset="0"/>
                        </a:rPr>
                        <a:t>between </a:t>
                      </a:r>
                      <a:r>
                        <a:rPr kumimoji="0" lang="tr-TR"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a:ln>
                            <a:noFill/>
                          </a:ln>
                          <a:solidFill>
                            <a:schemeClr val="tx1"/>
                          </a:solidFill>
                          <a:effectLst/>
                          <a:latin typeface="Arial" charset="0"/>
                        </a:rPr>
                        <a:t>0 and 65535 </a:t>
                      </a:r>
                      <a:r>
                        <a:rPr kumimoji="0" lang="tr-TR" sz="1200" b="0" i="0" u="none" strike="noStrike" cap="none" normalizeH="0" baseline="0" dirty="0">
                          <a:ln>
                            <a:noFill/>
                          </a:ln>
                          <a:solidFill>
                            <a:schemeClr val="tx1"/>
                          </a:solidFill>
                          <a:effectLst/>
                          <a:latin typeface="Arial" charset="0"/>
                        </a:rPr>
                        <a:t> (‘a’, ‘?’, ‘7’,’-’)</a:t>
                      </a: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2"/>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string</a:t>
                      </a: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System.</a:t>
                      </a:r>
                      <a:r>
                        <a:rPr kumimoji="0" lang="en-US" sz="1200" b="1" i="0" u="none" strike="noStrike" cap="none" normalizeH="0" baseline="0" dirty="0" err="1">
                          <a:ln>
                            <a:noFill/>
                          </a:ln>
                          <a:solidFill>
                            <a:schemeClr val="tx1"/>
                          </a:solidFill>
                          <a:effectLst/>
                          <a:latin typeface="Arial" charset="0"/>
                        </a:rPr>
                        <a:t>String</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dirty="0">
                          <a:ln>
                            <a:noFill/>
                          </a:ln>
                          <a:solidFill>
                            <a:schemeClr val="tx1"/>
                          </a:solidFill>
                          <a:effectLst/>
                          <a:latin typeface="Arial" charset="0"/>
                        </a:rPr>
                        <a:t>Karakterler dizisi (karakter sınır yoktur) “</a:t>
                      </a:r>
                      <a:r>
                        <a:rPr kumimoji="0" lang="tr-TR" sz="1200" b="0" i="0" u="none" strike="noStrike" cap="none" normalizeH="0" baseline="0" dirty="0" err="1">
                          <a:ln>
                            <a:noFill/>
                          </a:ln>
                          <a:solidFill>
                            <a:schemeClr val="tx1"/>
                          </a:solidFill>
                          <a:effectLst/>
                          <a:latin typeface="Arial" charset="0"/>
                        </a:rPr>
                        <a:t>halil</a:t>
                      </a:r>
                      <a:r>
                        <a:rPr kumimoji="0" lang="tr-TR" sz="1200" b="0" i="0" u="none" strike="noStrike" cap="none" normalizeH="0" baseline="0" dirty="0">
                          <a:ln>
                            <a:noFill/>
                          </a:ln>
                          <a:solidFill>
                            <a:schemeClr val="tx1"/>
                          </a:solidFill>
                          <a:effectLst/>
                          <a:latin typeface="Arial" charset="0"/>
                        </a:rPr>
                        <a:t>”, “123”</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3"/>
                  </a:ext>
                </a:extLst>
              </a:tr>
              <a:tr h="2742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cs typeface="Times New Roman" pitchFamily="18" charset="0"/>
                        </a:rPr>
                        <a:t> </a:t>
                      </a:r>
                      <a:r>
                        <a:rPr kumimoji="0" lang="en-US" sz="1200" b="1" i="0" u="none" strike="noStrike" cap="none" normalizeH="0" baseline="0" dirty="0" err="1">
                          <a:ln>
                            <a:noFill/>
                          </a:ln>
                          <a:solidFill>
                            <a:schemeClr val="tx1"/>
                          </a:solidFill>
                          <a:effectLst/>
                          <a:latin typeface="Arial" charset="0"/>
                          <a:cs typeface="Times New Roman" pitchFamily="18" charset="0"/>
                        </a:rPr>
                        <a:t>bool</a:t>
                      </a:r>
                      <a:endParaRPr kumimoji="0" lang="en-US" sz="1200" b="1" i="0" u="none" strike="noStrike" cap="none" normalizeH="0" baseline="0" dirty="0">
                        <a:ln>
                          <a:noFill/>
                        </a:ln>
                        <a:solidFill>
                          <a:schemeClr val="tx1"/>
                        </a:solidFill>
                        <a:effectLst/>
                        <a:latin typeface="Arial" charset="0"/>
                        <a:cs typeface="Times New Roman" pitchFamily="18"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rPr>
                        <a:t> </a:t>
                      </a:r>
                      <a:r>
                        <a:rPr kumimoji="0" lang="en-US" sz="1200" b="0" i="0" u="none" strike="noStrike" cap="none" normalizeH="0" baseline="0" dirty="0" err="1">
                          <a:ln>
                            <a:noFill/>
                          </a:ln>
                          <a:solidFill>
                            <a:schemeClr val="tx1"/>
                          </a:solidFill>
                          <a:effectLst/>
                          <a:latin typeface="Arial" charset="0"/>
                        </a:rPr>
                        <a:t>System.</a:t>
                      </a:r>
                      <a:r>
                        <a:rPr kumimoji="0" lang="en-US" sz="1200" b="1" i="0" u="none" strike="noStrike" cap="none" normalizeH="0" baseline="0" dirty="0" err="1">
                          <a:ln>
                            <a:noFill/>
                          </a:ln>
                          <a:solidFill>
                            <a:schemeClr val="tx1"/>
                          </a:solidFill>
                          <a:effectLst/>
                          <a:latin typeface="Arial" charset="0"/>
                        </a:rPr>
                        <a:t>Boolean</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dirty="0">
                          <a:ln>
                            <a:noFill/>
                          </a:ln>
                          <a:solidFill>
                            <a:schemeClr val="tx1"/>
                          </a:solidFill>
                          <a:effectLst/>
                          <a:latin typeface="Arial" charset="0"/>
                        </a:rPr>
                        <a:t>1</a:t>
                      </a:r>
                      <a:endParaRPr kumimoji="0" lang="en-US" sz="1200" b="1"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dirty="0" err="1">
                          <a:ln>
                            <a:noFill/>
                          </a:ln>
                          <a:solidFill>
                            <a:schemeClr val="tx1"/>
                          </a:solidFill>
                          <a:effectLst/>
                          <a:latin typeface="Arial" charset="0"/>
                        </a:rPr>
                        <a:t>true</a:t>
                      </a:r>
                      <a:r>
                        <a:rPr kumimoji="0" lang="tr-TR" sz="1200" b="0" i="0" u="none" strike="noStrike" cap="none" normalizeH="0" baseline="0" dirty="0">
                          <a:ln>
                            <a:noFill/>
                          </a:ln>
                          <a:solidFill>
                            <a:schemeClr val="tx1"/>
                          </a:solidFill>
                          <a:effectLst/>
                          <a:latin typeface="Arial" charset="0"/>
                        </a:rPr>
                        <a:t>  ve </a:t>
                      </a:r>
                      <a:r>
                        <a:rPr kumimoji="0" lang="tr-TR" sz="1200" b="0" i="0" u="none" strike="noStrike" cap="none" normalizeH="0" baseline="0" dirty="0" err="1">
                          <a:ln>
                            <a:noFill/>
                          </a:ln>
                          <a:solidFill>
                            <a:schemeClr val="tx1"/>
                          </a:solidFill>
                          <a:effectLst/>
                          <a:latin typeface="Arial" charset="0"/>
                        </a:rPr>
                        <a:t>false</a:t>
                      </a:r>
                      <a:endParaRPr kumimoji="0" lang="en-US" sz="1200" b="0" i="0" u="none" strike="noStrike" cap="none" normalizeH="0" baseline="0" dirty="0">
                        <a:ln>
                          <a:noFill/>
                        </a:ln>
                        <a:solidFill>
                          <a:schemeClr val="tx1"/>
                        </a:solidFill>
                        <a:effectLst/>
                        <a:latin typeface="Arial" charset="0"/>
                      </a:endParaRPr>
                    </a:p>
                  </a:txBody>
                  <a:tcPr marT="45715" marB="45715" horzOverflow="overflow">
                    <a:lnL w="12700" cap="flat" cmpd="sng" algn="ctr">
                      <a:solidFill>
                        <a:srgbClr val="999999"/>
                      </a:solidFill>
                      <a:prstDash val="solid"/>
                      <a:round/>
                      <a:headEnd type="none" w="med" len="med"/>
                      <a:tailEnd type="none" w="med" len="med"/>
                    </a:lnL>
                    <a:lnR w="0" cap="flat" cmpd="sng" algn="ctr">
                      <a:solidFill>
                        <a:srgbClr val="999999"/>
                      </a:solidFill>
                      <a:prstDash val="solid"/>
                      <a:round/>
                      <a:headEnd type="none" w="med" len="med"/>
                      <a:tailEnd type="none" w="med" len="med"/>
                    </a:lnR>
                    <a:lnT w="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4"/>
                  </a:ext>
                </a:extLst>
              </a:tr>
            </a:tbl>
          </a:graphicData>
        </a:graphic>
      </p:graphicFrame>
      <p:sp>
        <p:nvSpPr>
          <p:cNvPr id="5206" name="Rectangle 396"/>
          <p:cNvSpPr>
            <a:spLocks noChangeArrowheads="1"/>
          </p:cNvSpPr>
          <p:nvPr/>
        </p:nvSpPr>
        <p:spPr bwMode="auto">
          <a:xfrm>
            <a:off x="457200" y="1052513"/>
            <a:ext cx="8218488"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accent1"/>
              </a:buClr>
              <a:buSzPct val="65000"/>
              <a:buFont typeface="Wingdings" pitchFamily="2" charset="2"/>
              <a:buChar char="n"/>
            </a:pPr>
            <a:r>
              <a:rPr lang="tr-TR" sz="3000" dirty="0"/>
              <a:t>Data </a:t>
            </a:r>
            <a:r>
              <a:rPr lang="tr-TR" sz="3000" dirty="0" err="1"/>
              <a:t>Types</a:t>
            </a:r>
            <a:endParaRPr lang="en-US" sz="3000" dirty="0"/>
          </a:p>
        </p:txBody>
      </p:sp>
    </p:spTree>
    <p:extLst>
      <p:ext uri="{BB962C8B-B14F-4D97-AF65-F5344CB8AC3E}">
        <p14:creationId xmlns:p14="http://schemas.microsoft.com/office/powerpoint/2010/main" val="2038406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Başlık 1"/>
          <p:cNvSpPr>
            <a:spLocks noGrp="1"/>
          </p:cNvSpPr>
          <p:nvPr>
            <p:ph type="title"/>
          </p:nvPr>
        </p:nvSpPr>
        <p:spPr/>
        <p:txBody>
          <a:bodyPr/>
          <a:lstStyle/>
          <a:p>
            <a:r>
              <a:rPr lang="tr-TR" dirty="0" err="1"/>
              <a:t>Variables</a:t>
            </a:r>
            <a:endParaRPr lang="tr-TR" dirty="0"/>
          </a:p>
        </p:txBody>
      </p:sp>
      <p:sp>
        <p:nvSpPr>
          <p:cNvPr id="6147" name="İçerik Yer Tutucusu 2"/>
          <p:cNvSpPr>
            <a:spLocks noGrp="1"/>
          </p:cNvSpPr>
          <p:nvPr>
            <p:ph idx="1"/>
          </p:nvPr>
        </p:nvSpPr>
        <p:spPr>
          <a:xfrm>
            <a:off x="428625" y="1418555"/>
            <a:ext cx="8229600" cy="4530725"/>
          </a:xfrm>
        </p:spPr>
        <p:txBody>
          <a:bodyPr>
            <a:normAutofit fontScale="85000" lnSpcReduction="20000"/>
          </a:bodyPr>
          <a:lstStyle/>
          <a:p>
            <a:r>
              <a:rPr lang="en-US" dirty="0"/>
              <a:t>Most commonly used types</a:t>
            </a:r>
          </a:p>
          <a:p>
            <a:r>
              <a:rPr lang="tr-TR" sz="1600" dirty="0" err="1">
                <a:solidFill>
                  <a:srgbClr val="0000FF"/>
                </a:solidFill>
              </a:rPr>
              <a:t>int</a:t>
            </a:r>
            <a:r>
              <a:rPr lang="tr-TR" sz="1600" dirty="0"/>
              <a:t> x;</a:t>
            </a:r>
          </a:p>
          <a:p>
            <a:pPr marL="0" indent="0">
              <a:buNone/>
            </a:pPr>
            <a:r>
              <a:rPr lang="tr-TR" sz="1600" dirty="0"/>
              <a:t>           can be:</a:t>
            </a:r>
          </a:p>
          <a:p>
            <a:pPr lvl="1"/>
            <a:r>
              <a:rPr lang="tr-TR" sz="1600" dirty="0"/>
              <a:t>x =  0, 1, 10000, -4323, 100, </a:t>
            </a:r>
            <a:r>
              <a:rPr lang="en-US" sz="1600" dirty="0">
                <a:cs typeface="Times New Roman" pitchFamily="18" charset="0"/>
              </a:rPr>
              <a:t>2147483647</a:t>
            </a:r>
            <a:endParaRPr lang="tr-TR" sz="1600" dirty="0">
              <a:cs typeface="Times New Roman" pitchFamily="18" charset="0"/>
            </a:endParaRPr>
          </a:p>
          <a:p>
            <a:endParaRPr lang="tr-TR" sz="1600" dirty="0">
              <a:solidFill>
                <a:srgbClr val="0000FF"/>
              </a:solidFill>
              <a:cs typeface="Times New Roman" pitchFamily="18" charset="0"/>
            </a:endParaRPr>
          </a:p>
          <a:p>
            <a:r>
              <a:rPr lang="tr-TR" sz="1600" dirty="0" err="1">
                <a:solidFill>
                  <a:srgbClr val="0000FF"/>
                </a:solidFill>
                <a:cs typeface="Times New Roman" pitchFamily="18" charset="0"/>
              </a:rPr>
              <a:t>double</a:t>
            </a:r>
            <a:r>
              <a:rPr lang="tr-TR" sz="1600" dirty="0">
                <a:cs typeface="Times New Roman" pitchFamily="18" charset="0"/>
              </a:rPr>
              <a:t> y;</a:t>
            </a:r>
          </a:p>
          <a:p>
            <a:pPr marL="0" indent="0">
              <a:buNone/>
            </a:pPr>
            <a:r>
              <a:rPr lang="tr-TR" sz="1600" dirty="0"/>
              <a:t>           can be:</a:t>
            </a:r>
            <a:endParaRPr lang="tr-TR" sz="1600" dirty="0">
              <a:cs typeface="Times New Roman" pitchFamily="18" charset="0"/>
            </a:endParaRPr>
          </a:p>
          <a:p>
            <a:pPr lvl="1"/>
            <a:r>
              <a:rPr lang="tr-TR" sz="1600" dirty="0">
                <a:cs typeface="Times New Roman" pitchFamily="18" charset="0"/>
              </a:rPr>
              <a:t>y = 0,0, 1.5, 3.14,  0.0000005, -23232.0</a:t>
            </a:r>
            <a:endParaRPr lang="tr-TR" sz="1600" dirty="0">
              <a:solidFill>
                <a:srgbClr val="FF0000"/>
              </a:solidFill>
              <a:cs typeface="Times New Roman" pitchFamily="18" charset="0"/>
            </a:endParaRPr>
          </a:p>
          <a:p>
            <a:endParaRPr lang="tr-TR" sz="1600" dirty="0">
              <a:solidFill>
                <a:srgbClr val="0000FF"/>
              </a:solidFill>
            </a:endParaRPr>
          </a:p>
          <a:p>
            <a:r>
              <a:rPr lang="tr-TR" sz="1600" dirty="0" err="1">
                <a:solidFill>
                  <a:srgbClr val="0000FF"/>
                </a:solidFill>
              </a:rPr>
              <a:t>string</a:t>
            </a:r>
            <a:r>
              <a:rPr lang="tr-TR" sz="1600" dirty="0"/>
              <a:t> z;</a:t>
            </a:r>
          </a:p>
          <a:p>
            <a:pPr marL="0" indent="0">
              <a:buNone/>
            </a:pPr>
            <a:r>
              <a:rPr lang="tr-TR" sz="1600" dirty="0"/>
              <a:t>           can be:</a:t>
            </a:r>
          </a:p>
          <a:p>
            <a:pPr lvl="1"/>
            <a:r>
              <a:rPr lang="tr-TR" sz="1600" dirty="0"/>
              <a:t>z  = “”, “</a:t>
            </a:r>
            <a:r>
              <a:rPr lang="tr-TR" sz="1600" dirty="0" err="1"/>
              <a:t>mehmet</a:t>
            </a:r>
            <a:r>
              <a:rPr lang="tr-TR" sz="1600" dirty="0"/>
              <a:t>”, “3.sınıf”, “3.14”, “23 ocak 2003”, </a:t>
            </a:r>
          </a:p>
          <a:p>
            <a:pPr lvl="1">
              <a:buFont typeface="Wingdings" pitchFamily="2" charset="2"/>
              <a:buNone/>
            </a:pPr>
            <a:r>
              <a:rPr lang="tr-TR" sz="1600" dirty="0"/>
              <a:t>“C:\Program </a:t>
            </a:r>
            <a:r>
              <a:rPr lang="tr-TR" sz="1600" dirty="0" err="1"/>
              <a:t>Files</a:t>
            </a:r>
            <a:r>
              <a:rPr lang="tr-TR" sz="1600" dirty="0"/>
              <a:t>\Microsoft\</a:t>
            </a:r>
            <a:r>
              <a:rPr lang="tr-TR" sz="1600" dirty="0" err="1"/>
              <a:t>odev.doc</a:t>
            </a:r>
            <a:r>
              <a:rPr lang="tr-TR" sz="1600" dirty="0"/>
              <a:t>”</a:t>
            </a:r>
          </a:p>
          <a:p>
            <a:endParaRPr lang="tr-TR" sz="1600" dirty="0">
              <a:solidFill>
                <a:srgbClr val="0000FF"/>
              </a:solidFill>
            </a:endParaRPr>
          </a:p>
          <a:p>
            <a:r>
              <a:rPr lang="tr-TR" sz="1600" dirty="0" err="1">
                <a:solidFill>
                  <a:srgbClr val="0000FF"/>
                </a:solidFill>
              </a:rPr>
              <a:t>bool</a:t>
            </a:r>
            <a:r>
              <a:rPr lang="tr-TR" sz="1600" dirty="0"/>
              <a:t> t;</a:t>
            </a:r>
          </a:p>
          <a:p>
            <a:pPr marL="0" indent="0">
              <a:buNone/>
            </a:pPr>
            <a:r>
              <a:rPr lang="tr-TR" sz="1600" dirty="0"/>
              <a:t>           can be: </a:t>
            </a:r>
          </a:p>
          <a:p>
            <a:pPr lvl="1"/>
            <a:r>
              <a:rPr lang="tr-TR" sz="1600" dirty="0"/>
              <a:t>t = </a:t>
            </a:r>
            <a:r>
              <a:rPr lang="tr-TR" sz="1600" dirty="0" err="1">
                <a:solidFill>
                  <a:srgbClr val="0000FF"/>
                </a:solidFill>
              </a:rPr>
              <a:t>true</a:t>
            </a:r>
            <a:r>
              <a:rPr lang="tr-TR" sz="1600" dirty="0"/>
              <a:t> </a:t>
            </a:r>
            <a:r>
              <a:rPr lang="tr-TR" sz="1600" dirty="0" err="1"/>
              <a:t>or</a:t>
            </a:r>
            <a:r>
              <a:rPr lang="tr-TR" sz="1600" dirty="0"/>
              <a:t> </a:t>
            </a:r>
            <a:r>
              <a:rPr lang="tr-TR" sz="1600" dirty="0" err="1">
                <a:solidFill>
                  <a:srgbClr val="0000FF"/>
                </a:solidFill>
              </a:rPr>
              <a:t>false</a:t>
            </a:r>
            <a:endParaRPr lang="tr-TR" sz="1600" dirty="0">
              <a:solidFill>
                <a:srgbClr val="0000FF"/>
              </a:solidFill>
            </a:endParaRPr>
          </a:p>
          <a:p>
            <a:pPr marL="457200" lvl="1" indent="0">
              <a:buNone/>
            </a:pPr>
            <a:r>
              <a:rPr lang="tr-TR" sz="1600" dirty="0" err="1"/>
              <a:t>can’t</a:t>
            </a:r>
            <a:r>
              <a:rPr lang="tr-TR" sz="1600" dirty="0"/>
              <a:t> be (</a:t>
            </a:r>
            <a:r>
              <a:rPr lang="tr-TR" sz="1600" dirty="0" err="1"/>
              <a:t>there</a:t>
            </a:r>
            <a:r>
              <a:rPr lang="tr-TR" sz="1600" dirty="0"/>
              <a:t> </a:t>
            </a:r>
            <a:r>
              <a:rPr lang="tr-TR" sz="1600" dirty="0" err="1"/>
              <a:t>shall</a:t>
            </a:r>
            <a:r>
              <a:rPr lang="tr-TR" sz="1600" dirty="0"/>
              <a:t> be </a:t>
            </a:r>
            <a:r>
              <a:rPr lang="tr-TR" sz="1600" dirty="0" err="1"/>
              <a:t>no</a:t>
            </a:r>
            <a:r>
              <a:rPr lang="tr-TR" sz="1600" dirty="0"/>
              <a:t> </a:t>
            </a:r>
            <a:r>
              <a:rPr lang="tr-TR" sz="1600" dirty="0" err="1"/>
              <a:t>quotes</a:t>
            </a:r>
            <a:r>
              <a:rPr lang="tr-TR" sz="1600" dirty="0"/>
              <a:t>):</a:t>
            </a:r>
          </a:p>
          <a:p>
            <a:pPr lvl="1"/>
            <a:r>
              <a:rPr lang="tr-TR" sz="1600" dirty="0"/>
              <a:t>t = </a:t>
            </a:r>
            <a:r>
              <a:rPr lang="tr-TR" sz="1600" dirty="0">
                <a:solidFill>
                  <a:srgbClr val="A50021"/>
                </a:solidFill>
              </a:rPr>
              <a:t>“</a:t>
            </a:r>
            <a:r>
              <a:rPr lang="tr-TR" sz="1600" dirty="0" err="1">
                <a:solidFill>
                  <a:srgbClr val="A50021"/>
                </a:solidFill>
              </a:rPr>
              <a:t>false</a:t>
            </a:r>
            <a:r>
              <a:rPr lang="tr-TR" sz="1600" dirty="0">
                <a:solidFill>
                  <a:srgbClr val="A50021"/>
                </a:solidFill>
              </a:rPr>
              <a:t>”</a:t>
            </a:r>
            <a:r>
              <a:rPr lang="tr-TR" sz="1600" dirty="0"/>
              <a:t> </a:t>
            </a:r>
          </a:p>
        </p:txBody>
      </p:sp>
      <p:sp>
        <p:nvSpPr>
          <p:cNvPr id="6148" name="Slayt Numarası Yer Tutucusu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D91DAF4-D5C4-492D-968E-AA9025AE9CAC}" type="slidenum">
              <a:rPr lang="en-US" altLang="en-US" smtClean="0">
                <a:latin typeface="Garamond" pitchFamily="18" charset="0"/>
              </a:rPr>
              <a:pPr eaLnBrk="1" hangingPunct="1"/>
              <a:t>34</a:t>
            </a:fld>
            <a:endParaRPr lang="en-US" altLang="en-US">
              <a:latin typeface="Garamond" pitchFamily="18" charset="0"/>
            </a:endParaRPr>
          </a:p>
        </p:txBody>
      </p:sp>
      <p:sp>
        <p:nvSpPr>
          <p:cNvPr id="5" name="TextBox 4"/>
          <p:cNvSpPr txBox="1"/>
          <p:nvPr/>
        </p:nvSpPr>
        <p:spPr>
          <a:xfrm>
            <a:off x="4643438" y="2071688"/>
            <a:ext cx="4000500" cy="954107"/>
          </a:xfrm>
          <a:prstGeom prst="rect">
            <a:avLst/>
          </a:prstGeom>
          <a:solidFill>
            <a:schemeClr val="bg1">
              <a:lumMod val="95000"/>
            </a:schemeClr>
          </a:solidFill>
          <a:ln>
            <a:solidFill>
              <a:schemeClr val="tx1">
                <a:lumMod val="65000"/>
                <a:lumOff val="35000"/>
              </a:schemeClr>
            </a:solidFill>
          </a:ln>
        </p:spPr>
        <p:txBody>
          <a:bodyPr>
            <a:spAutoFit/>
          </a:bodyPr>
          <a:lstStyle/>
          <a:p>
            <a:pPr>
              <a:defRPr/>
            </a:pPr>
            <a:r>
              <a:rPr lang="tr-TR" sz="1400" dirty="0"/>
              <a:t>Using </a:t>
            </a:r>
            <a:r>
              <a:rPr lang="tr-TR" sz="1400" dirty="0" err="1"/>
              <a:t>period</a:t>
            </a:r>
            <a:r>
              <a:rPr lang="tr-TR" sz="1400" dirty="0"/>
              <a:t> (1.2) </a:t>
            </a:r>
            <a:r>
              <a:rPr lang="tr-TR" sz="1400" dirty="0" err="1"/>
              <a:t>or</a:t>
            </a:r>
            <a:r>
              <a:rPr lang="tr-TR" sz="1400" dirty="0"/>
              <a:t> </a:t>
            </a:r>
            <a:r>
              <a:rPr lang="tr-TR" sz="1400" dirty="0" err="1"/>
              <a:t>comma</a:t>
            </a:r>
            <a:r>
              <a:rPr lang="tr-TR" sz="1400" dirty="0"/>
              <a:t> (1,2) as </a:t>
            </a:r>
            <a:r>
              <a:rPr lang="tr-TR" sz="1400" dirty="0" err="1"/>
              <a:t>separator</a:t>
            </a:r>
            <a:r>
              <a:rPr lang="tr-TR" sz="1400" dirty="0"/>
              <a:t> </a:t>
            </a:r>
            <a:r>
              <a:rPr lang="tr-TR" sz="1400" dirty="0" err="1"/>
              <a:t>for</a:t>
            </a:r>
            <a:r>
              <a:rPr lang="tr-TR" sz="1400" dirty="0"/>
              <a:t> </a:t>
            </a:r>
            <a:r>
              <a:rPr lang="tr-TR" sz="1400" dirty="0" err="1"/>
              <a:t>decimal</a:t>
            </a:r>
            <a:r>
              <a:rPr lang="tr-TR" sz="1400" dirty="0"/>
              <a:t> </a:t>
            </a:r>
            <a:r>
              <a:rPr lang="tr-TR" sz="1400" dirty="0" err="1"/>
              <a:t>numbers</a:t>
            </a:r>
            <a:r>
              <a:rPr lang="tr-TR" sz="1400" dirty="0"/>
              <a:t> </a:t>
            </a:r>
            <a:r>
              <a:rPr lang="tr-TR" sz="1400" dirty="0" err="1"/>
              <a:t>varies</a:t>
            </a:r>
            <a:r>
              <a:rPr lang="tr-TR" sz="1400" dirty="0"/>
              <a:t> </a:t>
            </a:r>
            <a:r>
              <a:rPr lang="tr-TR" sz="1400" dirty="0" err="1"/>
              <a:t>from</a:t>
            </a:r>
            <a:r>
              <a:rPr lang="tr-TR" sz="1400" dirty="0"/>
              <a:t> </a:t>
            </a:r>
            <a:r>
              <a:rPr lang="tr-TR" sz="1400" dirty="0" err="1"/>
              <a:t>machine</a:t>
            </a:r>
            <a:r>
              <a:rPr lang="tr-TR" sz="1400" dirty="0"/>
              <a:t> </a:t>
            </a:r>
            <a:r>
              <a:rPr lang="tr-TR" sz="1400" dirty="0" err="1"/>
              <a:t>to</a:t>
            </a:r>
            <a:r>
              <a:rPr lang="tr-TR" sz="1400" dirty="0"/>
              <a:t> </a:t>
            </a:r>
            <a:r>
              <a:rPr lang="tr-TR" sz="1400" dirty="0" err="1"/>
              <a:t>machine</a:t>
            </a:r>
            <a:r>
              <a:rPr lang="tr-TR" sz="1400" dirty="0"/>
              <a:t> </a:t>
            </a:r>
            <a:r>
              <a:rPr lang="tr-TR" sz="1400" dirty="0" err="1"/>
              <a:t>and</a:t>
            </a:r>
            <a:r>
              <a:rPr lang="tr-TR" sz="1400" dirty="0"/>
              <a:t> is not </a:t>
            </a:r>
            <a:r>
              <a:rPr lang="tr-TR" sz="1400" dirty="0" err="1"/>
              <a:t>specific</a:t>
            </a:r>
            <a:r>
              <a:rPr lang="tr-TR" sz="1400" dirty="0"/>
              <a:t> </a:t>
            </a:r>
            <a:r>
              <a:rPr lang="tr-TR" sz="1400" dirty="0" err="1"/>
              <a:t>to</a:t>
            </a:r>
            <a:r>
              <a:rPr lang="tr-TR" sz="1400" dirty="0"/>
              <a:t> C#. </a:t>
            </a:r>
            <a:r>
              <a:rPr lang="tr-TR" sz="1400" dirty="0" err="1"/>
              <a:t>We'll</a:t>
            </a:r>
            <a:r>
              <a:rPr lang="tr-TR" sz="1400" dirty="0"/>
              <a:t> </a:t>
            </a:r>
            <a:r>
              <a:rPr lang="tr-TR" sz="1400" dirty="0" err="1"/>
              <a:t>use</a:t>
            </a:r>
            <a:r>
              <a:rPr lang="tr-TR" sz="1400" dirty="0"/>
              <a:t> a </a:t>
            </a:r>
            <a:r>
              <a:rPr lang="tr-TR" sz="1400" dirty="0" err="1"/>
              <a:t>period</a:t>
            </a:r>
            <a:r>
              <a:rPr lang="tr-TR" sz="1400" dirty="0"/>
              <a:t>, but </a:t>
            </a:r>
            <a:r>
              <a:rPr lang="tr-TR" sz="1400" dirty="0" err="1"/>
              <a:t>you</a:t>
            </a:r>
            <a:r>
              <a:rPr lang="tr-TR" sz="1400" dirty="0"/>
              <a:t> can </a:t>
            </a:r>
            <a:r>
              <a:rPr lang="tr-TR" sz="1400" dirty="0" err="1"/>
              <a:t>see</a:t>
            </a:r>
            <a:r>
              <a:rPr lang="tr-TR" sz="1400" dirty="0"/>
              <a:t> </a:t>
            </a:r>
            <a:r>
              <a:rPr lang="tr-TR" sz="1400" dirty="0" err="1"/>
              <a:t>commas</a:t>
            </a:r>
            <a:r>
              <a:rPr lang="tr-TR" sz="1400" dirty="0"/>
              <a:t> on </a:t>
            </a:r>
            <a:r>
              <a:rPr lang="tr-TR" sz="1400" dirty="0" err="1"/>
              <a:t>the</a:t>
            </a:r>
            <a:r>
              <a:rPr lang="tr-TR" sz="1400" dirty="0"/>
              <a:t> </a:t>
            </a:r>
            <a:r>
              <a:rPr lang="tr-TR" sz="1400" dirty="0" err="1"/>
              <a:t>screen</a:t>
            </a:r>
            <a:r>
              <a:rPr lang="tr-TR" sz="1400" dirty="0"/>
              <a:t>!</a:t>
            </a:r>
          </a:p>
        </p:txBody>
      </p:sp>
      <p:pic>
        <p:nvPicPr>
          <p:cNvPr id="6" name="Picture 5" descr="Untitled-1.jpg"/>
          <p:cNvPicPr>
            <a:picLocks noChangeAspect="1"/>
          </p:cNvPicPr>
          <p:nvPr/>
        </p:nvPicPr>
        <p:blipFill>
          <a:blip r:embed="rId2" cstate="print"/>
          <a:stretch>
            <a:fillRect/>
          </a:stretch>
        </p:blipFill>
        <p:spPr>
          <a:xfrm>
            <a:off x="6072188" y="3286125"/>
            <a:ext cx="2571750" cy="1533525"/>
          </a:xfrm>
          <a:prstGeom prst="rect">
            <a:avLst/>
          </a:prstGeom>
          <a:ln>
            <a:solidFill>
              <a:schemeClr val="tx1">
                <a:lumMod val="65000"/>
                <a:lumOff val="35000"/>
              </a:schemeClr>
            </a:solidFill>
          </a:ln>
        </p:spPr>
      </p:pic>
    </p:spTree>
    <p:extLst>
      <p:ext uri="{BB962C8B-B14F-4D97-AF65-F5344CB8AC3E}">
        <p14:creationId xmlns:p14="http://schemas.microsoft.com/office/powerpoint/2010/main" val="404199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Başlık 1"/>
          <p:cNvSpPr>
            <a:spLocks noGrp="1"/>
          </p:cNvSpPr>
          <p:nvPr>
            <p:ph type="title"/>
          </p:nvPr>
        </p:nvSpPr>
        <p:spPr/>
        <p:txBody>
          <a:bodyPr/>
          <a:lstStyle/>
          <a:p>
            <a:r>
              <a:rPr lang="tr-TR" dirty="0" err="1"/>
              <a:t>Variables</a:t>
            </a:r>
            <a:endParaRPr lang="tr-TR" dirty="0"/>
          </a:p>
        </p:txBody>
      </p:sp>
      <p:sp>
        <p:nvSpPr>
          <p:cNvPr id="7171" name="İçerik Yer Tutucusu 2"/>
          <p:cNvSpPr>
            <a:spLocks noGrp="1"/>
          </p:cNvSpPr>
          <p:nvPr>
            <p:ph idx="1"/>
          </p:nvPr>
        </p:nvSpPr>
        <p:spPr>
          <a:xfrm>
            <a:off x="428625" y="1143000"/>
            <a:ext cx="8229600" cy="4530725"/>
          </a:xfrm>
        </p:spPr>
        <p:txBody>
          <a:bodyPr/>
          <a:lstStyle/>
          <a:p>
            <a:r>
              <a:rPr lang="tr-TR" dirty="0"/>
              <a:t>How </a:t>
            </a:r>
            <a:r>
              <a:rPr lang="tr-TR" dirty="0" err="1"/>
              <a:t>to</a:t>
            </a:r>
            <a:r>
              <a:rPr lang="tr-TR" dirty="0"/>
              <a:t> </a:t>
            </a:r>
            <a:r>
              <a:rPr lang="tr-TR" dirty="0" err="1"/>
              <a:t>Use</a:t>
            </a:r>
            <a:r>
              <a:rPr lang="tr-TR" dirty="0"/>
              <a:t> </a:t>
            </a:r>
            <a:r>
              <a:rPr lang="tr-TR" dirty="0" err="1"/>
              <a:t>Variables</a:t>
            </a:r>
            <a:r>
              <a:rPr lang="tr-TR" dirty="0"/>
              <a:t>?</a:t>
            </a:r>
          </a:p>
          <a:p>
            <a:pPr lvl="1"/>
            <a:r>
              <a:rPr lang="tr-TR" sz="1600" dirty="0"/>
              <a:t>First </a:t>
            </a:r>
            <a:r>
              <a:rPr lang="tr-TR" sz="1600" dirty="0" err="1"/>
              <a:t>you</a:t>
            </a:r>
            <a:r>
              <a:rPr lang="tr-TR" sz="1600" dirty="0"/>
              <a:t> </a:t>
            </a:r>
            <a:r>
              <a:rPr lang="tr-TR" sz="1600" dirty="0" err="1"/>
              <a:t>need</a:t>
            </a:r>
            <a:r>
              <a:rPr lang="tr-TR" sz="1600" dirty="0"/>
              <a:t> </a:t>
            </a:r>
            <a:r>
              <a:rPr lang="tr-TR" sz="1600" dirty="0" err="1"/>
              <a:t>to</a:t>
            </a:r>
            <a:r>
              <a:rPr lang="tr-TR" sz="1600" dirty="0"/>
              <a:t> define it (</a:t>
            </a:r>
            <a:r>
              <a:rPr lang="tr-TR" sz="1600" dirty="0" err="1"/>
              <a:t>specifying</a:t>
            </a:r>
            <a:r>
              <a:rPr lang="tr-TR" sz="1600" dirty="0"/>
              <a:t> </a:t>
            </a:r>
            <a:r>
              <a:rPr lang="tr-TR" sz="1600" dirty="0" err="1"/>
              <a:t>its</a:t>
            </a:r>
            <a:r>
              <a:rPr lang="tr-TR" sz="1600" dirty="0"/>
              <a:t> name </a:t>
            </a:r>
            <a:r>
              <a:rPr lang="tr-TR" sz="1600" dirty="0" err="1"/>
              <a:t>and</a:t>
            </a:r>
            <a:r>
              <a:rPr lang="tr-TR" sz="1600" dirty="0"/>
              <a:t> </a:t>
            </a:r>
            <a:r>
              <a:rPr lang="tr-TR" sz="1600" dirty="0" err="1"/>
              <a:t>type</a:t>
            </a:r>
            <a:r>
              <a:rPr lang="tr-TR" sz="1600" dirty="0"/>
              <a:t>)</a:t>
            </a:r>
          </a:p>
          <a:p>
            <a:pPr lvl="1">
              <a:buFont typeface="Wingdings" pitchFamily="2" charset="2"/>
              <a:buNone/>
            </a:pPr>
            <a:r>
              <a:rPr lang="tr-TR" sz="1600" dirty="0">
                <a:latin typeface="Courier New" pitchFamily="49" charset="0"/>
                <a:cs typeface="Courier New" pitchFamily="49" charset="0"/>
              </a:rPr>
              <a:t>		{</a:t>
            </a:r>
          </a:p>
          <a:p>
            <a:pPr lvl="1">
              <a:buFont typeface="Wingdings" pitchFamily="2" charset="2"/>
              <a:buNone/>
            </a:pPr>
            <a:r>
              <a:rPr lang="tr-TR" sz="1600" dirty="0">
                <a:latin typeface="Courier New" pitchFamily="49" charset="0"/>
                <a:cs typeface="Courier New" pitchFamily="49" charset="0"/>
              </a:rPr>
              <a:t>         </a:t>
            </a:r>
            <a:r>
              <a:rPr lang="tr-TR" sz="1600" dirty="0">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myInteger;</a:t>
            </a:r>
          </a:p>
          <a:p>
            <a:pPr lvl="1">
              <a:buFont typeface="Wingdings" pitchFamily="2" charset="2"/>
              <a:buNone/>
            </a:pPr>
            <a:r>
              <a:rPr lang="tr-TR" sz="1600" dirty="0">
                <a:latin typeface="Courier New" pitchFamily="49" charset="0"/>
                <a:cs typeface="Courier New" pitchFamily="49" charset="0"/>
              </a:rPr>
              <a:t>         </a:t>
            </a:r>
            <a:r>
              <a:rPr lang="tr-TR" sz="1600" dirty="0">
                <a:solidFill>
                  <a:srgbClr val="0000FF"/>
                </a:solidFill>
                <a:latin typeface="Courier New" pitchFamily="49" charset="0"/>
                <a:cs typeface="Courier New" pitchFamily="49" charset="0"/>
              </a:rPr>
              <a:t>string</a:t>
            </a:r>
            <a:r>
              <a:rPr lang="tr-TR" sz="1600" dirty="0">
                <a:latin typeface="Courier New" pitchFamily="49" charset="0"/>
                <a:cs typeface="Courier New" pitchFamily="49" charset="0"/>
              </a:rPr>
              <a:t> myString;</a:t>
            </a:r>
          </a:p>
          <a:p>
            <a:pPr lvl="1"/>
            <a:r>
              <a:rPr lang="tr-TR" sz="1600" dirty="0" err="1"/>
              <a:t>Then</a:t>
            </a:r>
            <a:r>
              <a:rPr lang="tr-TR" sz="1600" dirty="0"/>
              <a:t> </a:t>
            </a:r>
            <a:r>
              <a:rPr lang="tr-TR" sz="1600" dirty="0" err="1"/>
              <a:t>the</a:t>
            </a:r>
            <a:r>
              <a:rPr lang="tr-TR" sz="1600" dirty="0"/>
              <a:t> </a:t>
            </a:r>
            <a:r>
              <a:rPr lang="tr-TR" sz="1600" dirty="0" err="1"/>
              <a:t>value</a:t>
            </a:r>
            <a:r>
              <a:rPr lang="tr-TR" sz="1600" dirty="0"/>
              <a:t> has </a:t>
            </a:r>
            <a:r>
              <a:rPr lang="tr-TR" sz="1600" dirty="0" err="1"/>
              <a:t>to</a:t>
            </a:r>
            <a:r>
              <a:rPr lang="tr-TR" sz="1600" dirty="0"/>
              <a:t> </a:t>
            </a:r>
            <a:r>
              <a:rPr lang="tr-TR" sz="1600" u="sng" dirty="0"/>
              <a:t>be</a:t>
            </a:r>
            <a:r>
              <a:rPr lang="tr-TR" sz="1600" dirty="0"/>
              <a:t> </a:t>
            </a:r>
            <a:r>
              <a:rPr lang="tr-TR" sz="1600" dirty="0" err="1"/>
              <a:t>assigned</a:t>
            </a:r>
            <a:r>
              <a:rPr lang="tr-TR" sz="1600" dirty="0"/>
              <a:t> , </a:t>
            </a:r>
            <a:r>
              <a:rPr lang="tr-TR" sz="1600" dirty="0" err="1"/>
              <a:t>you</a:t>
            </a:r>
            <a:r>
              <a:rPr lang="tr-TR" sz="1600" dirty="0"/>
              <a:t> can </a:t>
            </a:r>
            <a:r>
              <a:rPr lang="tr-TR" sz="1600" dirty="0" err="1"/>
              <a:t>use</a:t>
            </a:r>
            <a:r>
              <a:rPr lang="tr-TR" sz="1600" dirty="0"/>
              <a:t> </a:t>
            </a:r>
            <a:r>
              <a:rPr lang="tr-TR" sz="1600" dirty="0" err="1"/>
              <a:t>this</a:t>
            </a:r>
            <a:r>
              <a:rPr lang="tr-TR" sz="1600" dirty="0"/>
              <a:t> </a:t>
            </a:r>
            <a:r>
              <a:rPr lang="tr-TR" sz="1600" dirty="0" err="1"/>
              <a:t>value</a:t>
            </a:r>
            <a:r>
              <a:rPr lang="tr-TR" sz="1600" dirty="0"/>
              <a:t> </a:t>
            </a:r>
            <a:r>
              <a:rPr lang="tr-TR" sz="1600" dirty="0" err="1"/>
              <a:t>later</a:t>
            </a:r>
            <a:endParaRPr lang="tr-TR" sz="1600" dirty="0"/>
          </a:p>
          <a:p>
            <a:pPr lvl="1">
              <a:buFont typeface="Wingdings" pitchFamily="2" charset="2"/>
              <a:buNone/>
            </a:pPr>
            <a:r>
              <a:rPr lang="tr-TR" sz="1600" dirty="0">
                <a:latin typeface="Courier New" pitchFamily="49" charset="0"/>
                <a:cs typeface="Courier New" pitchFamily="49" charset="0"/>
              </a:rPr>
              <a:t> 		    myInteger = 17;</a:t>
            </a:r>
          </a:p>
          <a:p>
            <a:pPr lvl="1">
              <a:buFont typeface="Wingdings" pitchFamily="2" charset="2"/>
              <a:buNone/>
            </a:pPr>
            <a:r>
              <a:rPr lang="tr-TR" sz="1600" dirty="0">
                <a:latin typeface="Courier New" pitchFamily="49" charset="0"/>
                <a:cs typeface="Courier New" pitchFamily="49" charset="0"/>
              </a:rPr>
              <a:t>         myString = “My Age =”;</a:t>
            </a:r>
          </a:p>
          <a:p>
            <a:pPr lvl="1">
              <a:buFont typeface="Wingdings" pitchFamily="2" charset="2"/>
              <a:buNone/>
            </a:pPr>
            <a:r>
              <a:rPr lang="tr-TR" sz="1600" dirty="0">
                <a:latin typeface="Courier New" pitchFamily="49" charset="0"/>
                <a:cs typeface="Courier New" pitchFamily="49" charset="0"/>
              </a:rPr>
              <a:t>         Messagebox.Show(myString + myInteger);</a:t>
            </a:r>
            <a:br>
              <a:rPr lang="tr-TR" sz="1600" dirty="0">
                <a:latin typeface="Courier New" pitchFamily="49" charset="0"/>
                <a:cs typeface="Courier New" pitchFamily="49" charset="0"/>
              </a:rPr>
            </a:br>
            <a:r>
              <a:rPr lang="tr-TR" sz="1600" dirty="0">
                <a:latin typeface="Courier New" pitchFamily="49" charset="0"/>
                <a:cs typeface="Courier New" pitchFamily="49" charset="0"/>
              </a:rPr>
              <a:t>    }</a:t>
            </a:r>
            <a:endParaRPr lang="tr-TR" sz="1600" dirty="0"/>
          </a:p>
          <a:p>
            <a:pPr lvl="1"/>
            <a:r>
              <a:rPr lang="tr-TR" sz="1600" dirty="0"/>
              <a:t>A </a:t>
            </a:r>
            <a:r>
              <a:rPr lang="tr-TR" sz="1600" dirty="0" err="1"/>
              <a:t>variable</a:t>
            </a:r>
            <a:r>
              <a:rPr lang="tr-TR" sz="1600" dirty="0"/>
              <a:t> </a:t>
            </a:r>
            <a:r>
              <a:rPr lang="tr-TR" sz="1600" dirty="0" err="1"/>
              <a:t>that</a:t>
            </a:r>
            <a:r>
              <a:rPr lang="tr-TR" sz="1600" dirty="0"/>
              <a:t> is not </a:t>
            </a:r>
            <a:r>
              <a:rPr lang="tr-TR" sz="1600" dirty="0" err="1"/>
              <a:t>initialized</a:t>
            </a:r>
            <a:r>
              <a:rPr lang="tr-TR" sz="1600" dirty="0"/>
              <a:t> </a:t>
            </a:r>
            <a:r>
              <a:rPr lang="tr-TR" sz="1600" dirty="0" err="1"/>
              <a:t>cannot</a:t>
            </a:r>
            <a:r>
              <a:rPr lang="tr-TR" sz="1600" dirty="0"/>
              <a:t> be </a:t>
            </a:r>
            <a:r>
              <a:rPr lang="tr-TR" sz="1600" dirty="0" err="1"/>
              <a:t>read</a:t>
            </a:r>
            <a:r>
              <a:rPr lang="tr-TR" sz="1600" dirty="0"/>
              <a:t>! </a:t>
            </a:r>
            <a:r>
              <a:rPr lang="tr-TR" sz="1600" dirty="0" err="1"/>
              <a:t>Gives</a:t>
            </a:r>
            <a:r>
              <a:rPr lang="tr-TR" sz="1600" dirty="0"/>
              <a:t> </a:t>
            </a:r>
            <a:r>
              <a:rPr lang="tr-TR" sz="1600" dirty="0" err="1"/>
              <a:t>Error</a:t>
            </a:r>
            <a:endParaRPr lang="tr-TR" sz="1600" dirty="0"/>
          </a:p>
          <a:p>
            <a:pPr lvl="3">
              <a:buFont typeface="Wingdings" pitchFamily="2" charset="2"/>
              <a:buNone/>
            </a:pPr>
            <a:r>
              <a:rPr lang="tr-TR" sz="1600" dirty="0">
                <a:solidFill>
                  <a:srgbClr val="0000FF"/>
                </a:solidFill>
                <a:latin typeface="Courier New" pitchFamily="49" charset="0"/>
                <a:cs typeface="Courier New" pitchFamily="49" charset="0"/>
              </a:rPr>
              <a:t> string</a:t>
            </a:r>
            <a:r>
              <a:rPr lang="tr-TR" sz="1600" dirty="0">
                <a:latin typeface="Courier New" pitchFamily="49" charset="0"/>
                <a:cs typeface="Courier New" pitchFamily="49" charset="0"/>
              </a:rPr>
              <a:t> myString;</a:t>
            </a:r>
          </a:p>
          <a:p>
            <a:pPr lvl="3">
              <a:buFont typeface="Wingdings" pitchFamily="2" charset="2"/>
              <a:buNone/>
            </a:pPr>
            <a:r>
              <a:rPr lang="tr-TR" sz="1600" dirty="0">
                <a:latin typeface="Courier New" pitchFamily="49" charset="0"/>
                <a:cs typeface="Courier New" pitchFamily="49" charset="0"/>
              </a:rPr>
              <a:t> Messagebox.Show(myString);  </a:t>
            </a:r>
            <a:r>
              <a:rPr lang="tr-TR" sz="1600" dirty="0">
                <a:solidFill>
                  <a:srgbClr val="FF0000"/>
                </a:solidFill>
                <a:latin typeface="Courier New" pitchFamily="49" charset="0"/>
                <a:cs typeface="Courier New" pitchFamily="49" charset="0"/>
              </a:rPr>
              <a:t>X ERROR</a:t>
            </a:r>
            <a:br>
              <a:rPr lang="tr-TR" sz="1000" dirty="0">
                <a:latin typeface="Courier New" pitchFamily="49" charset="0"/>
                <a:cs typeface="Courier New" pitchFamily="49" charset="0"/>
              </a:rPr>
            </a:br>
            <a:endParaRPr lang="tr-TR" sz="1000" dirty="0"/>
          </a:p>
          <a:p>
            <a:pPr lvl="1">
              <a:buFont typeface="Wingdings" pitchFamily="2" charset="2"/>
              <a:buNone/>
            </a:pPr>
            <a:endParaRPr lang="tr-TR" sz="1400" dirty="0"/>
          </a:p>
        </p:txBody>
      </p:sp>
      <p:sp>
        <p:nvSpPr>
          <p:cNvPr id="7172" name="Slayt Numarası Yer Tutucusu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ED30F59-33A5-45F5-9E1E-ED97387F122A}" type="slidenum">
              <a:rPr lang="en-US" altLang="en-US" smtClean="0">
                <a:latin typeface="Garamond" pitchFamily="18" charset="0"/>
              </a:rPr>
              <a:pPr eaLnBrk="1" hangingPunct="1"/>
              <a:t>35</a:t>
            </a:fld>
            <a:endParaRPr lang="en-US" altLang="en-US">
              <a:latin typeface="Garamond" pitchFamily="18" charset="0"/>
            </a:endParaRPr>
          </a:p>
        </p:txBody>
      </p:sp>
      <p:pic>
        <p:nvPicPr>
          <p:cNvPr id="2" name="Resim 1"/>
          <p:cNvPicPr>
            <a:picLocks noChangeAspect="1"/>
          </p:cNvPicPr>
          <p:nvPr/>
        </p:nvPicPr>
        <p:blipFill>
          <a:blip r:embed="rId3"/>
          <a:stretch>
            <a:fillRect/>
          </a:stretch>
        </p:blipFill>
        <p:spPr>
          <a:xfrm>
            <a:off x="1691680" y="5550808"/>
            <a:ext cx="4994945" cy="1196508"/>
          </a:xfrm>
          <a:prstGeom prst="rect">
            <a:avLst/>
          </a:prstGeom>
        </p:spPr>
      </p:pic>
    </p:spTree>
    <p:extLst>
      <p:ext uri="{BB962C8B-B14F-4D97-AF65-F5344CB8AC3E}">
        <p14:creationId xmlns:p14="http://schemas.microsoft.com/office/powerpoint/2010/main" val="1564742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4" name="İçerik Yer Tutucusu 3"/>
          <p:cNvPicPr>
            <a:picLocks noGrp="1" noChangeAspect="1"/>
          </p:cNvPicPr>
          <p:nvPr>
            <p:ph idx="1"/>
          </p:nvPr>
        </p:nvPicPr>
        <p:blipFill>
          <a:blip r:embed="rId2"/>
          <a:stretch>
            <a:fillRect/>
          </a:stretch>
        </p:blipFill>
        <p:spPr>
          <a:xfrm>
            <a:off x="755576" y="1639341"/>
            <a:ext cx="7057697" cy="4525963"/>
          </a:xfrm>
          <a:prstGeom prst="rect">
            <a:avLst/>
          </a:prstGeom>
        </p:spPr>
      </p:pic>
    </p:spTree>
    <p:extLst>
      <p:ext uri="{BB962C8B-B14F-4D97-AF65-F5344CB8AC3E}">
        <p14:creationId xmlns:p14="http://schemas.microsoft.com/office/powerpoint/2010/main" val="4397606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2525" y="27509"/>
            <a:ext cx="6838950" cy="3886200"/>
          </a:xfrm>
        </p:spPr>
      </p:pic>
      <p:pic>
        <p:nvPicPr>
          <p:cNvPr id="5" name="Resi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171" y="4160838"/>
            <a:ext cx="8554144" cy="2339265"/>
          </a:xfrm>
          <a:prstGeom prst="rect">
            <a:avLst/>
          </a:prstGeom>
        </p:spPr>
      </p:pic>
    </p:spTree>
    <p:extLst>
      <p:ext uri="{BB962C8B-B14F-4D97-AF65-F5344CB8AC3E}">
        <p14:creationId xmlns:p14="http://schemas.microsoft.com/office/powerpoint/2010/main" val="2387166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983" y="2204864"/>
            <a:ext cx="8532033" cy="2988766"/>
          </a:xfrm>
        </p:spPr>
      </p:pic>
    </p:spTree>
    <p:extLst>
      <p:ext uri="{BB962C8B-B14F-4D97-AF65-F5344CB8AC3E}">
        <p14:creationId xmlns:p14="http://schemas.microsoft.com/office/powerpoint/2010/main" val="21721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7F02A14-7599-43AA-A761-8B74FF9114DF}" type="slidenum">
              <a:rPr lang="en-US" altLang="en-US" smtClean="0">
                <a:latin typeface="Garamond" pitchFamily="18" charset="0"/>
              </a:rPr>
              <a:pPr eaLnBrk="1" hangingPunct="1"/>
              <a:t>39</a:t>
            </a:fld>
            <a:endParaRPr lang="en-US" altLang="en-US">
              <a:latin typeface="Garamond" pitchFamily="18" charset="0"/>
            </a:endParaRPr>
          </a:p>
        </p:txBody>
      </p:sp>
      <p:sp>
        <p:nvSpPr>
          <p:cNvPr id="8195" name="Rectangle 2"/>
          <p:cNvSpPr>
            <a:spLocks noGrp="1" noChangeArrowheads="1"/>
          </p:cNvSpPr>
          <p:nvPr>
            <p:ph type="title"/>
          </p:nvPr>
        </p:nvSpPr>
        <p:spPr/>
        <p:txBody>
          <a:bodyPr/>
          <a:lstStyle/>
          <a:p>
            <a:r>
              <a:rPr lang="tr-TR" dirty="0" err="1"/>
              <a:t>Variables</a:t>
            </a:r>
            <a:endParaRPr lang="en-US" dirty="0"/>
          </a:p>
        </p:txBody>
      </p:sp>
      <p:sp>
        <p:nvSpPr>
          <p:cNvPr id="8196" name="Rectangle 3"/>
          <p:cNvSpPr>
            <a:spLocks noGrp="1" noChangeArrowheads="1"/>
          </p:cNvSpPr>
          <p:nvPr>
            <p:ph type="body" idx="1"/>
          </p:nvPr>
        </p:nvSpPr>
        <p:spPr>
          <a:xfrm>
            <a:off x="457200" y="1125538"/>
            <a:ext cx="8229600" cy="4530725"/>
          </a:xfrm>
        </p:spPr>
        <p:txBody>
          <a:bodyPr>
            <a:normAutofit lnSpcReduction="10000"/>
          </a:bodyPr>
          <a:lstStyle/>
          <a:p>
            <a:r>
              <a:rPr lang="tr-TR" sz="3400" dirty="0" err="1"/>
              <a:t>Naming</a:t>
            </a:r>
            <a:r>
              <a:rPr lang="tr-TR" sz="3400" dirty="0"/>
              <a:t> </a:t>
            </a:r>
            <a:r>
              <a:rPr lang="tr-TR" sz="3400" dirty="0" err="1"/>
              <a:t>Conventions</a:t>
            </a:r>
            <a:endParaRPr lang="tr-TR" sz="3400" dirty="0"/>
          </a:p>
          <a:p>
            <a:pPr lvl="1"/>
            <a:r>
              <a:rPr lang="tr-TR" sz="1600" dirty="0" err="1"/>
              <a:t>The</a:t>
            </a:r>
            <a:r>
              <a:rPr lang="tr-TR" sz="1600" dirty="0"/>
              <a:t> </a:t>
            </a:r>
            <a:r>
              <a:rPr lang="tr-TR" sz="1600" dirty="0" err="1"/>
              <a:t>first</a:t>
            </a:r>
            <a:r>
              <a:rPr lang="tr-TR" sz="1600" dirty="0"/>
              <a:t> </a:t>
            </a:r>
            <a:r>
              <a:rPr lang="tr-TR" sz="1600" dirty="0" err="1"/>
              <a:t>character</a:t>
            </a:r>
            <a:r>
              <a:rPr lang="tr-TR" sz="1600" dirty="0"/>
              <a:t> </a:t>
            </a:r>
            <a:r>
              <a:rPr lang="tr-TR" sz="1600" dirty="0" err="1"/>
              <a:t>must</a:t>
            </a:r>
            <a:r>
              <a:rPr lang="tr-TR" sz="1600" dirty="0"/>
              <a:t> be a </a:t>
            </a:r>
            <a:r>
              <a:rPr lang="tr-TR" sz="1600" dirty="0" err="1"/>
              <a:t>letter</a:t>
            </a:r>
            <a:r>
              <a:rPr lang="tr-TR" sz="1600" dirty="0"/>
              <a:t>, </a:t>
            </a:r>
            <a:r>
              <a:rPr lang="tr-TR" sz="1600" dirty="0" err="1"/>
              <a:t>underscore</a:t>
            </a:r>
            <a:r>
              <a:rPr lang="tr-TR" sz="1600" dirty="0"/>
              <a:t> </a:t>
            </a:r>
            <a:r>
              <a:rPr lang="tr-TR" sz="1600" dirty="0" err="1"/>
              <a:t>character</a:t>
            </a:r>
            <a:r>
              <a:rPr lang="tr-TR" sz="1600" dirty="0"/>
              <a:t>, </a:t>
            </a:r>
            <a:r>
              <a:rPr lang="tr-TR" sz="1600" dirty="0" err="1"/>
              <a:t>or</a:t>
            </a:r>
            <a:r>
              <a:rPr lang="tr-TR" sz="1600" dirty="0"/>
              <a:t> </a:t>
            </a:r>
            <a:r>
              <a:rPr lang="tr-TR" sz="1600" dirty="0" err="1"/>
              <a:t>the</a:t>
            </a:r>
            <a:r>
              <a:rPr lang="tr-TR" sz="1600" dirty="0"/>
              <a:t> "@" </a:t>
            </a:r>
            <a:r>
              <a:rPr lang="tr-TR" sz="1600" dirty="0" err="1"/>
              <a:t>character</a:t>
            </a:r>
            <a:endParaRPr lang="tr-TR" sz="1600" dirty="0"/>
          </a:p>
          <a:p>
            <a:pPr marL="457200" lvl="1" indent="0">
              <a:buNone/>
            </a:pPr>
            <a:r>
              <a:rPr lang="tr-TR" sz="1600" dirty="0"/>
              <a:t>	A-Z, a-z, _, @</a:t>
            </a:r>
          </a:p>
          <a:p>
            <a:pPr lvl="1" eaLnBrk="1" hangingPunct="1"/>
            <a:endParaRPr lang="tr-TR" sz="1600" dirty="0"/>
          </a:p>
          <a:p>
            <a:pPr lvl="1"/>
            <a:r>
              <a:rPr lang="tr-TR" sz="1600" dirty="0" err="1"/>
              <a:t>Subsequent</a:t>
            </a:r>
            <a:r>
              <a:rPr lang="tr-TR" sz="1600" dirty="0"/>
              <a:t> </a:t>
            </a:r>
            <a:r>
              <a:rPr lang="tr-TR" sz="1600" dirty="0" err="1"/>
              <a:t>characters</a:t>
            </a:r>
            <a:r>
              <a:rPr lang="tr-TR" sz="1600" dirty="0"/>
              <a:t> can be </a:t>
            </a:r>
            <a:r>
              <a:rPr lang="tr-TR" sz="1600" dirty="0" err="1"/>
              <a:t>letters</a:t>
            </a:r>
            <a:r>
              <a:rPr lang="tr-TR" sz="1600" dirty="0"/>
              <a:t>, </a:t>
            </a:r>
            <a:r>
              <a:rPr lang="tr-TR" sz="1600" dirty="0" err="1"/>
              <a:t>numbers</a:t>
            </a:r>
            <a:r>
              <a:rPr lang="tr-TR" sz="1600" dirty="0"/>
              <a:t>, </a:t>
            </a:r>
            <a:r>
              <a:rPr lang="tr-TR" sz="1600" dirty="0" err="1"/>
              <a:t>or</a:t>
            </a:r>
            <a:r>
              <a:rPr lang="tr-TR" sz="1600" dirty="0"/>
              <a:t> </a:t>
            </a:r>
            <a:r>
              <a:rPr lang="tr-TR" sz="1600" dirty="0" err="1"/>
              <a:t>underscore</a:t>
            </a:r>
            <a:r>
              <a:rPr lang="tr-TR" sz="1600" dirty="0"/>
              <a:t> </a:t>
            </a:r>
            <a:r>
              <a:rPr lang="tr-TR" sz="1600" dirty="0" err="1"/>
              <a:t>characters</a:t>
            </a:r>
            <a:r>
              <a:rPr lang="tr-TR" sz="1600" dirty="0"/>
              <a:t> </a:t>
            </a:r>
          </a:p>
          <a:p>
            <a:pPr marL="457200" lvl="1" indent="0">
              <a:buNone/>
            </a:pPr>
            <a:r>
              <a:rPr lang="tr-TR" sz="1600" dirty="0"/>
              <a:t>	A-Z, a-z, 0-9, _</a:t>
            </a:r>
          </a:p>
          <a:p>
            <a:pPr lvl="1" eaLnBrk="1" hangingPunct="1">
              <a:buFont typeface="Wingdings" pitchFamily="2" charset="2"/>
              <a:buNone/>
            </a:pPr>
            <a:r>
              <a:rPr lang="tr-TR" sz="1600" dirty="0"/>
              <a:t>	</a:t>
            </a:r>
            <a:r>
              <a:rPr lang="tr-TR" sz="1600" dirty="0" err="1">
                <a:solidFill>
                  <a:srgbClr val="333399"/>
                </a:solidFill>
              </a:rPr>
              <a:t>ClassSize</a:t>
            </a:r>
            <a:r>
              <a:rPr lang="tr-TR" sz="1600" dirty="0"/>
              <a:t>,   </a:t>
            </a:r>
            <a:r>
              <a:rPr lang="tr-TR" sz="1600" dirty="0">
                <a:solidFill>
                  <a:srgbClr val="333399"/>
                </a:solidFill>
              </a:rPr>
              <a:t>Screen1024</a:t>
            </a:r>
            <a:r>
              <a:rPr lang="tr-TR" sz="1600" dirty="0"/>
              <a:t>,  </a:t>
            </a:r>
            <a:r>
              <a:rPr lang="tr-TR" sz="1600" dirty="0" err="1">
                <a:solidFill>
                  <a:srgbClr val="333399"/>
                </a:solidFill>
              </a:rPr>
              <a:t>File_Extension</a:t>
            </a:r>
            <a:r>
              <a:rPr lang="tr-TR" sz="1600" dirty="0"/>
              <a:t>, </a:t>
            </a:r>
            <a:r>
              <a:rPr lang="tr-TR" sz="1600" dirty="0">
                <a:solidFill>
                  <a:srgbClr val="333399"/>
                </a:solidFill>
              </a:rPr>
              <a:t>_</a:t>
            </a:r>
            <a:r>
              <a:rPr lang="tr-TR" sz="1600" dirty="0" err="1">
                <a:solidFill>
                  <a:srgbClr val="333399"/>
                </a:solidFill>
              </a:rPr>
              <a:t>RootPath</a:t>
            </a:r>
            <a:r>
              <a:rPr lang="tr-TR" sz="1600" dirty="0">
                <a:solidFill>
                  <a:srgbClr val="333399"/>
                </a:solidFill>
              </a:rPr>
              <a:t>, @</a:t>
            </a:r>
            <a:r>
              <a:rPr lang="tr-TR" sz="1600" dirty="0" err="1">
                <a:solidFill>
                  <a:srgbClr val="333399"/>
                </a:solidFill>
              </a:rPr>
              <a:t>DriveLetter</a:t>
            </a:r>
            <a:endParaRPr lang="tr-TR" sz="1600" dirty="0">
              <a:solidFill>
                <a:srgbClr val="333399"/>
              </a:solidFill>
            </a:endParaRPr>
          </a:p>
          <a:p>
            <a:pPr lvl="1" eaLnBrk="1" hangingPunct="1"/>
            <a:endParaRPr lang="en-US" sz="1600" dirty="0"/>
          </a:p>
          <a:p>
            <a:pPr lvl="1"/>
            <a:r>
              <a:rPr lang="tr-TR" sz="1600" dirty="0" err="1"/>
              <a:t>There</a:t>
            </a:r>
            <a:r>
              <a:rPr lang="tr-TR" sz="1600" dirty="0"/>
              <a:t> </a:t>
            </a:r>
            <a:r>
              <a:rPr lang="tr-TR" sz="1600" dirty="0" err="1"/>
              <a:t>are</a:t>
            </a:r>
            <a:r>
              <a:rPr lang="tr-TR" sz="1600" dirty="0"/>
              <a:t> </a:t>
            </a:r>
            <a:r>
              <a:rPr lang="tr-TR" sz="1600" dirty="0" err="1"/>
              <a:t>two</a:t>
            </a:r>
            <a:r>
              <a:rPr lang="tr-TR" sz="1600" dirty="0"/>
              <a:t> </a:t>
            </a:r>
            <a:r>
              <a:rPr lang="tr-TR" sz="1600" dirty="0" err="1"/>
              <a:t>different</a:t>
            </a:r>
            <a:r>
              <a:rPr lang="tr-TR" sz="1600" dirty="0"/>
              <a:t> </a:t>
            </a:r>
            <a:r>
              <a:rPr lang="tr-TR" sz="1600" dirty="0" err="1"/>
              <a:t>traditional</a:t>
            </a:r>
            <a:r>
              <a:rPr lang="tr-TR" sz="1600" dirty="0"/>
              <a:t> </a:t>
            </a:r>
            <a:r>
              <a:rPr lang="tr-TR" sz="1600" dirty="0" err="1"/>
              <a:t>naming</a:t>
            </a:r>
            <a:r>
              <a:rPr lang="tr-TR" sz="1600" dirty="0"/>
              <a:t> </a:t>
            </a:r>
            <a:r>
              <a:rPr lang="tr-TR" sz="1600" dirty="0" err="1"/>
              <a:t>conventions</a:t>
            </a:r>
            <a:r>
              <a:rPr lang="tr-TR" sz="1600" dirty="0"/>
              <a:t>:</a:t>
            </a:r>
          </a:p>
          <a:p>
            <a:pPr lvl="2"/>
            <a:r>
              <a:rPr lang="tr-TR" sz="1600" b="1" dirty="0" err="1"/>
              <a:t>camelCase</a:t>
            </a:r>
            <a:r>
              <a:rPr lang="tr-TR" sz="1600" dirty="0"/>
              <a:t>: </a:t>
            </a:r>
            <a:r>
              <a:rPr lang="tr-TR" sz="1600" dirty="0" err="1"/>
              <a:t>firstStudent</a:t>
            </a:r>
            <a:r>
              <a:rPr lang="tr-TR" sz="1600" dirty="0"/>
              <a:t>, </a:t>
            </a:r>
            <a:r>
              <a:rPr lang="tr-TR" sz="1600" dirty="0" err="1"/>
              <a:t>classCourseHour</a:t>
            </a:r>
            <a:r>
              <a:rPr lang="tr-TR" sz="1600" dirty="0"/>
              <a:t>   (First </a:t>
            </a:r>
            <a:r>
              <a:rPr lang="tr-TR" sz="1600" dirty="0" err="1"/>
              <a:t>word</a:t>
            </a:r>
            <a:r>
              <a:rPr lang="tr-TR" sz="1600" dirty="0"/>
              <a:t> </a:t>
            </a:r>
            <a:r>
              <a:rPr lang="tr-TR" sz="1600" dirty="0" err="1"/>
              <a:t>starts</a:t>
            </a:r>
            <a:r>
              <a:rPr lang="tr-TR" sz="1600" dirty="0"/>
              <a:t> </a:t>
            </a:r>
            <a:r>
              <a:rPr lang="tr-TR" sz="1600" dirty="0" err="1"/>
              <a:t>small</a:t>
            </a:r>
            <a:r>
              <a:rPr lang="tr-TR" sz="1600" dirty="0"/>
              <a:t>, </a:t>
            </a:r>
            <a:r>
              <a:rPr lang="tr-TR" sz="1600" dirty="0" err="1"/>
              <a:t>other</a:t>
            </a:r>
            <a:r>
              <a:rPr lang="tr-TR" sz="1600" dirty="0"/>
              <a:t> </a:t>
            </a:r>
            <a:r>
              <a:rPr lang="tr-TR" sz="1600" dirty="0" err="1"/>
              <a:t>words</a:t>
            </a:r>
            <a:r>
              <a:rPr lang="tr-TR" sz="1600" dirty="0"/>
              <a:t> start </a:t>
            </a:r>
            <a:r>
              <a:rPr lang="tr-TR" sz="1600" dirty="0" err="1"/>
              <a:t>capital</a:t>
            </a:r>
            <a:r>
              <a:rPr lang="tr-TR" sz="1600" dirty="0"/>
              <a:t>)</a:t>
            </a:r>
          </a:p>
          <a:p>
            <a:pPr lvl="2"/>
            <a:r>
              <a:rPr lang="tr-TR" sz="1600" b="1" dirty="0" err="1"/>
              <a:t>PascalCase</a:t>
            </a:r>
            <a:r>
              <a:rPr lang="tr-TR" sz="1600" b="1" dirty="0"/>
              <a:t>:</a:t>
            </a:r>
            <a:r>
              <a:rPr lang="tr-TR" sz="1600" dirty="0"/>
              <a:t> </a:t>
            </a:r>
            <a:r>
              <a:rPr lang="tr-TR" sz="1600" dirty="0" err="1"/>
              <a:t>FirstStudent</a:t>
            </a:r>
            <a:r>
              <a:rPr lang="tr-TR" sz="1600" dirty="0"/>
              <a:t>, </a:t>
            </a:r>
            <a:r>
              <a:rPr lang="tr-TR" sz="1600" dirty="0" err="1"/>
              <a:t>ClassCourseHour</a:t>
            </a:r>
            <a:r>
              <a:rPr lang="tr-TR" sz="1600" dirty="0"/>
              <a:t> (</a:t>
            </a:r>
            <a:r>
              <a:rPr lang="tr-TR" sz="1600" dirty="0" err="1"/>
              <a:t>capitalize</a:t>
            </a:r>
            <a:r>
              <a:rPr lang="tr-TR" sz="1600" dirty="0"/>
              <a:t> </a:t>
            </a:r>
            <a:r>
              <a:rPr lang="tr-TR" sz="1600" dirty="0" err="1"/>
              <a:t>all</a:t>
            </a:r>
            <a:r>
              <a:rPr lang="tr-TR" sz="1600" dirty="0"/>
              <a:t> </a:t>
            </a:r>
            <a:r>
              <a:rPr lang="tr-TR" sz="1600" dirty="0" err="1"/>
              <a:t>words</a:t>
            </a:r>
            <a:r>
              <a:rPr lang="tr-TR" sz="1600" dirty="0"/>
              <a:t>)</a:t>
            </a:r>
          </a:p>
          <a:p>
            <a:pPr lvl="2" eaLnBrk="1" hangingPunct="1"/>
            <a:endParaRPr lang="tr-TR" sz="1600" dirty="0"/>
          </a:p>
          <a:p>
            <a:pPr lvl="1"/>
            <a:r>
              <a:rPr lang="tr-TR" sz="1600" dirty="0"/>
              <a:t>Name </a:t>
            </a:r>
            <a:r>
              <a:rPr lang="tr-TR" sz="1600" dirty="0" err="1"/>
              <a:t>functions</a:t>
            </a:r>
            <a:r>
              <a:rPr lang="tr-TR" sz="1600" dirty="0"/>
              <a:t> </a:t>
            </a:r>
            <a:r>
              <a:rPr lang="tr-TR" sz="1600" dirty="0" err="1"/>
              <a:t>and</a:t>
            </a:r>
            <a:r>
              <a:rPr lang="tr-TR" sz="1600" dirty="0"/>
              <a:t> </a:t>
            </a:r>
            <a:r>
              <a:rPr lang="tr-TR" sz="1600" dirty="0" err="1"/>
              <a:t>methods</a:t>
            </a:r>
            <a:r>
              <a:rPr lang="tr-TR" sz="1600" dirty="0"/>
              <a:t> </a:t>
            </a:r>
            <a:r>
              <a:rPr lang="tr-TR" sz="1600" dirty="0" err="1"/>
              <a:t>using</a:t>
            </a:r>
            <a:r>
              <a:rPr lang="tr-TR" sz="1600" dirty="0"/>
              <a:t> </a:t>
            </a:r>
            <a:r>
              <a:rPr lang="tr-TR" sz="1600" dirty="0" err="1"/>
              <a:t>verbs</a:t>
            </a:r>
            <a:r>
              <a:rPr lang="tr-TR" sz="1600" dirty="0"/>
              <a:t> </a:t>
            </a:r>
            <a:r>
              <a:rPr lang="en-US" sz="1600" dirty="0"/>
              <a:t> </a:t>
            </a:r>
            <a:br>
              <a:rPr lang="tr-TR" sz="1600" dirty="0"/>
            </a:br>
            <a:r>
              <a:rPr lang="en-US" sz="1600" dirty="0" err="1">
                <a:solidFill>
                  <a:srgbClr val="333399"/>
                </a:solidFill>
              </a:rPr>
              <a:t>CloseDialog</a:t>
            </a:r>
            <a:r>
              <a:rPr lang="tr-TR" sz="1600" dirty="0">
                <a:solidFill>
                  <a:srgbClr val="333399"/>
                </a:solidFill>
              </a:rPr>
              <a:t>(), </a:t>
            </a:r>
            <a:r>
              <a:rPr lang="tr-TR" sz="1600" dirty="0" err="1">
                <a:solidFill>
                  <a:srgbClr val="333399"/>
                </a:solidFill>
              </a:rPr>
              <a:t>StartRecord</a:t>
            </a:r>
            <a:r>
              <a:rPr lang="tr-TR" sz="1600" dirty="0">
                <a:solidFill>
                  <a:srgbClr val="333399"/>
                </a:solidFill>
              </a:rPr>
              <a:t>(), </a:t>
            </a:r>
            <a:r>
              <a:rPr lang="tr-TR" sz="1600" dirty="0" err="1">
                <a:solidFill>
                  <a:srgbClr val="333399"/>
                </a:solidFill>
              </a:rPr>
              <a:t>PlayMusic</a:t>
            </a:r>
            <a:r>
              <a:rPr lang="tr-TR" sz="1600" dirty="0">
                <a:solidFill>
                  <a:srgbClr val="333399"/>
                </a:solidFill>
              </a:rPr>
              <a:t>()</a:t>
            </a:r>
          </a:p>
          <a:p>
            <a:pPr lvl="1" eaLnBrk="1" hangingPunct="1"/>
            <a:endParaRPr lang="en-US" sz="1800" dirty="0"/>
          </a:p>
        </p:txBody>
      </p:sp>
    </p:spTree>
    <p:extLst>
      <p:ext uri="{BB962C8B-B14F-4D97-AF65-F5344CB8AC3E}">
        <p14:creationId xmlns:p14="http://schemas.microsoft.com/office/powerpoint/2010/main" val="4031179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8B58BC5-1C89-4B9C-BA35-2551BB31792D}" type="slidenum">
              <a:rPr lang="en-US" altLang="en-US" smtClean="0">
                <a:latin typeface="Garamond" pitchFamily="18" charset="0"/>
              </a:rPr>
              <a:pPr eaLnBrk="1" hangingPunct="1"/>
              <a:t>40</a:t>
            </a:fld>
            <a:endParaRPr lang="en-US" altLang="en-US">
              <a:latin typeface="Garamond" pitchFamily="18" charset="0"/>
            </a:endParaRPr>
          </a:p>
        </p:txBody>
      </p:sp>
      <p:sp>
        <p:nvSpPr>
          <p:cNvPr id="9219" name="Rectangle 2"/>
          <p:cNvSpPr>
            <a:spLocks noGrp="1" noChangeArrowheads="1"/>
          </p:cNvSpPr>
          <p:nvPr>
            <p:ph type="title"/>
          </p:nvPr>
        </p:nvSpPr>
        <p:spPr/>
        <p:txBody>
          <a:bodyPr/>
          <a:lstStyle/>
          <a:p>
            <a:r>
              <a:rPr lang="tr-TR" dirty="0" err="1"/>
              <a:t>Variables</a:t>
            </a:r>
            <a:endParaRPr lang="en-US" dirty="0"/>
          </a:p>
        </p:txBody>
      </p:sp>
      <p:sp>
        <p:nvSpPr>
          <p:cNvPr id="9220" name="Rectangle 3"/>
          <p:cNvSpPr>
            <a:spLocks noGrp="1" noChangeArrowheads="1"/>
          </p:cNvSpPr>
          <p:nvPr>
            <p:ph type="body" idx="1"/>
          </p:nvPr>
        </p:nvSpPr>
        <p:spPr/>
        <p:txBody>
          <a:bodyPr/>
          <a:lstStyle/>
          <a:p>
            <a:r>
              <a:rPr lang="tr-TR" dirty="0" err="1"/>
              <a:t>Variable</a:t>
            </a:r>
            <a:r>
              <a:rPr lang="tr-TR" dirty="0"/>
              <a:t> </a:t>
            </a:r>
            <a:r>
              <a:rPr lang="tr-TR" dirty="0" err="1"/>
              <a:t>Declaration</a:t>
            </a:r>
            <a:r>
              <a:rPr lang="tr-TR" dirty="0"/>
              <a:t> </a:t>
            </a:r>
            <a:r>
              <a:rPr lang="tr-TR" dirty="0" err="1"/>
              <a:t>Examples</a:t>
            </a:r>
            <a:endParaRPr lang="tr-TR" dirty="0"/>
          </a:p>
          <a:p>
            <a:pPr lvl="1"/>
            <a:r>
              <a:rPr lang="tr-TR" sz="1600" dirty="0" err="1"/>
              <a:t>More</a:t>
            </a:r>
            <a:r>
              <a:rPr lang="tr-TR" sz="1600" dirty="0"/>
              <a:t> </a:t>
            </a:r>
            <a:r>
              <a:rPr lang="tr-TR" sz="1600" dirty="0" err="1"/>
              <a:t>than</a:t>
            </a:r>
            <a:r>
              <a:rPr lang="tr-TR" sz="1600" dirty="0"/>
              <a:t> </a:t>
            </a:r>
            <a:r>
              <a:rPr lang="tr-TR" sz="1600" dirty="0" err="1"/>
              <a:t>one</a:t>
            </a:r>
            <a:r>
              <a:rPr lang="tr-TR" sz="1600" dirty="0"/>
              <a:t> </a:t>
            </a:r>
            <a:r>
              <a:rPr lang="tr-TR" sz="1600" dirty="0" err="1"/>
              <a:t>variable</a:t>
            </a:r>
            <a:r>
              <a:rPr lang="tr-TR" sz="1600" dirty="0"/>
              <a:t> can be </a:t>
            </a:r>
            <a:r>
              <a:rPr lang="tr-TR" sz="1600" dirty="0" err="1"/>
              <a:t>defined</a:t>
            </a:r>
            <a:r>
              <a:rPr lang="tr-TR" sz="1600" dirty="0"/>
              <a:t> in </a:t>
            </a:r>
            <a:r>
              <a:rPr lang="tr-TR" sz="1600" dirty="0" err="1"/>
              <a:t>the</a:t>
            </a:r>
            <a:r>
              <a:rPr lang="tr-TR" sz="1600" dirty="0"/>
              <a:t> </a:t>
            </a:r>
            <a:r>
              <a:rPr lang="tr-TR" sz="1600" dirty="0" err="1"/>
              <a:t>same</a:t>
            </a:r>
            <a:r>
              <a:rPr lang="tr-TR" sz="1600" dirty="0"/>
              <a:t> </a:t>
            </a:r>
            <a:r>
              <a:rPr lang="tr-TR" sz="1600" dirty="0" err="1"/>
              <a:t>line</a:t>
            </a:r>
            <a:endParaRPr lang="tr-TR" sz="1600" dirty="0"/>
          </a:p>
          <a:p>
            <a:pPr lvl="2" eaLnBrk="1" hangingPunct="1"/>
            <a:r>
              <a:rPr lang="tr-TR" sz="1600" dirty="0" err="1">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birthYear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numberOfStudents</a:t>
            </a:r>
            <a:r>
              <a:rPr lang="tr-TR" sz="1600" dirty="0">
                <a:latin typeface="Courier New" pitchFamily="49" charset="0"/>
                <a:cs typeface="Courier New" pitchFamily="49" charset="0"/>
              </a:rPr>
              <a:t>;</a:t>
            </a:r>
          </a:p>
          <a:p>
            <a:pPr lvl="2" eaLnBrk="1" hangingPunct="1"/>
            <a:r>
              <a:rPr lang="tr-TR" sz="1600" dirty="0" err="1">
                <a:solidFill>
                  <a:srgbClr val="0000FF"/>
                </a:solidFill>
                <a:latin typeface="Courier New" pitchFamily="49" charset="0"/>
                <a:cs typeface="Courier New" pitchFamily="49" charset="0"/>
              </a:rPr>
              <a:t>double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interestRate</a:t>
            </a:r>
            <a:r>
              <a:rPr lang="tr-TR" sz="1600" dirty="0">
                <a:latin typeface="Courier New" pitchFamily="49" charset="0"/>
                <a:cs typeface="Courier New" pitchFamily="49" charset="0"/>
              </a:rPr>
              <a:t> = 0.89;</a:t>
            </a:r>
          </a:p>
          <a:p>
            <a:pPr lvl="2"/>
            <a:r>
              <a:rPr lang="tr-TR" sz="1600" dirty="0" err="1">
                <a:solidFill>
                  <a:srgbClr val="0000FF"/>
                </a:solidFill>
                <a:latin typeface="Courier New" pitchFamily="49" charset="0"/>
                <a:cs typeface="Courier New" pitchFamily="49" charset="0"/>
              </a:rPr>
              <a:t>float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interestRate</a:t>
            </a:r>
            <a:r>
              <a:rPr lang="tr-TR" sz="1600" dirty="0">
                <a:latin typeface="Courier New" pitchFamily="49" charset="0"/>
                <a:cs typeface="Courier New" pitchFamily="49" charset="0"/>
              </a:rPr>
              <a:t> = 0.89, </a:t>
            </a:r>
            <a:r>
              <a:rPr lang="tr-TR" sz="1600" dirty="0" err="1">
                <a:latin typeface="Courier New" pitchFamily="49" charset="0"/>
                <a:cs typeface="Courier New" pitchFamily="49" charset="0"/>
              </a:rPr>
              <a:t>discountRate</a:t>
            </a:r>
            <a:r>
              <a:rPr lang="tr-TR" sz="1600" dirty="0">
                <a:latin typeface="Courier New" pitchFamily="49" charset="0"/>
                <a:cs typeface="Courier New" pitchFamily="49" charset="0"/>
              </a:rPr>
              <a:t>;</a:t>
            </a:r>
          </a:p>
          <a:p>
            <a:pPr lvl="2" eaLnBrk="1" hangingPunct="1"/>
            <a:r>
              <a:rPr lang="tr-TR" sz="1600" dirty="0" err="1">
                <a:solidFill>
                  <a:srgbClr val="0000FF"/>
                </a:solidFill>
                <a:latin typeface="Courier New" pitchFamily="49" charset="0"/>
                <a:cs typeface="Courier New" pitchFamily="49" charset="0"/>
              </a:rPr>
              <a:t>char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myChar</a:t>
            </a:r>
            <a:r>
              <a:rPr lang="tr-TR" sz="1600" dirty="0">
                <a:latin typeface="Courier New" pitchFamily="49" charset="0"/>
                <a:cs typeface="Courier New" pitchFamily="49" charset="0"/>
              </a:rPr>
              <a:t> = ‘A’;</a:t>
            </a:r>
          </a:p>
          <a:p>
            <a:pPr lvl="2" eaLnBrk="1" hangingPunct="1"/>
            <a:r>
              <a:rPr lang="tr-TR" sz="1600" dirty="0" err="1">
                <a:solidFill>
                  <a:srgbClr val="0000FF"/>
                </a:solidFill>
                <a:latin typeface="Courier New" pitchFamily="49" charset="0"/>
                <a:cs typeface="Courier New" pitchFamily="49" charset="0"/>
              </a:rPr>
              <a:t>string</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myBloodType</a:t>
            </a:r>
            <a:r>
              <a:rPr lang="tr-TR" sz="1600" dirty="0">
                <a:latin typeface="Courier New" pitchFamily="49" charset="0"/>
                <a:cs typeface="Courier New" pitchFamily="49" charset="0"/>
              </a:rPr>
              <a:t>=“A”;</a:t>
            </a:r>
          </a:p>
          <a:p>
            <a:pPr lvl="2" eaLnBrk="1" hangingPunct="1"/>
            <a:r>
              <a:rPr lang="tr-TR" sz="1600" dirty="0" err="1">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numberOfStudents</a:t>
            </a:r>
            <a:r>
              <a:rPr lang="tr-TR" sz="1600" dirty="0">
                <a:latin typeface="Courier New" pitchFamily="49" charset="0"/>
                <a:cs typeface="Courier New" pitchFamily="49" charset="0"/>
              </a:rPr>
              <a:t>=100;</a:t>
            </a:r>
          </a:p>
          <a:p>
            <a:pPr lvl="2" eaLnBrk="1" hangingPunct="1"/>
            <a:r>
              <a:rPr lang="tr-TR" sz="1600" dirty="0" err="1">
                <a:solidFill>
                  <a:srgbClr val="0000FF"/>
                </a:solidFill>
                <a:latin typeface="Courier New" pitchFamily="49" charset="0"/>
                <a:cs typeface="Courier New" pitchFamily="49" charset="0"/>
              </a:rPr>
              <a:t>bool</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IsUserNameCorrect</a:t>
            </a:r>
            <a:r>
              <a:rPr lang="tr-TR" sz="1600" dirty="0">
                <a:latin typeface="Courier New" pitchFamily="49" charset="0"/>
                <a:cs typeface="Courier New" pitchFamily="49" charset="0"/>
              </a:rPr>
              <a:t> = </a:t>
            </a:r>
            <a:r>
              <a:rPr lang="tr-TR" sz="1600" dirty="0" err="1">
                <a:latin typeface="Courier New" pitchFamily="49" charset="0"/>
                <a:cs typeface="Courier New" pitchFamily="49" charset="0"/>
              </a:rPr>
              <a:t>false</a:t>
            </a:r>
            <a:r>
              <a:rPr lang="tr-TR" sz="1600" dirty="0">
                <a:latin typeface="Courier New" pitchFamily="49" charset="0"/>
                <a:cs typeface="Courier New" pitchFamily="49" charset="0"/>
              </a:rPr>
              <a:t>;</a:t>
            </a:r>
          </a:p>
          <a:p>
            <a:pPr lvl="2" eaLnBrk="1" hangingPunct="1"/>
            <a:r>
              <a:rPr lang="tr-TR" sz="1600" dirty="0" err="1">
                <a:solidFill>
                  <a:srgbClr val="0000FF"/>
                </a:solidFill>
                <a:latin typeface="Courier New" pitchFamily="49" charset="0"/>
                <a:cs typeface="Courier New" pitchFamily="49" charset="0"/>
              </a:rPr>
              <a:t>bool</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IsMusicFileFound</a:t>
            </a:r>
            <a:r>
              <a:rPr lang="tr-TR" sz="1600" dirty="0">
                <a:latin typeface="Courier New" pitchFamily="49" charset="0"/>
                <a:cs typeface="Courier New" pitchFamily="49" charset="0"/>
              </a:rPr>
              <a:t> = </a:t>
            </a:r>
            <a:r>
              <a:rPr lang="tr-TR" sz="1600" dirty="0" err="1">
                <a:latin typeface="Courier New" pitchFamily="49" charset="0"/>
                <a:cs typeface="Courier New" pitchFamily="49" charset="0"/>
              </a:rPr>
              <a:t>true</a:t>
            </a:r>
            <a:r>
              <a:rPr lang="tr-TR" sz="1600" dirty="0">
                <a:latin typeface="Courier New" pitchFamily="49" charset="0"/>
                <a:cs typeface="Courier New" pitchFamily="49" charset="0"/>
              </a:rPr>
              <a:t>;</a:t>
            </a:r>
          </a:p>
          <a:p>
            <a:pPr lvl="2" eaLnBrk="1" hangingPunct="1"/>
            <a:endParaRPr lang="tr-TR" sz="1800" dirty="0">
              <a:latin typeface="Courier New" pitchFamily="49" charset="0"/>
              <a:cs typeface="Courier New" pitchFamily="49" charset="0"/>
            </a:endParaRPr>
          </a:p>
          <a:p>
            <a:pPr lvl="2" eaLnBrk="1" hangingPunct="1"/>
            <a:endParaRPr lang="tr-TR" dirty="0"/>
          </a:p>
          <a:p>
            <a:pPr lvl="2" eaLnBrk="1" hangingPunct="1"/>
            <a:endParaRPr lang="en-US" sz="1800" dirty="0">
              <a:solidFill>
                <a:schemeClr val="accent2"/>
              </a:solidFill>
              <a:latin typeface="Courier New" pitchFamily="49" charset="0"/>
            </a:endParaRPr>
          </a:p>
        </p:txBody>
      </p:sp>
    </p:spTree>
    <p:extLst>
      <p:ext uri="{BB962C8B-B14F-4D97-AF65-F5344CB8AC3E}">
        <p14:creationId xmlns:p14="http://schemas.microsoft.com/office/powerpoint/2010/main" val="2526092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C893F72-A703-4005-896E-2F59457A46E9}" type="slidenum">
              <a:rPr lang="en-US" altLang="en-US" smtClean="0">
                <a:latin typeface="Garamond" pitchFamily="18" charset="0"/>
              </a:rPr>
              <a:pPr eaLnBrk="1" hangingPunct="1"/>
              <a:t>41</a:t>
            </a:fld>
            <a:endParaRPr lang="en-US" altLang="en-US">
              <a:latin typeface="Garamond" pitchFamily="18" charset="0"/>
            </a:endParaRPr>
          </a:p>
        </p:txBody>
      </p:sp>
      <p:sp>
        <p:nvSpPr>
          <p:cNvPr id="10243" name="Rectangle 2"/>
          <p:cNvSpPr>
            <a:spLocks noGrp="1" noChangeArrowheads="1"/>
          </p:cNvSpPr>
          <p:nvPr>
            <p:ph type="title"/>
          </p:nvPr>
        </p:nvSpPr>
        <p:spPr>
          <a:xfrm>
            <a:off x="395536" y="116632"/>
            <a:ext cx="8229600" cy="1143000"/>
          </a:xfrm>
        </p:spPr>
        <p:txBody>
          <a:bodyPr/>
          <a:lstStyle/>
          <a:p>
            <a:r>
              <a:rPr lang="tr-TR" dirty="0" err="1"/>
              <a:t>Variables</a:t>
            </a:r>
            <a:endParaRPr lang="en-US" dirty="0"/>
          </a:p>
        </p:txBody>
      </p:sp>
      <p:sp>
        <p:nvSpPr>
          <p:cNvPr id="10244" name="Rectangle 3"/>
          <p:cNvSpPr>
            <a:spLocks noGrp="1" noChangeArrowheads="1"/>
          </p:cNvSpPr>
          <p:nvPr>
            <p:ph type="body" idx="1"/>
          </p:nvPr>
        </p:nvSpPr>
        <p:spPr>
          <a:xfrm>
            <a:off x="395536" y="1196752"/>
            <a:ext cx="8229600" cy="4680520"/>
          </a:xfrm>
        </p:spPr>
        <p:txBody>
          <a:bodyPr>
            <a:normAutofit lnSpcReduction="10000"/>
          </a:bodyPr>
          <a:lstStyle/>
          <a:p>
            <a:pPr lvl="1"/>
            <a:r>
              <a:rPr lang="tr-TR" sz="1600" dirty="0" err="1"/>
              <a:t>Variables</a:t>
            </a:r>
            <a:r>
              <a:rPr lang="tr-TR" sz="1600" dirty="0"/>
              <a:t> </a:t>
            </a:r>
            <a:r>
              <a:rPr lang="tr-TR" sz="1600" dirty="0" err="1"/>
              <a:t>are</a:t>
            </a:r>
            <a:r>
              <a:rPr lang="tr-TR" sz="1600" dirty="0"/>
              <a:t> </a:t>
            </a:r>
            <a:r>
              <a:rPr lang="tr-TR" sz="1600" dirty="0" err="1"/>
              <a:t>valid</a:t>
            </a:r>
            <a:r>
              <a:rPr lang="tr-TR" sz="1600" dirty="0"/>
              <a:t> in </a:t>
            </a:r>
            <a:r>
              <a:rPr lang="tr-TR" sz="1600" dirty="0" err="1"/>
              <a:t>the</a:t>
            </a:r>
            <a:r>
              <a:rPr lang="tr-TR" sz="1600" dirty="0"/>
              <a:t> </a:t>
            </a:r>
            <a:r>
              <a:rPr lang="tr-TR" sz="1600" dirty="0" err="1"/>
              <a:t>blocks</a:t>
            </a:r>
            <a:r>
              <a:rPr lang="tr-TR" sz="1600" dirty="0"/>
              <a:t> </a:t>
            </a:r>
            <a:r>
              <a:rPr lang="tr-TR" sz="1600" dirty="0" err="1"/>
              <a:t>they</a:t>
            </a:r>
            <a:r>
              <a:rPr lang="tr-TR" sz="1600" dirty="0"/>
              <a:t> </a:t>
            </a:r>
            <a:r>
              <a:rPr lang="tr-TR" sz="1600" dirty="0" err="1"/>
              <a:t>are</a:t>
            </a:r>
            <a:r>
              <a:rPr lang="tr-TR" sz="1600" dirty="0"/>
              <a:t> </a:t>
            </a:r>
            <a:r>
              <a:rPr lang="tr-TR" sz="1600" dirty="0" err="1"/>
              <a:t>defined</a:t>
            </a:r>
            <a:r>
              <a:rPr lang="tr-TR" sz="1600" dirty="0"/>
              <a:t> in!</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private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void</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btnHesapla</a:t>
            </a:r>
            <a:r>
              <a:rPr lang="tr-TR" sz="1600" dirty="0">
                <a:latin typeface="Courier New" pitchFamily="49" charset="0"/>
                <a:cs typeface="Courier New" pitchFamily="49" charset="0"/>
              </a:rPr>
              <a:t>_</a:t>
            </a:r>
            <a:r>
              <a:rPr lang="tr-TR" sz="1600" dirty="0" err="1">
                <a:latin typeface="Courier New" pitchFamily="49" charset="0"/>
                <a:cs typeface="Courier New" pitchFamily="49" charset="0"/>
              </a:rPr>
              <a:t>Click</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object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sender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EventArgs</a:t>
            </a:r>
            <a:r>
              <a:rPr lang="tr-TR" sz="1600" dirty="0">
                <a:latin typeface="Courier New" pitchFamily="49" charset="0"/>
                <a:cs typeface="Courier New" pitchFamily="49" charset="0"/>
              </a:rPr>
              <a:t> e)</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=0; </a:t>
            </a:r>
            <a:r>
              <a:rPr lang="tr-TR" sz="1600" dirty="0">
                <a:solidFill>
                  <a:srgbClr val="00B050"/>
                </a:solidFill>
                <a:latin typeface="Courier New" pitchFamily="49" charset="0"/>
                <a:cs typeface="Courier New" pitchFamily="49" charset="0"/>
              </a:rPr>
              <a:t>// </a:t>
            </a:r>
            <a:r>
              <a:rPr lang="tr-TR" sz="1600" dirty="0" err="1">
                <a:solidFill>
                  <a:srgbClr val="00B050"/>
                </a:solidFill>
                <a:latin typeface="Courier New" pitchFamily="49" charset="0"/>
                <a:cs typeface="Courier New" pitchFamily="49" charset="0"/>
              </a:rPr>
              <a:t>local</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 +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your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weight</a:t>
            </a:r>
            <a:r>
              <a:rPr lang="tr-TR" sz="1600" dirty="0">
                <a:latin typeface="Courier New" pitchFamily="49" charset="0"/>
                <a:cs typeface="Courier New" pitchFamily="49" charset="0"/>
              </a:rPr>
              <a:t>= " + </a:t>
            </a:r>
            <a:r>
              <a:rPr lang="tr-TR" sz="1600" dirty="0" err="1">
                <a:latin typeface="Courier New" pitchFamily="49" charset="0"/>
                <a:cs typeface="Courier New" pitchFamily="49" charset="0"/>
              </a:rPr>
              <a:t>weight</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solidFill>
                  <a:srgbClr val="0000FF"/>
                </a:solidFill>
                <a:latin typeface="Courier New" pitchFamily="49" charset="0"/>
                <a:cs typeface="Courier New" pitchFamily="49" charset="0"/>
              </a:rPr>
              <a:t>		</a:t>
            </a:r>
            <a:r>
              <a:rPr lang="tr-TR" sz="1600" dirty="0" err="1">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weight</a:t>
            </a:r>
            <a:r>
              <a:rPr lang="tr-TR" sz="1600" dirty="0">
                <a:latin typeface="Courier New" pitchFamily="49" charset="0"/>
                <a:cs typeface="Courier New" pitchFamily="49" charset="0"/>
              </a:rPr>
              <a:t> =0; </a:t>
            </a:r>
            <a:r>
              <a:rPr lang="tr-TR" sz="1600" dirty="0">
                <a:solidFill>
                  <a:srgbClr val="00B050"/>
                </a:solidFill>
                <a:latin typeface="Courier New" pitchFamily="49" charset="0"/>
                <a:cs typeface="Courier New" pitchFamily="49" charset="0"/>
              </a:rPr>
              <a:t>// global</a:t>
            </a:r>
            <a:endParaRPr lang="tr-TR" sz="1600" dirty="0">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private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void</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btnGoster</a:t>
            </a:r>
            <a:r>
              <a:rPr lang="tr-TR" sz="1600" dirty="0">
                <a:latin typeface="Courier New" pitchFamily="49" charset="0"/>
                <a:cs typeface="Courier New" pitchFamily="49" charset="0"/>
              </a:rPr>
              <a:t>_</a:t>
            </a:r>
            <a:r>
              <a:rPr lang="tr-TR" sz="1600" dirty="0" err="1">
                <a:latin typeface="Courier New" pitchFamily="49" charset="0"/>
                <a:cs typeface="Courier New" pitchFamily="49" charset="0"/>
              </a:rPr>
              <a:t>Click</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object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sender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EventArgs</a:t>
            </a:r>
            <a:r>
              <a:rPr lang="tr-TR" sz="1600" dirty="0">
                <a:latin typeface="Courier New" pitchFamily="49" charset="0"/>
                <a:cs typeface="Courier New" pitchFamily="49" charset="0"/>
              </a:rPr>
              <a:t> e)</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 +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FF0000"/>
                </a:solidFill>
                <a:latin typeface="Courier New" pitchFamily="49" charset="0"/>
                <a:cs typeface="Courier New" pitchFamily="49" charset="0"/>
              </a:rPr>
              <a:t>//</a:t>
            </a:r>
            <a:r>
              <a:rPr lang="tr-TR" sz="1600" dirty="0" err="1">
                <a:solidFill>
                  <a:srgbClr val="FF0000"/>
                </a:solidFill>
                <a:latin typeface="Courier New" pitchFamily="49" charset="0"/>
                <a:cs typeface="Courier New" pitchFamily="49" charset="0"/>
              </a:rPr>
              <a:t>gives</a:t>
            </a:r>
            <a:r>
              <a:rPr lang="tr-TR" sz="1600" dirty="0">
                <a:solidFill>
                  <a:srgbClr val="FF0000"/>
                </a:solidFill>
                <a:latin typeface="Courier New" pitchFamily="49" charset="0"/>
                <a:cs typeface="Courier New" pitchFamily="49" charset="0"/>
              </a:rPr>
              <a:t> </a:t>
            </a:r>
            <a:r>
              <a:rPr lang="tr-TR" sz="1600" dirty="0" err="1">
                <a:solidFill>
                  <a:srgbClr val="FF0000"/>
                </a:solidFill>
                <a:latin typeface="Courier New" pitchFamily="49" charset="0"/>
                <a:cs typeface="Courier New" pitchFamily="49" charset="0"/>
              </a:rPr>
              <a:t>error</a:t>
            </a:r>
            <a:endParaRPr lang="tr-TR" sz="1600" dirty="0">
              <a:solidFill>
                <a:srgbClr val="FF000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your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weight</a:t>
            </a:r>
            <a:r>
              <a:rPr lang="tr-TR" sz="1600" dirty="0">
                <a:latin typeface="Courier New" pitchFamily="49" charset="0"/>
                <a:cs typeface="Courier New" pitchFamily="49" charset="0"/>
              </a:rPr>
              <a:t>= " + </a:t>
            </a:r>
            <a:r>
              <a:rPr lang="tr-TR" sz="1600" dirty="0" err="1">
                <a:latin typeface="Courier New" pitchFamily="49" charset="0"/>
                <a:cs typeface="Courier New" pitchFamily="49" charset="0"/>
              </a:rPr>
              <a:t>weight</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p>
          <a:p>
            <a:pPr lvl="1">
              <a:buNone/>
            </a:pPr>
            <a:r>
              <a:rPr lang="en-US" sz="1600" b="1" dirty="0"/>
              <a:t>Local Variables: </a:t>
            </a:r>
            <a:r>
              <a:rPr lang="en-US" sz="1600" dirty="0"/>
              <a:t>Variables defined in a block (function, method, loop) are called local variables .</a:t>
            </a:r>
          </a:p>
          <a:p>
            <a:pPr lvl="1">
              <a:buNone/>
            </a:pPr>
            <a:r>
              <a:rPr lang="en-US" sz="1600" b="1" dirty="0"/>
              <a:t>Global Variables: </a:t>
            </a:r>
            <a:r>
              <a:rPr lang="en-US" sz="1600" dirty="0"/>
              <a:t>Variables defined in the outermost block, not inside any function or loop. They are valid in </a:t>
            </a:r>
            <a:r>
              <a:rPr lang="en-US" sz="1600" b="1" dirty="0"/>
              <a:t>all</a:t>
            </a:r>
            <a:r>
              <a:rPr lang="en-US" sz="1600" dirty="0"/>
              <a:t> other functions.</a:t>
            </a:r>
          </a:p>
          <a:p>
            <a:pPr lvl="1" eaLnBrk="1" hangingPunct="1">
              <a:buFont typeface="Wingdings" pitchFamily="2" charset="2"/>
              <a:buNone/>
            </a:pPr>
            <a:endParaRPr lang="en-US" sz="1600" dirty="0"/>
          </a:p>
          <a:p>
            <a:pPr lvl="2" eaLnBrk="1" hangingPunct="1"/>
            <a:endParaRPr lang="en-US" sz="1400" dirty="0">
              <a:solidFill>
                <a:schemeClr val="accent2"/>
              </a:solidFill>
              <a:latin typeface="Courier New" pitchFamily="49" charset="0"/>
            </a:endParaRPr>
          </a:p>
        </p:txBody>
      </p:sp>
      <p:sp>
        <p:nvSpPr>
          <p:cNvPr id="5" name="Right Arrow 4"/>
          <p:cNvSpPr/>
          <p:nvPr/>
        </p:nvSpPr>
        <p:spPr>
          <a:xfrm>
            <a:off x="974452" y="2852936"/>
            <a:ext cx="357188" cy="285750"/>
          </a:xfrm>
          <a:prstGeom prst="rightArrow">
            <a:avLst/>
          </a:prstGeom>
          <a:solidFill>
            <a:srgbClr val="FF000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r-TR"/>
          </a:p>
        </p:txBody>
      </p:sp>
      <p:sp>
        <p:nvSpPr>
          <p:cNvPr id="6" name="TextBox 5"/>
          <p:cNvSpPr txBox="1"/>
          <p:nvPr/>
        </p:nvSpPr>
        <p:spPr>
          <a:xfrm>
            <a:off x="182364" y="2708920"/>
            <a:ext cx="708848" cy="523220"/>
          </a:xfrm>
          <a:prstGeom prst="rect">
            <a:avLst/>
          </a:prstGeom>
          <a:noFill/>
        </p:spPr>
        <p:txBody>
          <a:bodyPr wrap="none">
            <a:spAutoFit/>
          </a:bodyPr>
          <a:lstStyle/>
          <a:p>
            <a:pPr>
              <a:defRPr/>
            </a:pPr>
            <a:r>
              <a:rPr lang="tr-TR" sz="1400" dirty="0" err="1">
                <a:solidFill>
                  <a:srgbClr val="C00000"/>
                </a:solidFill>
                <a:latin typeface="+mj-lt"/>
              </a:rPr>
              <a:t>Block</a:t>
            </a:r>
            <a:r>
              <a:rPr lang="tr-TR" sz="1400" dirty="0">
                <a:solidFill>
                  <a:srgbClr val="C00000"/>
                </a:solidFill>
                <a:latin typeface="+mj-lt"/>
              </a:rPr>
              <a:t> </a:t>
            </a:r>
          </a:p>
          <a:p>
            <a:pPr>
              <a:defRPr/>
            </a:pPr>
            <a:r>
              <a:rPr lang="tr-TR" sz="1400" dirty="0" err="1">
                <a:solidFill>
                  <a:srgbClr val="C00000"/>
                </a:solidFill>
                <a:latin typeface="+mj-lt"/>
              </a:rPr>
              <a:t>closed</a:t>
            </a:r>
            <a:r>
              <a:rPr lang="tr-TR" sz="1400" dirty="0">
                <a:solidFill>
                  <a:srgbClr val="C00000"/>
                </a:solidFill>
                <a:latin typeface="+mj-lt"/>
              </a:rPr>
              <a:t>!</a:t>
            </a:r>
          </a:p>
        </p:txBody>
      </p:sp>
    </p:spTree>
    <p:extLst>
      <p:ext uri="{BB962C8B-B14F-4D97-AF65-F5344CB8AC3E}">
        <p14:creationId xmlns:p14="http://schemas.microsoft.com/office/powerpoint/2010/main" val="1194403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43C3532-2570-4381-AABF-158D5E145477}" type="slidenum">
              <a:rPr lang="en-US" altLang="en-US" smtClean="0">
                <a:latin typeface="Garamond" pitchFamily="18" charset="0"/>
              </a:rPr>
              <a:pPr eaLnBrk="1" hangingPunct="1"/>
              <a:t>42</a:t>
            </a:fld>
            <a:endParaRPr lang="en-US" altLang="en-US">
              <a:latin typeface="Garamond" pitchFamily="18" charset="0"/>
            </a:endParaRPr>
          </a:p>
        </p:txBody>
      </p:sp>
      <p:sp>
        <p:nvSpPr>
          <p:cNvPr id="11267" name="Rectangle 2"/>
          <p:cNvSpPr>
            <a:spLocks noGrp="1" noChangeArrowheads="1"/>
          </p:cNvSpPr>
          <p:nvPr>
            <p:ph type="title"/>
          </p:nvPr>
        </p:nvSpPr>
        <p:spPr/>
        <p:txBody>
          <a:bodyPr/>
          <a:lstStyle/>
          <a:p>
            <a:r>
              <a:rPr lang="tr-TR" dirty="0" err="1"/>
              <a:t>Variables</a:t>
            </a:r>
            <a:endParaRPr lang="en-US" dirty="0"/>
          </a:p>
        </p:txBody>
      </p:sp>
      <p:sp>
        <p:nvSpPr>
          <p:cNvPr id="11268" name="Rectangle 3"/>
          <p:cNvSpPr>
            <a:spLocks noGrp="1" noChangeArrowheads="1"/>
          </p:cNvSpPr>
          <p:nvPr>
            <p:ph type="body" idx="1"/>
          </p:nvPr>
        </p:nvSpPr>
        <p:spPr>
          <a:xfrm>
            <a:off x="357188" y="1288728"/>
            <a:ext cx="8229600" cy="4444528"/>
          </a:xfrm>
        </p:spPr>
        <p:txBody>
          <a:bodyPr>
            <a:normAutofit/>
          </a:bodyPr>
          <a:lstStyle/>
          <a:p>
            <a:pPr lvl="1"/>
            <a:r>
              <a:rPr lang="tr-TR" sz="1600" dirty="0" err="1"/>
              <a:t>Variables</a:t>
            </a:r>
            <a:r>
              <a:rPr lang="tr-TR" sz="1600" dirty="0"/>
              <a:t> </a:t>
            </a:r>
            <a:r>
              <a:rPr lang="tr-TR" sz="1600" dirty="0" err="1"/>
              <a:t>are</a:t>
            </a:r>
            <a:r>
              <a:rPr lang="tr-TR" sz="1600" dirty="0"/>
              <a:t> </a:t>
            </a:r>
            <a:r>
              <a:rPr lang="tr-TR" sz="1600" dirty="0" err="1"/>
              <a:t>also</a:t>
            </a:r>
            <a:r>
              <a:rPr lang="tr-TR" sz="1600" dirty="0"/>
              <a:t> </a:t>
            </a:r>
            <a:r>
              <a:rPr lang="tr-TR" sz="1600" dirty="0" err="1"/>
              <a:t>valid</a:t>
            </a:r>
            <a:r>
              <a:rPr lang="tr-TR" sz="1600" dirty="0"/>
              <a:t> in </a:t>
            </a:r>
            <a:r>
              <a:rPr lang="tr-TR" sz="1600" dirty="0" err="1"/>
              <a:t>sub-blocks</a:t>
            </a:r>
            <a:r>
              <a:rPr lang="tr-TR" sz="1600" dirty="0"/>
              <a:t> of </a:t>
            </a:r>
            <a:r>
              <a:rPr lang="tr-TR" sz="1600" dirty="0" err="1"/>
              <a:t>the</a:t>
            </a:r>
            <a:r>
              <a:rPr lang="tr-TR" sz="1600" dirty="0"/>
              <a:t> </a:t>
            </a:r>
            <a:r>
              <a:rPr lang="tr-TR" sz="1600" dirty="0" err="1"/>
              <a:t>blocks</a:t>
            </a:r>
            <a:r>
              <a:rPr lang="tr-TR" sz="1600" dirty="0"/>
              <a:t> in </a:t>
            </a:r>
            <a:r>
              <a:rPr lang="tr-TR" sz="1600" dirty="0" err="1"/>
              <a:t>which</a:t>
            </a:r>
            <a:r>
              <a:rPr lang="tr-TR" sz="1600" dirty="0"/>
              <a:t> </a:t>
            </a:r>
            <a:r>
              <a:rPr lang="tr-TR" sz="1600" dirty="0" err="1"/>
              <a:t>they</a:t>
            </a:r>
            <a:r>
              <a:rPr lang="tr-TR" sz="1600" dirty="0"/>
              <a:t> </a:t>
            </a:r>
            <a:r>
              <a:rPr lang="tr-TR" sz="1600" dirty="0" err="1"/>
              <a:t>are</a:t>
            </a:r>
            <a:r>
              <a:rPr lang="tr-TR" sz="1600" dirty="0"/>
              <a:t> </a:t>
            </a:r>
            <a:r>
              <a:rPr lang="tr-TR" sz="1600" dirty="0" err="1"/>
              <a:t>defined</a:t>
            </a:r>
            <a:r>
              <a:rPr lang="tr-TR" sz="1600" dirty="0"/>
              <a:t>.</a:t>
            </a:r>
          </a:p>
          <a:p>
            <a:pPr>
              <a:buFont typeface="Wingdings" pitchFamily="2" charset="2"/>
              <a:buNone/>
            </a:pPr>
            <a:endParaRPr lang="tr-TR" sz="1600" dirty="0">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private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void</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btnHesapla</a:t>
            </a:r>
            <a:r>
              <a:rPr lang="tr-TR" sz="1600" dirty="0">
                <a:latin typeface="Courier New" pitchFamily="49" charset="0"/>
                <a:cs typeface="Courier New" pitchFamily="49" charset="0"/>
              </a:rPr>
              <a:t>_</a:t>
            </a:r>
            <a:r>
              <a:rPr lang="tr-TR" sz="1600" dirty="0" err="1">
                <a:latin typeface="Courier New" pitchFamily="49" charset="0"/>
                <a:cs typeface="Courier New" pitchFamily="49" charset="0"/>
              </a:rPr>
              <a:t>Click</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object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sender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EventArgs</a:t>
            </a:r>
            <a:r>
              <a:rPr lang="tr-TR" sz="1600" dirty="0">
                <a:latin typeface="Courier New" pitchFamily="49" charset="0"/>
                <a:cs typeface="Courier New" pitchFamily="49" charset="0"/>
              </a:rPr>
              <a:t> e)</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=0;</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solidFill>
                  <a:srgbClr val="00B050"/>
                </a:solidFill>
                <a:latin typeface="Courier New" pitchFamily="49" charset="0"/>
                <a:cs typeface="Courier New" pitchFamily="49" charset="0"/>
              </a:rPr>
              <a:t>	</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if</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&gt;35)</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	</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private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void</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btnGoster</a:t>
            </a:r>
            <a:r>
              <a:rPr lang="tr-TR" sz="1600" dirty="0">
                <a:latin typeface="Courier New" pitchFamily="49" charset="0"/>
                <a:cs typeface="Courier New" pitchFamily="49" charset="0"/>
              </a:rPr>
              <a:t>_</a:t>
            </a:r>
            <a:r>
              <a:rPr lang="tr-TR" sz="1600" dirty="0" err="1">
                <a:latin typeface="Courier New" pitchFamily="49" charset="0"/>
                <a:cs typeface="Courier New" pitchFamily="49" charset="0"/>
              </a:rPr>
              <a:t>Click</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object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sender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EventArgs</a:t>
            </a:r>
            <a:r>
              <a:rPr lang="tr-TR" sz="1600" dirty="0">
                <a:latin typeface="Courier New" pitchFamily="49" charset="0"/>
                <a:cs typeface="Courier New" pitchFamily="49" charset="0"/>
              </a:rPr>
              <a:t> e)</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FF0000"/>
                </a:solidFill>
                <a:latin typeface="Courier New" pitchFamily="49" charset="0"/>
                <a:cs typeface="Courier New" pitchFamily="49" charset="0"/>
              </a:rPr>
              <a:t>//</a:t>
            </a:r>
            <a:r>
              <a:rPr lang="tr-TR" sz="1600" dirty="0" err="1">
                <a:solidFill>
                  <a:srgbClr val="FF0000"/>
                </a:solidFill>
                <a:latin typeface="Courier New" pitchFamily="49" charset="0"/>
                <a:cs typeface="Courier New" pitchFamily="49" charset="0"/>
              </a:rPr>
              <a:t>still</a:t>
            </a:r>
            <a:r>
              <a:rPr lang="tr-TR" sz="1600" dirty="0">
                <a:solidFill>
                  <a:srgbClr val="FF0000"/>
                </a:solidFill>
                <a:latin typeface="Courier New" pitchFamily="49" charset="0"/>
                <a:cs typeface="Courier New" pitchFamily="49" charset="0"/>
              </a:rPr>
              <a:t> </a:t>
            </a:r>
            <a:r>
              <a:rPr lang="tr-TR" sz="1600" dirty="0" err="1">
                <a:solidFill>
                  <a:srgbClr val="FF0000"/>
                </a:solidFill>
                <a:latin typeface="Courier New" pitchFamily="49" charset="0"/>
                <a:cs typeface="Courier New" pitchFamily="49" charset="0"/>
              </a:rPr>
              <a:t>gives</a:t>
            </a:r>
            <a:r>
              <a:rPr lang="tr-TR" sz="1600" dirty="0">
                <a:solidFill>
                  <a:srgbClr val="FF0000"/>
                </a:solidFill>
                <a:latin typeface="Courier New" pitchFamily="49" charset="0"/>
                <a:cs typeface="Courier New" pitchFamily="49" charset="0"/>
              </a:rPr>
              <a:t> </a:t>
            </a:r>
            <a:r>
              <a:rPr lang="tr-TR" sz="1600" dirty="0" err="1">
                <a:solidFill>
                  <a:srgbClr val="FF0000"/>
                </a:solidFill>
                <a:latin typeface="Courier New" pitchFamily="49" charset="0"/>
                <a:cs typeface="Courier New" pitchFamily="49" charset="0"/>
              </a:rPr>
              <a:t>error</a:t>
            </a:r>
            <a:endParaRPr lang="tr-TR" sz="1600" dirty="0">
              <a:solidFill>
                <a:srgbClr val="FF000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endParaRPr lang="en-US" sz="1600" dirty="0">
              <a:solidFill>
                <a:schemeClr val="accent2"/>
              </a:solidFill>
              <a:latin typeface="Courier New" pitchFamily="49" charset="0"/>
            </a:endParaRPr>
          </a:p>
          <a:p>
            <a:pPr lvl="2" eaLnBrk="1" hangingPunct="1"/>
            <a:endParaRPr lang="en-US" sz="1600" dirty="0">
              <a:solidFill>
                <a:schemeClr val="accent2"/>
              </a:solidFill>
              <a:latin typeface="Courier New" pitchFamily="49" charset="0"/>
            </a:endParaRPr>
          </a:p>
        </p:txBody>
      </p:sp>
      <p:sp>
        <p:nvSpPr>
          <p:cNvPr id="6" name="TextBox 5"/>
          <p:cNvSpPr txBox="1"/>
          <p:nvPr/>
        </p:nvSpPr>
        <p:spPr>
          <a:xfrm>
            <a:off x="683568" y="3697287"/>
            <a:ext cx="883575" cy="307777"/>
          </a:xfrm>
          <a:prstGeom prst="rect">
            <a:avLst/>
          </a:prstGeom>
          <a:noFill/>
        </p:spPr>
        <p:txBody>
          <a:bodyPr wrap="none">
            <a:spAutoFit/>
          </a:bodyPr>
          <a:lstStyle/>
          <a:p>
            <a:pPr>
              <a:defRPr/>
            </a:pPr>
            <a:r>
              <a:rPr lang="tr-TR" sz="1400" dirty="0" err="1">
                <a:solidFill>
                  <a:srgbClr val="FF0000"/>
                </a:solidFill>
                <a:latin typeface="+mj-lt"/>
              </a:rPr>
              <a:t>Sub</a:t>
            </a:r>
            <a:r>
              <a:rPr lang="tr-TR" sz="1400" dirty="0">
                <a:solidFill>
                  <a:srgbClr val="FF0000"/>
                </a:solidFill>
                <a:latin typeface="+mj-lt"/>
              </a:rPr>
              <a:t> </a:t>
            </a:r>
            <a:r>
              <a:rPr lang="tr-TR" sz="1400" dirty="0" err="1">
                <a:solidFill>
                  <a:srgbClr val="FF0000"/>
                </a:solidFill>
                <a:latin typeface="+mj-lt"/>
              </a:rPr>
              <a:t>block</a:t>
            </a:r>
            <a:endParaRPr lang="tr-TR" sz="1400" dirty="0">
              <a:solidFill>
                <a:srgbClr val="FF0000"/>
              </a:solidFill>
              <a:latin typeface="+mj-lt"/>
            </a:endParaRPr>
          </a:p>
        </p:txBody>
      </p:sp>
      <p:sp>
        <p:nvSpPr>
          <p:cNvPr id="7" name="Oval 6"/>
          <p:cNvSpPr/>
          <p:nvPr/>
        </p:nvSpPr>
        <p:spPr>
          <a:xfrm>
            <a:off x="1619672" y="3295254"/>
            <a:ext cx="3500438" cy="1143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r-TR"/>
          </a:p>
        </p:txBody>
      </p:sp>
    </p:spTree>
    <p:extLst>
      <p:ext uri="{BB962C8B-B14F-4D97-AF65-F5344CB8AC3E}">
        <p14:creationId xmlns:p14="http://schemas.microsoft.com/office/powerpoint/2010/main" val="30571838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591BB11-5F9C-4D9A-8409-3A23D1448929}" type="slidenum">
              <a:rPr lang="en-US" altLang="en-US" smtClean="0">
                <a:latin typeface="Garamond" pitchFamily="18" charset="0"/>
              </a:rPr>
              <a:pPr eaLnBrk="1" hangingPunct="1"/>
              <a:t>43</a:t>
            </a:fld>
            <a:endParaRPr lang="en-US" altLang="en-US">
              <a:latin typeface="Garamond" pitchFamily="18" charset="0"/>
            </a:endParaRPr>
          </a:p>
        </p:txBody>
      </p:sp>
      <p:sp>
        <p:nvSpPr>
          <p:cNvPr id="12292" name="Rectangle 3"/>
          <p:cNvSpPr>
            <a:spLocks noGrp="1" noChangeArrowheads="1"/>
          </p:cNvSpPr>
          <p:nvPr>
            <p:ph type="body" idx="1"/>
          </p:nvPr>
        </p:nvSpPr>
        <p:spPr>
          <a:xfrm>
            <a:off x="323528" y="1138734"/>
            <a:ext cx="8229600" cy="5602634"/>
          </a:xfrm>
        </p:spPr>
        <p:txBody>
          <a:bodyPr>
            <a:normAutofit/>
          </a:bodyPr>
          <a:lstStyle/>
          <a:p>
            <a:pPr lvl="1"/>
            <a:r>
              <a:rPr lang="tr-TR" sz="1600" dirty="0" err="1"/>
              <a:t>Variables</a:t>
            </a:r>
            <a:r>
              <a:rPr lang="tr-TR" sz="1600" dirty="0"/>
              <a:t> </a:t>
            </a:r>
            <a:r>
              <a:rPr lang="tr-TR" sz="1600" dirty="0" err="1"/>
              <a:t>are</a:t>
            </a:r>
            <a:r>
              <a:rPr lang="tr-TR" sz="1600" dirty="0"/>
              <a:t> </a:t>
            </a:r>
            <a:r>
              <a:rPr lang="tr-TR" sz="1600" dirty="0" err="1"/>
              <a:t>valid</a:t>
            </a:r>
            <a:r>
              <a:rPr lang="tr-TR" sz="1600" dirty="0"/>
              <a:t> in </a:t>
            </a:r>
            <a:r>
              <a:rPr lang="tr-TR" sz="1600" dirty="0" err="1"/>
              <a:t>the</a:t>
            </a:r>
            <a:r>
              <a:rPr lang="tr-TR" sz="1600" dirty="0"/>
              <a:t> </a:t>
            </a:r>
            <a:r>
              <a:rPr lang="tr-TR" sz="1600" b="1" dirty="0" err="1"/>
              <a:t>sub-blocks</a:t>
            </a:r>
            <a:r>
              <a:rPr lang="tr-TR" sz="1600" dirty="0"/>
              <a:t> of </a:t>
            </a:r>
            <a:r>
              <a:rPr lang="tr-TR" sz="1600" dirty="0" err="1"/>
              <a:t>the</a:t>
            </a:r>
            <a:r>
              <a:rPr lang="tr-TR" sz="1600" dirty="0"/>
              <a:t> </a:t>
            </a:r>
            <a:r>
              <a:rPr lang="tr-TR" sz="1600" dirty="0" err="1"/>
              <a:t>blocks</a:t>
            </a:r>
            <a:r>
              <a:rPr lang="tr-TR" sz="1600" dirty="0"/>
              <a:t> </a:t>
            </a:r>
            <a:r>
              <a:rPr lang="tr-TR" sz="1600" dirty="0" err="1"/>
              <a:t>they</a:t>
            </a:r>
            <a:r>
              <a:rPr lang="tr-TR" sz="1600" dirty="0"/>
              <a:t> </a:t>
            </a:r>
            <a:r>
              <a:rPr lang="tr-TR" sz="1600" dirty="0" err="1"/>
              <a:t>are</a:t>
            </a:r>
            <a:r>
              <a:rPr lang="tr-TR" sz="1600" dirty="0"/>
              <a:t> </a:t>
            </a:r>
            <a:r>
              <a:rPr lang="tr-TR" sz="1600" dirty="0" err="1"/>
              <a:t>defined</a:t>
            </a:r>
            <a:r>
              <a:rPr lang="tr-TR" sz="1600" dirty="0"/>
              <a:t> in , </a:t>
            </a:r>
            <a:r>
              <a:rPr lang="tr-TR" sz="1600" dirty="0" err="1"/>
              <a:t>and</a:t>
            </a:r>
            <a:r>
              <a:rPr lang="tr-TR" sz="1600" dirty="0"/>
              <a:t> </a:t>
            </a:r>
            <a:r>
              <a:rPr lang="tr-TR" sz="1600" dirty="0" err="1"/>
              <a:t>are</a:t>
            </a:r>
            <a:r>
              <a:rPr lang="tr-TR" sz="1600" dirty="0"/>
              <a:t> </a:t>
            </a:r>
            <a:r>
              <a:rPr lang="tr-TR" sz="1600" dirty="0" err="1"/>
              <a:t>invalid</a:t>
            </a:r>
            <a:r>
              <a:rPr lang="tr-TR" sz="1600" dirty="0"/>
              <a:t> in </a:t>
            </a:r>
            <a:r>
              <a:rPr lang="tr-TR" sz="1600" dirty="0" err="1"/>
              <a:t>the</a:t>
            </a:r>
            <a:r>
              <a:rPr lang="tr-TR" sz="1600" dirty="0"/>
              <a:t> </a:t>
            </a:r>
            <a:r>
              <a:rPr lang="tr-TR" sz="1600" b="1" dirty="0" err="1"/>
              <a:t>upper</a:t>
            </a:r>
            <a:r>
              <a:rPr lang="tr-TR" sz="1600" dirty="0"/>
              <a:t> </a:t>
            </a:r>
            <a:r>
              <a:rPr lang="tr-TR" sz="1600" dirty="0" err="1"/>
              <a:t>blocks</a:t>
            </a:r>
            <a:r>
              <a:rPr lang="tr-TR" sz="1600" dirty="0"/>
              <a:t>.</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private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void</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btnHesapla_Click</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object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sender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EventArgs</a:t>
            </a:r>
            <a:r>
              <a:rPr lang="tr-TR" sz="1600" dirty="0">
                <a:latin typeface="Courier New" pitchFamily="49" charset="0"/>
                <a:cs typeface="Courier New" pitchFamily="49" charset="0"/>
              </a:rPr>
              <a:t> e)</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=0;</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solidFill>
                  <a:srgbClr val="00B050"/>
                </a:solidFill>
                <a:latin typeface="Courier New" pitchFamily="49" charset="0"/>
                <a:cs typeface="Courier New" pitchFamily="49" charset="0"/>
              </a:rPr>
              <a:t>	</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if</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&gt;35)</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solidFill>
                  <a:srgbClr val="00B050"/>
                </a:solidFill>
                <a:latin typeface="Courier New" pitchFamily="49" charset="0"/>
                <a:cs typeface="Courier New" pitchFamily="49" charset="0"/>
              </a:rPr>
              <a:t>			</a:t>
            </a:r>
            <a:r>
              <a:rPr lang="tr-TR" sz="1600" dirty="0" err="1">
                <a:solidFill>
                  <a:srgbClr val="0000FF"/>
                </a:solidFill>
                <a:latin typeface="Courier New" pitchFamily="49" charset="0"/>
                <a:cs typeface="Courier New" pitchFamily="49" charset="0"/>
              </a:rPr>
              <a:t>int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bornYear</a:t>
            </a:r>
            <a:r>
              <a:rPr lang="tr-TR" sz="1600" dirty="0">
                <a:latin typeface="Courier New" pitchFamily="49" charset="0"/>
                <a:cs typeface="Courier New" pitchFamily="49" charset="0"/>
              </a:rPr>
              <a:t> = 2015 –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bornYear</a:t>
            </a:r>
            <a:r>
              <a:rPr lang="tr-TR" sz="1600" dirty="0">
                <a:latin typeface="Courier New" pitchFamily="49" charset="0"/>
                <a:cs typeface="Courier New" pitchFamily="49" charset="0"/>
              </a:rPr>
              <a:t>); </a:t>
            </a:r>
            <a:r>
              <a:rPr lang="tr-TR" sz="1600" dirty="0">
                <a:solidFill>
                  <a:srgbClr val="00B050"/>
                </a:solidFill>
                <a:latin typeface="Courier New" pitchFamily="49" charset="0"/>
                <a:cs typeface="Courier New" pitchFamily="49" charset="0"/>
              </a:rPr>
              <a:t>//</a:t>
            </a:r>
            <a:r>
              <a:rPr lang="tr-TR" sz="1600" dirty="0" err="1">
                <a:solidFill>
                  <a:srgbClr val="00B050"/>
                </a:solidFill>
                <a:latin typeface="Courier New" pitchFamily="49" charset="0"/>
                <a:cs typeface="Courier New" pitchFamily="49" charset="0"/>
              </a:rPr>
              <a:t>runs</a:t>
            </a:r>
            <a:endParaRPr lang="tr-TR" sz="1600" dirty="0">
              <a:solidFill>
                <a:srgbClr val="00B05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bornYear</a:t>
            </a:r>
            <a:r>
              <a:rPr lang="tr-TR" sz="1600" dirty="0">
                <a:latin typeface="Courier New" pitchFamily="49" charset="0"/>
                <a:cs typeface="Courier New" pitchFamily="49" charset="0"/>
              </a:rPr>
              <a:t>); </a:t>
            </a:r>
            <a:r>
              <a:rPr lang="tr-TR" sz="1600" dirty="0">
                <a:solidFill>
                  <a:srgbClr val="FF0000"/>
                </a:solidFill>
                <a:latin typeface="Courier New" pitchFamily="49" charset="0"/>
                <a:cs typeface="Courier New" pitchFamily="49" charset="0"/>
              </a:rPr>
              <a:t>//</a:t>
            </a:r>
            <a:r>
              <a:rPr lang="tr-TR" sz="1600" dirty="0" err="1">
                <a:solidFill>
                  <a:srgbClr val="FF0000"/>
                </a:solidFill>
                <a:latin typeface="Courier New" pitchFamily="49" charset="0"/>
                <a:cs typeface="Courier New" pitchFamily="49" charset="0"/>
              </a:rPr>
              <a:t>gives</a:t>
            </a:r>
            <a:r>
              <a:rPr lang="tr-TR" sz="1600" dirty="0">
                <a:solidFill>
                  <a:srgbClr val="FF0000"/>
                </a:solidFill>
                <a:latin typeface="Courier New" pitchFamily="49" charset="0"/>
                <a:cs typeface="Courier New" pitchFamily="49" charset="0"/>
              </a:rPr>
              <a:t> </a:t>
            </a:r>
            <a:r>
              <a:rPr lang="tr-TR" sz="1600" dirty="0" err="1">
                <a:solidFill>
                  <a:srgbClr val="FF0000"/>
                </a:solidFill>
                <a:latin typeface="Courier New" pitchFamily="49" charset="0"/>
                <a:cs typeface="Courier New" pitchFamily="49" charset="0"/>
              </a:rPr>
              <a:t>error</a:t>
            </a:r>
            <a:endParaRPr lang="tr-TR" sz="1600" dirty="0">
              <a:solidFill>
                <a:srgbClr val="FF000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private</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void</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btnGoster</a:t>
            </a:r>
            <a:r>
              <a:rPr lang="tr-TR" sz="1600" dirty="0">
                <a:latin typeface="Courier New" pitchFamily="49" charset="0"/>
                <a:cs typeface="Courier New" pitchFamily="49" charset="0"/>
              </a:rPr>
              <a:t>_</a:t>
            </a:r>
            <a:r>
              <a:rPr lang="tr-TR" sz="1600" dirty="0" err="1">
                <a:latin typeface="Courier New" pitchFamily="49" charset="0"/>
                <a:cs typeface="Courier New" pitchFamily="49" charset="0"/>
              </a:rPr>
              <a:t>Click</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object</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sender</a:t>
            </a: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EventArgs</a:t>
            </a:r>
            <a:r>
              <a:rPr lang="tr-TR" sz="1600" dirty="0">
                <a:latin typeface="Courier New" pitchFamily="49" charset="0"/>
                <a:cs typeface="Courier New" pitchFamily="49" charset="0"/>
              </a:rPr>
              <a:t> e)</a:t>
            </a:r>
          </a:p>
          <a:p>
            <a:pPr>
              <a:buFont typeface="Wingdings" pitchFamily="2" charset="2"/>
              <a:buNone/>
            </a:pPr>
            <a:r>
              <a:rPr lang="tr-TR" sz="1600" dirty="0">
                <a:latin typeface="Courier New" pitchFamily="49" charset="0"/>
                <a:cs typeface="Courier New" pitchFamily="49" charset="0"/>
              </a:rPr>
              <a:t>        {</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MessageBox.Show</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 </a:t>
            </a:r>
            <a:r>
              <a:rPr lang="tr-TR" sz="1600" dirty="0" err="1">
                <a:latin typeface="Courier New" pitchFamily="49" charset="0"/>
                <a:cs typeface="Courier New" pitchFamily="49" charset="0"/>
              </a:rPr>
              <a:t>age</a:t>
            </a:r>
            <a:r>
              <a:rPr lang="tr-TR" sz="1600" dirty="0">
                <a:latin typeface="Courier New" pitchFamily="49" charset="0"/>
                <a:cs typeface="Courier New" pitchFamily="49" charset="0"/>
              </a:rPr>
              <a:t>); </a:t>
            </a:r>
            <a:r>
              <a:rPr lang="tr-TR" sz="1600" dirty="0">
                <a:solidFill>
                  <a:srgbClr val="FF0000"/>
                </a:solidFill>
                <a:latin typeface="Courier New" pitchFamily="49" charset="0"/>
                <a:cs typeface="Courier New" pitchFamily="49" charset="0"/>
              </a:rPr>
              <a:t>//</a:t>
            </a:r>
            <a:r>
              <a:rPr lang="tr-TR" sz="1600" dirty="0" err="1">
                <a:solidFill>
                  <a:srgbClr val="FF0000"/>
                </a:solidFill>
                <a:latin typeface="Courier New" pitchFamily="49" charset="0"/>
                <a:cs typeface="Courier New" pitchFamily="49" charset="0"/>
              </a:rPr>
              <a:t>still</a:t>
            </a:r>
            <a:r>
              <a:rPr lang="tr-TR" sz="1600" dirty="0">
                <a:solidFill>
                  <a:srgbClr val="FF0000"/>
                </a:solidFill>
                <a:latin typeface="Courier New" pitchFamily="49" charset="0"/>
                <a:cs typeface="Courier New" pitchFamily="49" charset="0"/>
              </a:rPr>
              <a:t> </a:t>
            </a:r>
            <a:r>
              <a:rPr lang="tr-TR" sz="1600" dirty="0" err="1">
                <a:solidFill>
                  <a:srgbClr val="FF0000"/>
                </a:solidFill>
                <a:latin typeface="Courier New" pitchFamily="49" charset="0"/>
                <a:cs typeface="Courier New" pitchFamily="49" charset="0"/>
              </a:rPr>
              <a:t>gives</a:t>
            </a:r>
            <a:r>
              <a:rPr lang="tr-TR" sz="1600" dirty="0">
                <a:solidFill>
                  <a:srgbClr val="FF0000"/>
                </a:solidFill>
                <a:latin typeface="Courier New" pitchFamily="49" charset="0"/>
                <a:cs typeface="Courier New" pitchFamily="49" charset="0"/>
              </a:rPr>
              <a:t> </a:t>
            </a:r>
            <a:r>
              <a:rPr lang="tr-TR" sz="1600" dirty="0" err="1">
                <a:solidFill>
                  <a:srgbClr val="FF0000"/>
                </a:solidFill>
                <a:latin typeface="Courier New" pitchFamily="49" charset="0"/>
                <a:cs typeface="Courier New" pitchFamily="49" charset="0"/>
              </a:rPr>
              <a:t>error</a:t>
            </a:r>
            <a:endParaRPr lang="tr-TR" sz="1600" dirty="0">
              <a:solidFill>
                <a:srgbClr val="FF0000"/>
              </a:solidFill>
              <a:latin typeface="Courier New" pitchFamily="49" charset="0"/>
              <a:cs typeface="Courier New" pitchFamily="49" charset="0"/>
            </a:endParaRPr>
          </a:p>
          <a:p>
            <a:pPr>
              <a:buFont typeface="Wingdings" pitchFamily="2" charset="2"/>
              <a:buNone/>
            </a:pPr>
            <a:r>
              <a:rPr lang="tr-TR" sz="1600" dirty="0">
                <a:latin typeface="Courier New" pitchFamily="49" charset="0"/>
                <a:cs typeface="Courier New" pitchFamily="49" charset="0"/>
              </a:rPr>
              <a:t>        }</a:t>
            </a:r>
            <a:endParaRPr lang="en-US" sz="1600" dirty="0">
              <a:solidFill>
                <a:schemeClr val="accent2"/>
              </a:solidFill>
              <a:latin typeface="Courier New" pitchFamily="49" charset="0"/>
            </a:endParaRPr>
          </a:p>
          <a:p>
            <a:pPr lvl="2" eaLnBrk="1" hangingPunct="1"/>
            <a:endParaRPr lang="en-US" sz="1600" dirty="0">
              <a:solidFill>
                <a:schemeClr val="accent2"/>
              </a:solidFill>
              <a:latin typeface="Courier New" pitchFamily="49" charset="0"/>
            </a:endParaRPr>
          </a:p>
        </p:txBody>
      </p:sp>
      <p:sp>
        <p:nvSpPr>
          <p:cNvPr id="6" name="Rectangle 2"/>
          <p:cNvSpPr>
            <a:spLocks noGrp="1" noChangeArrowheads="1"/>
          </p:cNvSpPr>
          <p:nvPr>
            <p:ph type="title"/>
          </p:nvPr>
        </p:nvSpPr>
        <p:spPr>
          <a:xfrm>
            <a:off x="457200" y="274638"/>
            <a:ext cx="8229600" cy="1143000"/>
          </a:xfrm>
        </p:spPr>
        <p:txBody>
          <a:bodyPr/>
          <a:lstStyle/>
          <a:p>
            <a:r>
              <a:rPr lang="tr-TR" dirty="0" err="1"/>
              <a:t>Variables</a:t>
            </a:r>
            <a:endParaRPr lang="en-US" dirty="0"/>
          </a:p>
        </p:txBody>
      </p:sp>
    </p:spTree>
    <p:extLst>
      <p:ext uri="{BB962C8B-B14F-4D97-AF65-F5344CB8AC3E}">
        <p14:creationId xmlns:p14="http://schemas.microsoft.com/office/powerpoint/2010/main" val="3810765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35E2B77-4AE9-4D67-B592-DF398F310320}" type="slidenum">
              <a:rPr lang="en-US" altLang="en-US" smtClean="0">
                <a:latin typeface="Garamond" pitchFamily="18" charset="0"/>
              </a:rPr>
              <a:pPr eaLnBrk="1" hangingPunct="1"/>
              <a:t>44</a:t>
            </a:fld>
            <a:endParaRPr lang="en-US" altLang="en-US">
              <a:latin typeface="Garamond" pitchFamily="18" charset="0"/>
            </a:endParaRPr>
          </a:p>
        </p:txBody>
      </p:sp>
      <p:sp>
        <p:nvSpPr>
          <p:cNvPr id="13315" name="Rectangle 2"/>
          <p:cNvSpPr>
            <a:spLocks noGrp="1" noChangeArrowheads="1"/>
          </p:cNvSpPr>
          <p:nvPr>
            <p:ph type="title"/>
          </p:nvPr>
        </p:nvSpPr>
        <p:spPr/>
        <p:txBody>
          <a:bodyPr/>
          <a:lstStyle/>
          <a:p>
            <a:r>
              <a:rPr lang="tr-TR" dirty="0" err="1"/>
              <a:t>Variables</a:t>
            </a:r>
            <a:endParaRPr lang="en-US" dirty="0"/>
          </a:p>
        </p:txBody>
      </p:sp>
      <p:sp>
        <p:nvSpPr>
          <p:cNvPr id="13316" name="Rectangle 3"/>
          <p:cNvSpPr>
            <a:spLocks noGrp="1" noChangeArrowheads="1"/>
          </p:cNvSpPr>
          <p:nvPr>
            <p:ph type="body" idx="1"/>
          </p:nvPr>
        </p:nvSpPr>
        <p:spPr>
          <a:xfrm>
            <a:off x="428625" y="1058515"/>
            <a:ext cx="8229600" cy="4530725"/>
          </a:xfrm>
          <a:noFill/>
        </p:spPr>
        <p:txBody>
          <a:bodyPr/>
          <a:lstStyle/>
          <a:p>
            <a:r>
              <a:rPr lang="tr-TR" dirty="0"/>
              <a:t>Data </a:t>
            </a:r>
            <a:r>
              <a:rPr lang="tr-TR" dirty="0" err="1"/>
              <a:t>Type</a:t>
            </a:r>
            <a:r>
              <a:rPr lang="tr-TR" dirty="0"/>
              <a:t> </a:t>
            </a:r>
            <a:r>
              <a:rPr lang="tr-TR" dirty="0" err="1"/>
              <a:t>Conversions</a:t>
            </a:r>
            <a:r>
              <a:rPr lang="tr-TR" dirty="0"/>
              <a:t> (</a:t>
            </a:r>
            <a:r>
              <a:rPr lang="tr-TR" dirty="0" err="1"/>
              <a:t>Casting</a:t>
            </a:r>
            <a:r>
              <a:rPr lang="tr-TR" dirty="0"/>
              <a:t>)</a:t>
            </a:r>
          </a:p>
          <a:p>
            <a:pPr lvl="1"/>
            <a:r>
              <a:rPr lang="tr-TR" sz="1600" dirty="0" err="1"/>
              <a:t>Converting</a:t>
            </a:r>
            <a:r>
              <a:rPr lang="tr-TR" sz="1600" dirty="0"/>
              <a:t> </a:t>
            </a:r>
            <a:r>
              <a:rPr lang="tr-TR" sz="1600" dirty="0" err="1"/>
              <a:t>from</a:t>
            </a:r>
            <a:r>
              <a:rPr lang="tr-TR" sz="1600" dirty="0"/>
              <a:t> </a:t>
            </a:r>
            <a:r>
              <a:rPr lang="tr-TR" sz="1600" dirty="0" err="1"/>
              <a:t>one</a:t>
            </a:r>
            <a:r>
              <a:rPr lang="tr-TR" sz="1600" dirty="0"/>
              <a:t> data </a:t>
            </a:r>
            <a:r>
              <a:rPr lang="tr-TR" sz="1600" dirty="0" err="1"/>
              <a:t>type</a:t>
            </a:r>
            <a:r>
              <a:rPr lang="tr-TR" sz="1600" dirty="0"/>
              <a:t> </a:t>
            </a:r>
            <a:r>
              <a:rPr lang="tr-TR" sz="1600" dirty="0" err="1"/>
              <a:t>to</a:t>
            </a:r>
            <a:r>
              <a:rPr lang="tr-TR" sz="1600" dirty="0"/>
              <a:t> </a:t>
            </a:r>
            <a:r>
              <a:rPr lang="tr-TR" sz="1600" dirty="0" err="1"/>
              <a:t>another</a:t>
            </a:r>
            <a:endParaRPr lang="tr-TR" sz="1600" dirty="0"/>
          </a:p>
          <a:p>
            <a:pPr lvl="2"/>
            <a:r>
              <a:rPr lang="tr-TR" sz="1600" b="1" dirty="0" err="1"/>
              <a:t>implicit</a:t>
            </a:r>
            <a:r>
              <a:rPr lang="tr-TR" sz="1600" b="1" dirty="0"/>
              <a:t> </a:t>
            </a:r>
            <a:r>
              <a:rPr lang="tr-TR" sz="1600" b="1" dirty="0" err="1"/>
              <a:t>conversion</a:t>
            </a:r>
            <a:r>
              <a:rPr lang="tr-TR" sz="1600" dirty="0"/>
              <a:t>: </a:t>
            </a:r>
            <a:r>
              <a:rPr lang="tr-TR" sz="1600" dirty="0" err="1"/>
              <a:t>It</a:t>
            </a:r>
            <a:r>
              <a:rPr lang="tr-TR" sz="1600" dirty="0"/>
              <a:t> is done </a:t>
            </a:r>
            <a:r>
              <a:rPr lang="tr-TR" sz="1600" dirty="0" err="1"/>
              <a:t>without</a:t>
            </a:r>
            <a:r>
              <a:rPr lang="tr-TR" sz="1600" dirty="0"/>
              <a:t> </a:t>
            </a:r>
            <a:r>
              <a:rPr lang="tr-TR" sz="1600" dirty="0" err="1"/>
              <a:t>using</a:t>
            </a:r>
            <a:r>
              <a:rPr lang="tr-TR" sz="1600" dirty="0"/>
              <a:t> </a:t>
            </a:r>
            <a:r>
              <a:rPr lang="tr-TR" sz="1600" dirty="0" err="1"/>
              <a:t>any</a:t>
            </a:r>
            <a:r>
              <a:rPr lang="tr-TR" sz="1600" dirty="0"/>
              <a:t> </a:t>
            </a:r>
            <a:r>
              <a:rPr lang="tr-TR" sz="1600" dirty="0" err="1"/>
              <a:t>conversion</a:t>
            </a:r>
            <a:r>
              <a:rPr lang="tr-TR" sz="1600" dirty="0"/>
              <a:t> </a:t>
            </a:r>
            <a:r>
              <a:rPr lang="tr-TR" sz="1600" dirty="0" err="1"/>
              <a:t>operator</a:t>
            </a:r>
            <a:r>
              <a:rPr lang="tr-TR" sz="1600" dirty="0"/>
              <a:t>. </a:t>
            </a:r>
            <a:r>
              <a:rPr lang="tr-TR" sz="1600" dirty="0" err="1"/>
              <a:t>It</a:t>
            </a:r>
            <a:r>
              <a:rPr lang="tr-TR" sz="1600" dirty="0"/>
              <a:t> is done in </a:t>
            </a:r>
            <a:r>
              <a:rPr lang="tr-TR" sz="1600" dirty="0" err="1"/>
              <a:t>cases</a:t>
            </a:r>
            <a:r>
              <a:rPr lang="tr-TR" sz="1600" dirty="0"/>
              <a:t> </a:t>
            </a:r>
            <a:r>
              <a:rPr lang="tr-TR" sz="1600" dirty="0" err="1"/>
              <a:t>where</a:t>
            </a:r>
            <a:r>
              <a:rPr lang="tr-TR" sz="1600" dirty="0"/>
              <a:t> </a:t>
            </a:r>
            <a:r>
              <a:rPr lang="tr-TR" sz="1600" dirty="0" err="1"/>
              <a:t>there</a:t>
            </a:r>
            <a:r>
              <a:rPr lang="tr-TR" sz="1600" dirty="0"/>
              <a:t> is </a:t>
            </a:r>
            <a:r>
              <a:rPr lang="tr-TR" sz="1600" dirty="0" err="1"/>
              <a:t>no</a:t>
            </a:r>
            <a:r>
              <a:rPr lang="tr-TR" sz="1600" dirty="0"/>
              <a:t> data </a:t>
            </a:r>
            <a:r>
              <a:rPr lang="tr-TR" sz="1600" dirty="0" err="1"/>
              <a:t>loss</a:t>
            </a:r>
            <a:endParaRPr lang="tr-TR" sz="1600" dirty="0"/>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int</a:t>
            </a:r>
            <a:r>
              <a:rPr lang="tr-TR" sz="1600" dirty="0">
                <a:latin typeface="Courier New" pitchFamily="49" charset="0"/>
                <a:cs typeface="Courier New" pitchFamily="49" charset="0"/>
              </a:rPr>
              <a:t> x = 10;</a:t>
            </a:r>
          </a:p>
          <a:p>
            <a:pPr>
              <a:buFont typeface="Wingdings" pitchFamily="2" charset="2"/>
              <a:buNone/>
            </a:pPr>
            <a:r>
              <a:rPr lang="tr-TR" sz="1600" dirty="0">
                <a:latin typeface="Courier New" pitchFamily="49" charset="0"/>
                <a:cs typeface="Courier New" pitchFamily="49" charset="0"/>
              </a:rPr>
              <a:t>            </a:t>
            </a:r>
            <a:r>
              <a:rPr lang="tr-TR" sz="1600" dirty="0" err="1">
                <a:latin typeface="Courier New" pitchFamily="49" charset="0"/>
                <a:cs typeface="Courier New" pitchFamily="49" charset="0"/>
              </a:rPr>
              <a:t>double</a:t>
            </a:r>
            <a:r>
              <a:rPr lang="tr-TR" sz="1600" dirty="0">
                <a:latin typeface="Courier New" pitchFamily="49" charset="0"/>
                <a:cs typeface="Courier New" pitchFamily="49" charset="0"/>
              </a:rPr>
              <a:t> y = 50.45;</a:t>
            </a:r>
          </a:p>
          <a:p>
            <a:pPr>
              <a:buFont typeface="Wingdings" pitchFamily="2" charset="2"/>
              <a:buNone/>
            </a:pPr>
            <a:r>
              <a:rPr lang="tr-TR" sz="1600" dirty="0">
                <a:latin typeface="Courier New" pitchFamily="49" charset="0"/>
                <a:cs typeface="Courier New" pitchFamily="49" charset="0"/>
              </a:rPr>
              <a:t>            y = x;  </a:t>
            </a:r>
            <a:r>
              <a:rPr lang="tr-TR" sz="1600" dirty="0">
                <a:solidFill>
                  <a:srgbClr val="00B050"/>
                </a:solidFill>
                <a:latin typeface="Courier New" pitchFamily="49" charset="0"/>
                <a:cs typeface="Courier New" pitchFamily="49" charset="0"/>
              </a:rPr>
              <a:t>// y </a:t>
            </a:r>
            <a:r>
              <a:rPr lang="tr-TR" sz="1600" dirty="0" err="1">
                <a:solidFill>
                  <a:srgbClr val="00B050"/>
                </a:solidFill>
                <a:latin typeface="Courier New" pitchFamily="49" charset="0"/>
                <a:cs typeface="Courier New" pitchFamily="49" charset="0"/>
              </a:rPr>
              <a:t>becomes</a:t>
            </a:r>
            <a:r>
              <a:rPr lang="tr-TR" sz="1600" dirty="0">
                <a:solidFill>
                  <a:srgbClr val="00B050"/>
                </a:solidFill>
                <a:latin typeface="Courier New" pitchFamily="49" charset="0"/>
                <a:cs typeface="Courier New" pitchFamily="49" charset="0"/>
              </a:rPr>
              <a:t> 10.0</a:t>
            </a:r>
          </a:p>
          <a:p>
            <a:pPr>
              <a:buFont typeface="Wingdings" pitchFamily="2" charset="2"/>
              <a:buNone/>
            </a:pPr>
            <a:endParaRPr lang="tr-TR" sz="1600" dirty="0">
              <a:solidFill>
                <a:srgbClr val="00B050"/>
              </a:solidFill>
              <a:latin typeface="Courier New" pitchFamily="49" charset="0"/>
              <a:cs typeface="Courier New" pitchFamily="49" charset="0"/>
            </a:endParaRPr>
          </a:p>
          <a:p>
            <a:pPr>
              <a:buFont typeface="Wingdings" pitchFamily="2" charset="2"/>
              <a:buNone/>
            </a:pPr>
            <a:endParaRPr lang="tr-TR" sz="1600" dirty="0">
              <a:solidFill>
                <a:srgbClr val="00B050"/>
              </a:solidFill>
              <a:latin typeface="Courier New" pitchFamily="49" charset="0"/>
              <a:cs typeface="Courier New" pitchFamily="49" charset="0"/>
            </a:endParaRPr>
          </a:p>
          <a:p>
            <a:pPr lvl="2"/>
            <a:r>
              <a:rPr lang="tr-TR" sz="1600" b="1" dirty="0" err="1"/>
              <a:t>explicit</a:t>
            </a:r>
            <a:r>
              <a:rPr lang="tr-TR" sz="1600" b="1" dirty="0"/>
              <a:t> </a:t>
            </a:r>
            <a:r>
              <a:rPr lang="tr-TR" sz="1600" b="1" dirty="0" err="1"/>
              <a:t>conversion</a:t>
            </a:r>
            <a:r>
              <a:rPr lang="tr-TR" sz="1600" b="1" dirty="0"/>
              <a:t>: </a:t>
            </a:r>
            <a:r>
              <a:rPr lang="tr-TR" sz="1600" dirty="0" err="1"/>
              <a:t>The</a:t>
            </a:r>
            <a:r>
              <a:rPr lang="tr-TR" sz="1600" dirty="0"/>
              <a:t> </a:t>
            </a:r>
            <a:r>
              <a:rPr lang="tr-TR" sz="1600" dirty="0" err="1"/>
              <a:t>conversion</a:t>
            </a:r>
            <a:r>
              <a:rPr lang="tr-TR" sz="1600" dirty="0"/>
              <a:t> is done </a:t>
            </a:r>
            <a:r>
              <a:rPr lang="tr-TR" sz="1600" dirty="0" err="1"/>
              <a:t>using</a:t>
            </a:r>
            <a:r>
              <a:rPr lang="tr-TR" sz="1600" dirty="0"/>
              <a:t> an </a:t>
            </a:r>
            <a:r>
              <a:rPr lang="tr-TR" sz="1600" dirty="0" err="1"/>
              <a:t>operator</a:t>
            </a:r>
            <a:r>
              <a:rPr lang="tr-TR" sz="1600" dirty="0"/>
              <a:t> </a:t>
            </a:r>
            <a:r>
              <a:rPr lang="tr-TR" sz="1600" dirty="0" err="1"/>
              <a:t>according</a:t>
            </a:r>
            <a:r>
              <a:rPr lang="tr-TR" sz="1600" dirty="0"/>
              <a:t> </a:t>
            </a:r>
            <a:r>
              <a:rPr lang="tr-TR" sz="1600" dirty="0" err="1"/>
              <a:t>to</a:t>
            </a:r>
            <a:r>
              <a:rPr lang="tr-TR" sz="1600" dirty="0"/>
              <a:t> </a:t>
            </a:r>
            <a:r>
              <a:rPr lang="tr-TR" sz="1600" dirty="0" err="1"/>
              <a:t>the</a:t>
            </a:r>
            <a:r>
              <a:rPr lang="tr-TR" sz="1600" dirty="0"/>
              <a:t> </a:t>
            </a:r>
            <a:r>
              <a:rPr lang="tr-TR" sz="1600" dirty="0" err="1"/>
              <a:t>type</a:t>
            </a:r>
            <a:r>
              <a:rPr lang="tr-TR" sz="1600" dirty="0"/>
              <a:t>. </a:t>
            </a:r>
            <a:r>
              <a:rPr lang="tr-TR" sz="1600" dirty="0" err="1"/>
              <a:t>It</a:t>
            </a:r>
            <a:r>
              <a:rPr lang="tr-TR" sz="1600" dirty="0"/>
              <a:t> is done </a:t>
            </a:r>
            <a:r>
              <a:rPr lang="tr-TR" sz="1600" dirty="0" err="1"/>
              <a:t>smoothly</a:t>
            </a:r>
            <a:r>
              <a:rPr lang="tr-TR" sz="1600" dirty="0"/>
              <a:t> </a:t>
            </a:r>
            <a:r>
              <a:rPr lang="tr-TR" sz="1600" dirty="0" err="1"/>
              <a:t>even</a:t>
            </a:r>
            <a:r>
              <a:rPr lang="tr-TR" sz="1600" dirty="0"/>
              <a:t> </a:t>
            </a:r>
            <a:r>
              <a:rPr lang="tr-TR" sz="1600" dirty="0" err="1"/>
              <a:t>if</a:t>
            </a:r>
            <a:r>
              <a:rPr lang="tr-TR" sz="1600" dirty="0"/>
              <a:t> </a:t>
            </a:r>
            <a:r>
              <a:rPr lang="tr-TR" sz="1600" dirty="0" err="1"/>
              <a:t>there</a:t>
            </a:r>
            <a:r>
              <a:rPr lang="tr-TR" sz="1600" dirty="0"/>
              <a:t> is data </a:t>
            </a:r>
            <a:r>
              <a:rPr lang="tr-TR" sz="1600" dirty="0" err="1"/>
              <a:t>loss</a:t>
            </a:r>
            <a:r>
              <a:rPr lang="tr-TR" sz="1600" dirty="0"/>
              <a:t>.</a:t>
            </a:r>
          </a:p>
        </p:txBody>
      </p:sp>
      <p:sp>
        <p:nvSpPr>
          <p:cNvPr id="13317" name="TextBox 7"/>
          <p:cNvSpPr txBox="1">
            <a:spLocks noChangeArrowheads="1"/>
          </p:cNvSpPr>
          <p:nvPr/>
        </p:nvSpPr>
        <p:spPr bwMode="auto">
          <a:xfrm>
            <a:off x="5429250" y="2357438"/>
            <a:ext cx="30003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tr-TR" sz="1600" dirty="0" err="1">
                <a:latin typeface="Courier New" pitchFamily="49" charset="0"/>
                <a:cs typeface="Courier New" pitchFamily="49" charset="0"/>
              </a:rPr>
              <a:t>int</a:t>
            </a:r>
            <a:r>
              <a:rPr lang="tr-TR" sz="1600" dirty="0">
                <a:latin typeface="Courier New" pitchFamily="49" charset="0"/>
                <a:cs typeface="Courier New" pitchFamily="49" charset="0"/>
              </a:rPr>
              <a:t> x = 10;</a:t>
            </a:r>
          </a:p>
          <a:p>
            <a:pPr eaLnBrk="1" hangingPunct="1"/>
            <a:r>
              <a:rPr lang="tr-TR" sz="1600" dirty="0" err="1">
                <a:latin typeface="Courier New" pitchFamily="49" charset="0"/>
                <a:cs typeface="Courier New" pitchFamily="49" charset="0"/>
              </a:rPr>
              <a:t>double</a:t>
            </a:r>
            <a:r>
              <a:rPr lang="tr-TR" sz="1600" dirty="0">
                <a:latin typeface="Courier New" pitchFamily="49" charset="0"/>
                <a:cs typeface="Courier New" pitchFamily="49" charset="0"/>
              </a:rPr>
              <a:t> y = 50.45;</a:t>
            </a:r>
          </a:p>
          <a:p>
            <a:pPr eaLnBrk="1" hangingPunct="1"/>
            <a:r>
              <a:rPr lang="tr-TR" sz="1600" dirty="0">
                <a:latin typeface="Courier New" pitchFamily="49" charset="0"/>
                <a:cs typeface="Courier New" pitchFamily="49" charset="0"/>
              </a:rPr>
              <a:t>x = y;  </a:t>
            </a:r>
            <a:r>
              <a:rPr lang="tr-TR" sz="1600" dirty="0">
                <a:solidFill>
                  <a:srgbClr val="FF0000"/>
                </a:solidFill>
                <a:latin typeface="Courier New" pitchFamily="49" charset="0"/>
                <a:cs typeface="Courier New" pitchFamily="49" charset="0"/>
              </a:rPr>
              <a:t>// </a:t>
            </a:r>
            <a:r>
              <a:rPr lang="tr-TR" sz="1600" dirty="0" err="1">
                <a:solidFill>
                  <a:srgbClr val="FF0000"/>
                </a:solidFill>
                <a:latin typeface="Courier New" pitchFamily="49" charset="0"/>
                <a:cs typeface="Courier New" pitchFamily="49" charset="0"/>
              </a:rPr>
              <a:t>error</a:t>
            </a:r>
            <a:endParaRPr lang="tr-TR" sz="1600" dirty="0">
              <a:solidFill>
                <a:srgbClr val="FF0000"/>
              </a:solidFill>
              <a:latin typeface="Courier New" pitchFamily="49" charset="0"/>
              <a:cs typeface="Courier New" pitchFamily="49" charset="0"/>
            </a:endParaRPr>
          </a:p>
          <a:p>
            <a:pPr eaLnBrk="1" hangingPunct="1"/>
            <a:endParaRPr lang="tr-TR" dirty="0"/>
          </a:p>
        </p:txBody>
      </p:sp>
      <p:sp>
        <p:nvSpPr>
          <p:cNvPr id="13318" name="TextBox 8"/>
          <p:cNvSpPr txBox="1">
            <a:spLocks noChangeArrowheads="1"/>
          </p:cNvSpPr>
          <p:nvPr/>
        </p:nvSpPr>
        <p:spPr bwMode="auto">
          <a:xfrm>
            <a:off x="1714500" y="4429125"/>
            <a:ext cx="50177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tr-TR" sz="1600" dirty="0" err="1">
                <a:latin typeface="Courier New" pitchFamily="49" charset="0"/>
                <a:cs typeface="Courier New" pitchFamily="49" charset="0"/>
              </a:rPr>
              <a:t>int</a:t>
            </a:r>
            <a:r>
              <a:rPr lang="tr-TR" sz="1600" dirty="0">
                <a:latin typeface="Courier New" pitchFamily="49" charset="0"/>
                <a:cs typeface="Courier New" pitchFamily="49" charset="0"/>
              </a:rPr>
              <a:t> x = 10;</a:t>
            </a:r>
          </a:p>
          <a:p>
            <a:pPr eaLnBrk="1" hangingPunct="1"/>
            <a:r>
              <a:rPr lang="tr-TR" sz="1600" dirty="0" err="1">
                <a:latin typeface="Courier New" pitchFamily="49" charset="0"/>
                <a:cs typeface="Courier New" pitchFamily="49" charset="0"/>
              </a:rPr>
              <a:t>double</a:t>
            </a:r>
            <a:r>
              <a:rPr lang="tr-TR" sz="1600" dirty="0">
                <a:latin typeface="Courier New" pitchFamily="49" charset="0"/>
                <a:cs typeface="Courier New" pitchFamily="49" charset="0"/>
              </a:rPr>
              <a:t> y = 50.45;</a:t>
            </a:r>
          </a:p>
          <a:p>
            <a:pPr eaLnBrk="1" hangingPunct="1"/>
            <a:r>
              <a:rPr lang="tr-TR" sz="1600" dirty="0">
                <a:latin typeface="Courier New" pitchFamily="49" charset="0"/>
                <a:cs typeface="Courier New" pitchFamily="49" charset="0"/>
              </a:rPr>
              <a:t>x = Convert.ToInt32(y); </a:t>
            </a:r>
            <a:r>
              <a:rPr lang="tr-TR" sz="1600" dirty="0">
                <a:solidFill>
                  <a:srgbClr val="00B050"/>
                </a:solidFill>
                <a:latin typeface="Courier New" pitchFamily="49" charset="0"/>
                <a:cs typeface="Courier New" pitchFamily="49" charset="0"/>
              </a:rPr>
              <a:t>//x </a:t>
            </a:r>
            <a:r>
              <a:rPr lang="tr-TR" sz="1600" dirty="0" err="1">
                <a:solidFill>
                  <a:srgbClr val="00B050"/>
                </a:solidFill>
                <a:latin typeface="Courier New" pitchFamily="49" charset="0"/>
                <a:cs typeface="Courier New" pitchFamily="49" charset="0"/>
              </a:rPr>
              <a:t>becomes</a:t>
            </a:r>
            <a:r>
              <a:rPr lang="tr-TR" sz="1600" dirty="0">
                <a:solidFill>
                  <a:srgbClr val="00B050"/>
                </a:solidFill>
                <a:latin typeface="Courier New" pitchFamily="49" charset="0"/>
                <a:cs typeface="Courier New" pitchFamily="49" charset="0"/>
              </a:rPr>
              <a:t> 50</a:t>
            </a:r>
          </a:p>
        </p:txBody>
      </p:sp>
      <p:sp>
        <p:nvSpPr>
          <p:cNvPr id="10" name="TextBox 9"/>
          <p:cNvSpPr txBox="1"/>
          <p:nvPr/>
        </p:nvSpPr>
        <p:spPr>
          <a:xfrm>
            <a:off x="5214938" y="5417393"/>
            <a:ext cx="3571875" cy="1323975"/>
          </a:xfrm>
          <a:prstGeom prst="rect">
            <a:avLst/>
          </a:prstGeom>
          <a:solidFill>
            <a:schemeClr val="bg1">
              <a:lumMod val="95000"/>
            </a:schemeClr>
          </a:solidFill>
          <a:ln>
            <a:solidFill>
              <a:schemeClr val="bg1">
                <a:lumMod val="75000"/>
              </a:schemeClr>
            </a:solidFill>
          </a:ln>
        </p:spPr>
        <p:txBody>
          <a:bodyPr>
            <a:spAutoFit/>
          </a:bodyPr>
          <a:lstStyle/>
          <a:p>
            <a:pPr>
              <a:defRPr/>
            </a:pPr>
            <a:r>
              <a:rPr lang="tr-TR" sz="1600" b="1" dirty="0" err="1">
                <a:latin typeface="Courier New" pitchFamily="49" charset="0"/>
                <a:cs typeface="Courier New" pitchFamily="49" charset="0"/>
              </a:rPr>
              <a:t>Other</a:t>
            </a:r>
            <a:r>
              <a:rPr lang="tr-TR" sz="1600" b="1" dirty="0">
                <a:latin typeface="Courier New" pitchFamily="49" charset="0"/>
                <a:cs typeface="Courier New" pitchFamily="49" charset="0"/>
              </a:rPr>
              <a:t> </a:t>
            </a:r>
            <a:r>
              <a:rPr lang="tr-TR" sz="1600" b="1" dirty="0" err="1">
                <a:latin typeface="Courier New" pitchFamily="49" charset="0"/>
                <a:cs typeface="Courier New" pitchFamily="49" charset="0"/>
              </a:rPr>
              <a:t>conversion</a:t>
            </a:r>
            <a:r>
              <a:rPr lang="tr-TR" sz="1600" b="1" dirty="0">
                <a:latin typeface="Courier New" pitchFamily="49" charset="0"/>
                <a:cs typeface="Courier New" pitchFamily="49" charset="0"/>
              </a:rPr>
              <a:t> </a:t>
            </a:r>
            <a:r>
              <a:rPr lang="tr-TR" sz="1600" b="1" dirty="0" err="1">
                <a:latin typeface="Courier New" pitchFamily="49" charset="0"/>
                <a:cs typeface="Courier New" pitchFamily="49" charset="0"/>
              </a:rPr>
              <a:t>functions</a:t>
            </a:r>
            <a:endParaRPr lang="tr-TR" sz="1600" b="1" dirty="0">
              <a:latin typeface="Courier New" pitchFamily="49" charset="0"/>
              <a:cs typeface="Courier New" pitchFamily="49" charset="0"/>
            </a:endParaRPr>
          </a:p>
          <a:p>
            <a:pPr>
              <a:defRPr/>
            </a:pP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Convert</a:t>
            </a:r>
            <a:r>
              <a:rPr lang="tr-TR" sz="1600" dirty="0">
                <a:latin typeface="Courier New" pitchFamily="49" charset="0"/>
                <a:cs typeface="Courier New" pitchFamily="49" charset="0"/>
              </a:rPr>
              <a:t>.ToInt32(2.34);</a:t>
            </a:r>
          </a:p>
          <a:p>
            <a:pPr>
              <a:defRPr/>
            </a:pP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Convert</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ToDouble</a:t>
            </a:r>
            <a:r>
              <a:rPr lang="tr-TR" sz="1600" dirty="0">
                <a:latin typeface="Courier New" pitchFamily="49" charset="0"/>
                <a:cs typeface="Courier New" pitchFamily="49" charset="0"/>
              </a:rPr>
              <a:t>(100);</a:t>
            </a:r>
          </a:p>
          <a:p>
            <a:pPr>
              <a:defRPr/>
            </a:pP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Convert</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ToString</a:t>
            </a:r>
            <a:r>
              <a:rPr lang="tr-TR" sz="1600" dirty="0">
                <a:latin typeface="Courier New" pitchFamily="49" charset="0"/>
                <a:cs typeface="Courier New" pitchFamily="49" charset="0"/>
              </a:rPr>
              <a:t>(13.14);</a:t>
            </a:r>
          </a:p>
          <a:p>
            <a:pPr>
              <a:defRPr/>
            </a:pP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Convert</a:t>
            </a:r>
            <a:r>
              <a:rPr lang="tr-TR" sz="1600" dirty="0">
                <a:latin typeface="Courier New" pitchFamily="49" charset="0"/>
                <a:cs typeface="Courier New" pitchFamily="49" charset="0"/>
              </a:rPr>
              <a:t>.</a:t>
            </a:r>
            <a:r>
              <a:rPr lang="tr-TR" sz="1600" dirty="0" err="1">
                <a:latin typeface="Courier New" pitchFamily="49" charset="0"/>
                <a:cs typeface="Courier New" pitchFamily="49" charset="0"/>
              </a:rPr>
              <a:t>ToByte</a:t>
            </a:r>
            <a:r>
              <a:rPr lang="tr-TR" sz="1600" dirty="0">
                <a:latin typeface="Courier New" pitchFamily="49" charset="0"/>
                <a:cs typeface="Courier New" pitchFamily="49" charset="0"/>
              </a:rPr>
              <a:t>(23.09);</a:t>
            </a:r>
          </a:p>
        </p:txBody>
      </p:sp>
      <p:sp>
        <p:nvSpPr>
          <p:cNvPr id="8" name="TextBox 7"/>
          <p:cNvSpPr txBox="1"/>
          <p:nvPr/>
        </p:nvSpPr>
        <p:spPr>
          <a:xfrm>
            <a:off x="2643188" y="5569421"/>
            <a:ext cx="1357312" cy="523220"/>
          </a:xfrm>
          <a:prstGeom prst="rect">
            <a:avLst/>
          </a:prstGeom>
          <a:solidFill>
            <a:schemeClr val="accent6">
              <a:lumMod val="60000"/>
              <a:lumOff val="40000"/>
            </a:schemeClr>
          </a:solidFill>
          <a:ln>
            <a:solidFill>
              <a:schemeClr val="accent6">
                <a:lumMod val="60000"/>
                <a:lumOff val="40000"/>
              </a:schemeClr>
            </a:solidFill>
          </a:ln>
        </p:spPr>
        <p:txBody>
          <a:bodyPr>
            <a:spAutoFit/>
          </a:bodyPr>
          <a:lstStyle/>
          <a:p>
            <a:pPr>
              <a:defRPr/>
            </a:pPr>
            <a:r>
              <a:rPr lang="tr-TR" sz="1400" dirty="0"/>
              <a:t>Conversion </a:t>
            </a:r>
            <a:r>
              <a:rPr lang="tr-TR" sz="1400" dirty="0" err="1"/>
              <a:t>function</a:t>
            </a:r>
            <a:endParaRPr lang="tr-TR" sz="1400" dirty="0"/>
          </a:p>
        </p:txBody>
      </p:sp>
      <p:sp>
        <p:nvSpPr>
          <p:cNvPr id="13321" name="TextBox 11"/>
          <p:cNvSpPr txBox="1">
            <a:spLocks noChangeArrowheads="1"/>
          </p:cNvSpPr>
          <p:nvPr/>
        </p:nvSpPr>
        <p:spPr bwMode="auto">
          <a:xfrm>
            <a:off x="285750" y="2928938"/>
            <a:ext cx="12619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tr-TR" sz="1400" dirty="0" err="1">
                <a:solidFill>
                  <a:srgbClr val="00B050"/>
                </a:solidFill>
                <a:latin typeface="Courier New" pitchFamily="49" charset="0"/>
                <a:cs typeface="Courier New" pitchFamily="49" charset="0"/>
              </a:rPr>
              <a:t>Implicit</a:t>
            </a:r>
            <a:r>
              <a:rPr lang="tr-TR" sz="1400" dirty="0">
                <a:solidFill>
                  <a:srgbClr val="00B050"/>
                </a:solidFill>
                <a:latin typeface="Courier New" pitchFamily="49" charset="0"/>
                <a:cs typeface="Courier New" pitchFamily="49" charset="0"/>
              </a:rPr>
              <a:t> </a:t>
            </a:r>
            <a:r>
              <a:rPr lang="tr-TR" sz="1400" dirty="0" err="1">
                <a:solidFill>
                  <a:srgbClr val="00B050"/>
                </a:solidFill>
                <a:latin typeface="Courier New" pitchFamily="49" charset="0"/>
                <a:cs typeface="Courier New" pitchFamily="49" charset="0"/>
              </a:rPr>
              <a:t>conversion</a:t>
            </a:r>
            <a:endParaRPr lang="tr-TR" sz="1400" dirty="0"/>
          </a:p>
        </p:txBody>
      </p:sp>
      <p:cxnSp>
        <p:nvCxnSpPr>
          <p:cNvPr id="13" name="Straight Arrow Connector 12"/>
          <p:cNvCxnSpPr/>
          <p:nvPr/>
        </p:nvCxnSpPr>
        <p:spPr>
          <a:xfrm flipV="1">
            <a:off x="1357313" y="3071813"/>
            <a:ext cx="563562" cy="11112"/>
          </a:xfrm>
          <a:prstGeom prst="straightConnector1">
            <a:avLst/>
          </a:prstGeom>
          <a:ln>
            <a:solidFill>
              <a:schemeClr val="tx2">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Right Brace 13"/>
          <p:cNvSpPr/>
          <p:nvPr/>
        </p:nvSpPr>
        <p:spPr>
          <a:xfrm rot="5400000">
            <a:off x="3178969" y="4393407"/>
            <a:ext cx="285750" cy="1928812"/>
          </a:xfrm>
          <a:prstGeom prst="rightBrace">
            <a:avLst>
              <a:gd name="adj1" fmla="val 8333"/>
              <a:gd name="adj2" fmla="val 49400"/>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r-TR"/>
          </a:p>
        </p:txBody>
      </p:sp>
    </p:spTree>
    <p:extLst>
      <p:ext uri="{BB962C8B-B14F-4D97-AF65-F5344CB8AC3E}">
        <p14:creationId xmlns:p14="http://schemas.microsoft.com/office/powerpoint/2010/main" val="1751730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Başlık 1"/>
          <p:cNvSpPr>
            <a:spLocks noGrp="1"/>
          </p:cNvSpPr>
          <p:nvPr>
            <p:ph type="title"/>
          </p:nvPr>
        </p:nvSpPr>
        <p:spPr>
          <a:xfrm>
            <a:off x="457200" y="44624"/>
            <a:ext cx="8229600" cy="1143000"/>
          </a:xfrm>
        </p:spPr>
        <p:txBody>
          <a:bodyPr/>
          <a:lstStyle/>
          <a:p>
            <a:r>
              <a:rPr lang="tr-TR" dirty="0" err="1"/>
              <a:t>Variables</a:t>
            </a:r>
            <a:endParaRPr lang="tr-TR" dirty="0"/>
          </a:p>
        </p:txBody>
      </p:sp>
      <p:sp>
        <p:nvSpPr>
          <p:cNvPr id="14339" name="Slayt Numarası Yer Tutucusu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E2CD189-D986-4DB5-BE95-FCD96E63E65D}" type="slidenum">
              <a:rPr lang="en-US" altLang="en-US" smtClean="0">
                <a:latin typeface="Garamond" pitchFamily="18" charset="0"/>
              </a:rPr>
              <a:pPr eaLnBrk="1" hangingPunct="1"/>
              <a:t>45</a:t>
            </a:fld>
            <a:endParaRPr lang="en-US" altLang="en-US">
              <a:latin typeface="Garamond" pitchFamily="18" charset="0"/>
            </a:endParaRPr>
          </a:p>
        </p:txBody>
      </p:sp>
      <p:pic>
        <p:nvPicPr>
          <p:cNvPr id="14340" name="Picture 4" descr="Untitled-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625" y="1000125"/>
            <a:ext cx="8072438" cy="561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06171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Başlık 1"/>
          <p:cNvSpPr>
            <a:spLocks noGrp="1"/>
          </p:cNvSpPr>
          <p:nvPr>
            <p:ph type="title"/>
          </p:nvPr>
        </p:nvSpPr>
        <p:spPr>
          <a:xfrm>
            <a:off x="457200" y="277813"/>
            <a:ext cx="8229600" cy="579437"/>
          </a:xfrm>
        </p:spPr>
        <p:txBody>
          <a:bodyPr>
            <a:normAutofit fontScale="90000"/>
          </a:bodyPr>
          <a:lstStyle/>
          <a:p>
            <a:r>
              <a:rPr lang="tr-TR" dirty="0" err="1"/>
              <a:t>Variables</a:t>
            </a:r>
            <a:endParaRPr lang="tr-TR" dirty="0"/>
          </a:p>
        </p:txBody>
      </p:sp>
      <p:sp>
        <p:nvSpPr>
          <p:cNvPr id="15363" name="İçerik Yer Tutucusu 2"/>
          <p:cNvSpPr>
            <a:spLocks noGrp="1"/>
          </p:cNvSpPr>
          <p:nvPr>
            <p:ph idx="1"/>
          </p:nvPr>
        </p:nvSpPr>
        <p:spPr>
          <a:xfrm>
            <a:off x="428625" y="1071563"/>
            <a:ext cx="8229600" cy="5143500"/>
          </a:xfrm>
        </p:spPr>
        <p:txBody>
          <a:bodyPr/>
          <a:lstStyle/>
          <a:p>
            <a:r>
              <a:rPr lang="tr-TR" sz="2000" dirty="0"/>
              <a:t>in </a:t>
            </a:r>
            <a:r>
              <a:rPr lang="tr-TR" sz="2000" dirty="0" err="1"/>
              <a:t>brief</a:t>
            </a:r>
            <a:r>
              <a:rPr lang="tr-TR" sz="2000" dirty="0"/>
              <a:t>:</a:t>
            </a:r>
          </a:p>
          <a:p>
            <a:endParaRPr lang="tr-TR" sz="2000" dirty="0"/>
          </a:p>
          <a:p>
            <a:r>
              <a:rPr lang="tr-TR" sz="2000" dirty="0" err="1">
                <a:solidFill>
                  <a:srgbClr val="0000FF"/>
                </a:solidFill>
              </a:rPr>
              <a:t>int</a:t>
            </a:r>
            <a:r>
              <a:rPr lang="tr-TR" sz="2000" dirty="0">
                <a:solidFill>
                  <a:srgbClr val="0000FF"/>
                </a:solidFill>
              </a:rPr>
              <a:t>, </a:t>
            </a:r>
            <a:r>
              <a:rPr lang="tr-TR" sz="2000" dirty="0" err="1">
                <a:solidFill>
                  <a:srgbClr val="0000FF"/>
                </a:solidFill>
              </a:rPr>
              <a:t>double</a:t>
            </a:r>
            <a:r>
              <a:rPr lang="tr-TR" sz="2000" dirty="0">
                <a:solidFill>
                  <a:srgbClr val="0000FF"/>
                </a:solidFill>
              </a:rPr>
              <a:t>, </a:t>
            </a:r>
            <a:r>
              <a:rPr lang="tr-TR" sz="2000" dirty="0" err="1">
                <a:solidFill>
                  <a:srgbClr val="0000FF"/>
                </a:solidFill>
              </a:rPr>
              <a:t>string</a:t>
            </a:r>
            <a:r>
              <a:rPr lang="tr-TR" sz="2000" dirty="0">
                <a:solidFill>
                  <a:srgbClr val="0000FF"/>
                </a:solidFill>
              </a:rPr>
              <a:t>, </a:t>
            </a:r>
            <a:r>
              <a:rPr lang="tr-TR" sz="2000" dirty="0" err="1">
                <a:solidFill>
                  <a:srgbClr val="0000FF"/>
                </a:solidFill>
              </a:rPr>
              <a:t>bool</a:t>
            </a:r>
            <a:r>
              <a:rPr lang="tr-TR" sz="2000" dirty="0">
                <a:solidFill>
                  <a:srgbClr val="0000FF"/>
                </a:solidFill>
              </a:rPr>
              <a:t> </a:t>
            </a:r>
            <a:r>
              <a:rPr lang="tr-TR" sz="2000" dirty="0" err="1"/>
              <a:t>are</a:t>
            </a:r>
            <a:r>
              <a:rPr lang="tr-TR" sz="2000" dirty="0"/>
              <a:t> </a:t>
            </a:r>
            <a:r>
              <a:rPr lang="tr-TR" sz="2000" dirty="0" err="1"/>
              <a:t>variable</a:t>
            </a:r>
            <a:r>
              <a:rPr lang="tr-TR" sz="2000" dirty="0"/>
              <a:t> </a:t>
            </a:r>
            <a:r>
              <a:rPr lang="tr-TR" sz="2000" dirty="0" err="1"/>
              <a:t>types</a:t>
            </a:r>
            <a:endParaRPr lang="tr-TR" sz="2000" dirty="0"/>
          </a:p>
          <a:p>
            <a:endParaRPr lang="tr-TR" sz="2000" dirty="0"/>
          </a:p>
          <a:p>
            <a:r>
              <a:rPr lang="tr-TR" sz="2000" dirty="0" err="1"/>
              <a:t>x,y,z</a:t>
            </a:r>
            <a:r>
              <a:rPr lang="tr-TR" sz="2000" dirty="0"/>
              <a:t> </a:t>
            </a:r>
            <a:r>
              <a:rPr lang="tr-TR" sz="2000" dirty="0" err="1"/>
              <a:t>intAge</a:t>
            </a:r>
            <a:r>
              <a:rPr lang="tr-TR" sz="2000" dirty="0"/>
              <a:t>, </a:t>
            </a:r>
            <a:r>
              <a:rPr lang="tr-TR" sz="2000" dirty="0" err="1"/>
              <a:t>strFullName</a:t>
            </a:r>
            <a:r>
              <a:rPr lang="tr-TR" sz="2000" dirty="0"/>
              <a:t>, </a:t>
            </a:r>
            <a:r>
              <a:rPr lang="tr-TR" sz="2000" dirty="0" err="1"/>
              <a:t>dbDolar</a:t>
            </a:r>
            <a:r>
              <a:rPr lang="tr-TR" sz="2000" dirty="0"/>
              <a:t> </a:t>
            </a:r>
            <a:r>
              <a:rPr lang="tr-TR" sz="2000" dirty="0" err="1"/>
              <a:t>are</a:t>
            </a:r>
            <a:r>
              <a:rPr lang="tr-TR" sz="2000" dirty="0"/>
              <a:t> </a:t>
            </a:r>
            <a:r>
              <a:rPr lang="tr-TR" sz="2000" dirty="0" err="1"/>
              <a:t>variable</a:t>
            </a:r>
            <a:r>
              <a:rPr lang="tr-TR" sz="2000" dirty="0"/>
              <a:t> </a:t>
            </a:r>
            <a:r>
              <a:rPr lang="tr-TR" sz="2000" dirty="0" err="1"/>
              <a:t>names</a:t>
            </a:r>
            <a:endParaRPr lang="tr-TR" sz="2000" dirty="0"/>
          </a:p>
          <a:p>
            <a:endParaRPr lang="tr-TR" sz="2000" dirty="0"/>
          </a:p>
          <a:p>
            <a:r>
              <a:rPr lang="tr-TR" sz="2000" dirty="0"/>
              <a:t>Convert.ToInt32(), </a:t>
            </a:r>
            <a:r>
              <a:rPr lang="tr-TR" sz="2000" dirty="0" err="1"/>
              <a:t>Convert.ToDouble</a:t>
            </a:r>
            <a:r>
              <a:rPr lang="tr-TR" sz="2000" dirty="0"/>
              <a:t>(), </a:t>
            </a:r>
            <a:r>
              <a:rPr lang="tr-TR" sz="2000" dirty="0" err="1"/>
              <a:t>x.ToString</a:t>
            </a:r>
            <a:r>
              <a:rPr lang="tr-TR" sz="2000" dirty="0"/>
              <a:t>() </a:t>
            </a:r>
            <a:r>
              <a:rPr lang="tr-TR" sz="2000" dirty="0" err="1"/>
              <a:t>are</a:t>
            </a:r>
            <a:r>
              <a:rPr lang="tr-TR" sz="2000" dirty="0"/>
              <a:t> </a:t>
            </a:r>
            <a:r>
              <a:rPr lang="tr-TR" sz="2000" dirty="0" err="1"/>
              <a:t>conversion</a:t>
            </a:r>
            <a:r>
              <a:rPr lang="tr-TR" sz="2000" dirty="0"/>
              <a:t> </a:t>
            </a:r>
            <a:r>
              <a:rPr lang="tr-TR" sz="2000" dirty="0" err="1"/>
              <a:t>functions</a:t>
            </a:r>
            <a:r>
              <a:rPr lang="tr-TR" sz="2000" dirty="0"/>
              <a:t>/</a:t>
            </a:r>
            <a:r>
              <a:rPr lang="tr-TR" sz="2000" dirty="0" err="1"/>
              <a:t>operators</a:t>
            </a:r>
            <a:endParaRPr lang="tr-TR" sz="2000" dirty="0"/>
          </a:p>
          <a:p>
            <a:pPr lvl="1"/>
            <a:r>
              <a:rPr lang="tr-TR" sz="1600" dirty="0" err="1"/>
              <a:t>intSayi</a:t>
            </a:r>
            <a:r>
              <a:rPr lang="tr-TR" sz="1600" dirty="0"/>
              <a:t> = </a:t>
            </a:r>
            <a:r>
              <a:rPr lang="tr-TR" sz="1600" dirty="0">
                <a:solidFill>
                  <a:srgbClr val="0000FF"/>
                </a:solidFill>
              </a:rPr>
              <a:t>(</a:t>
            </a:r>
            <a:r>
              <a:rPr lang="tr-TR" sz="1600" dirty="0" err="1">
                <a:solidFill>
                  <a:srgbClr val="0000FF"/>
                </a:solidFill>
              </a:rPr>
              <a:t>int</a:t>
            </a:r>
            <a:r>
              <a:rPr lang="tr-TR" sz="1600" dirty="0">
                <a:solidFill>
                  <a:srgbClr val="0000FF"/>
                </a:solidFill>
              </a:rPr>
              <a:t>)</a:t>
            </a:r>
            <a:r>
              <a:rPr lang="tr-TR" sz="1600" dirty="0" err="1"/>
              <a:t>dblBaskaSayi</a:t>
            </a:r>
            <a:r>
              <a:rPr lang="tr-TR" sz="1600" dirty="0"/>
              <a:t>;  </a:t>
            </a:r>
            <a:r>
              <a:rPr lang="tr-TR" sz="1600" dirty="0">
                <a:solidFill>
                  <a:srgbClr val="00B050"/>
                </a:solidFill>
              </a:rPr>
              <a:t>// </a:t>
            </a:r>
            <a:r>
              <a:rPr lang="tr-TR" sz="1600" dirty="0" err="1">
                <a:solidFill>
                  <a:srgbClr val="00B050"/>
                </a:solidFill>
              </a:rPr>
              <a:t>double</a:t>
            </a:r>
            <a:r>
              <a:rPr lang="tr-TR" sz="1600" dirty="0">
                <a:solidFill>
                  <a:srgbClr val="00B050"/>
                </a:solidFill>
              </a:rPr>
              <a:t> </a:t>
            </a:r>
            <a:r>
              <a:rPr lang="tr-TR" sz="1600" dirty="0">
                <a:solidFill>
                  <a:srgbClr val="00B050"/>
                </a:solidFill>
                <a:sym typeface="Wingdings" pitchFamily="2" charset="2"/>
              </a:rPr>
              <a:t></a:t>
            </a:r>
            <a:r>
              <a:rPr lang="tr-TR" sz="1600" dirty="0">
                <a:solidFill>
                  <a:srgbClr val="00B050"/>
                </a:solidFill>
              </a:rPr>
              <a:t> </a:t>
            </a:r>
            <a:r>
              <a:rPr lang="tr-TR" sz="1600" dirty="0" err="1">
                <a:solidFill>
                  <a:srgbClr val="00B050"/>
                </a:solidFill>
              </a:rPr>
              <a:t>int</a:t>
            </a:r>
            <a:r>
              <a:rPr lang="tr-TR" sz="1600" dirty="0">
                <a:solidFill>
                  <a:srgbClr val="00B050"/>
                </a:solidFill>
              </a:rPr>
              <a:t>  (</a:t>
            </a:r>
            <a:r>
              <a:rPr lang="tr-TR" sz="1600" dirty="0" err="1">
                <a:solidFill>
                  <a:srgbClr val="00B050"/>
                </a:solidFill>
              </a:rPr>
              <a:t>only</a:t>
            </a:r>
            <a:r>
              <a:rPr lang="tr-TR" sz="1600" dirty="0">
                <a:solidFill>
                  <a:srgbClr val="00B050"/>
                </a:solidFill>
              </a:rPr>
              <a:t> </a:t>
            </a:r>
            <a:r>
              <a:rPr lang="tr-TR" sz="1600" dirty="0" err="1">
                <a:solidFill>
                  <a:srgbClr val="00B050"/>
                </a:solidFill>
              </a:rPr>
              <a:t>valid</a:t>
            </a:r>
            <a:r>
              <a:rPr lang="tr-TR" sz="1600" dirty="0">
                <a:solidFill>
                  <a:srgbClr val="00B050"/>
                </a:solidFill>
              </a:rPr>
              <a:t> </a:t>
            </a:r>
            <a:r>
              <a:rPr lang="tr-TR" sz="1600" dirty="0" err="1">
                <a:solidFill>
                  <a:srgbClr val="00B050"/>
                </a:solidFill>
              </a:rPr>
              <a:t>between</a:t>
            </a:r>
            <a:r>
              <a:rPr lang="tr-TR" sz="1600" dirty="0">
                <a:solidFill>
                  <a:srgbClr val="00B050"/>
                </a:solidFill>
              </a:rPr>
              <a:t> </a:t>
            </a:r>
            <a:r>
              <a:rPr lang="tr-TR" sz="1600" dirty="0" err="1">
                <a:solidFill>
                  <a:srgbClr val="00B050"/>
                </a:solidFill>
              </a:rPr>
              <a:t>numeric</a:t>
            </a:r>
            <a:r>
              <a:rPr lang="tr-TR" sz="1600" dirty="0">
                <a:solidFill>
                  <a:srgbClr val="00B050"/>
                </a:solidFill>
              </a:rPr>
              <a:t> </a:t>
            </a:r>
            <a:r>
              <a:rPr lang="tr-TR" sz="1600" dirty="0" err="1">
                <a:solidFill>
                  <a:srgbClr val="00B050"/>
                </a:solidFill>
              </a:rPr>
              <a:t>types</a:t>
            </a:r>
            <a:r>
              <a:rPr lang="tr-TR" sz="1600" dirty="0">
                <a:solidFill>
                  <a:srgbClr val="00B050"/>
                </a:solidFill>
              </a:rPr>
              <a:t>!)</a:t>
            </a:r>
          </a:p>
          <a:p>
            <a:pPr lvl="1"/>
            <a:r>
              <a:rPr lang="tr-TR" sz="1600" dirty="0" err="1">
                <a:solidFill>
                  <a:srgbClr val="0000FF"/>
                </a:solidFill>
              </a:rPr>
              <a:t>float</a:t>
            </a:r>
            <a:r>
              <a:rPr lang="tr-TR" sz="1600" dirty="0"/>
              <a:t>  fDegisken1=(</a:t>
            </a:r>
            <a:r>
              <a:rPr lang="tr-TR" sz="1600" dirty="0" err="1">
                <a:solidFill>
                  <a:srgbClr val="0000FF"/>
                </a:solidFill>
              </a:rPr>
              <a:t>float</a:t>
            </a:r>
            <a:r>
              <a:rPr lang="tr-TR" sz="1600" dirty="0"/>
              <a:t>)Ldegisken2; </a:t>
            </a:r>
            <a:r>
              <a:rPr lang="tr-TR" sz="1600" dirty="0">
                <a:solidFill>
                  <a:srgbClr val="00B050"/>
                </a:solidFill>
              </a:rPr>
              <a:t>// </a:t>
            </a:r>
            <a:r>
              <a:rPr lang="tr-TR" sz="1600" dirty="0" err="1">
                <a:solidFill>
                  <a:srgbClr val="00B050"/>
                </a:solidFill>
              </a:rPr>
              <a:t>Long</a:t>
            </a:r>
            <a:r>
              <a:rPr lang="tr-TR" sz="1600" dirty="0">
                <a:solidFill>
                  <a:srgbClr val="00B050"/>
                </a:solidFill>
              </a:rPr>
              <a:t> </a:t>
            </a:r>
            <a:r>
              <a:rPr lang="tr-TR" sz="1600" dirty="0">
                <a:solidFill>
                  <a:srgbClr val="00B050"/>
                </a:solidFill>
                <a:sym typeface="Wingdings" pitchFamily="2" charset="2"/>
              </a:rPr>
              <a:t> </a:t>
            </a:r>
            <a:r>
              <a:rPr lang="tr-TR" sz="1600" dirty="0" err="1">
                <a:solidFill>
                  <a:srgbClr val="00B050"/>
                </a:solidFill>
                <a:sym typeface="Wingdings" pitchFamily="2" charset="2"/>
              </a:rPr>
              <a:t>float</a:t>
            </a:r>
            <a:r>
              <a:rPr lang="tr-TR" sz="1600" dirty="0">
                <a:solidFill>
                  <a:srgbClr val="00B050"/>
                </a:solidFill>
                <a:sym typeface="Wingdings" pitchFamily="2" charset="2"/>
              </a:rPr>
              <a:t> (</a:t>
            </a:r>
            <a:r>
              <a:rPr lang="tr-TR" sz="1600" dirty="0" err="1">
                <a:solidFill>
                  <a:srgbClr val="00B050"/>
                </a:solidFill>
                <a:sym typeface="Wingdings" pitchFamily="2" charset="2"/>
              </a:rPr>
              <a:t>only</a:t>
            </a:r>
            <a:r>
              <a:rPr lang="tr-TR" sz="1600" dirty="0">
                <a:solidFill>
                  <a:srgbClr val="00B050"/>
                </a:solidFill>
                <a:sym typeface="Wingdings" pitchFamily="2" charset="2"/>
              </a:rPr>
              <a:t> </a:t>
            </a:r>
            <a:r>
              <a:rPr lang="tr-TR" sz="1600" dirty="0" err="1">
                <a:solidFill>
                  <a:srgbClr val="00B050"/>
                </a:solidFill>
                <a:sym typeface="Wingdings" pitchFamily="2" charset="2"/>
              </a:rPr>
              <a:t>valid</a:t>
            </a:r>
            <a:r>
              <a:rPr lang="tr-TR" sz="1600" dirty="0">
                <a:solidFill>
                  <a:srgbClr val="00B050"/>
                </a:solidFill>
                <a:sym typeface="Wingdings" pitchFamily="2" charset="2"/>
              </a:rPr>
              <a:t> </a:t>
            </a:r>
            <a:r>
              <a:rPr lang="tr-TR" sz="1600" dirty="0" err="1">
                <a:solidFill>
                  <a:srgbClr val="00B050"/>
                </a:solidFill>
                <a:sym typeface="Wingdings" pitchFamily="2" charset="2"/>
              </a:rPr>
              <a:t>between</a:t>
            </a:r>
            <a:r>
              <a:rPr lang="tr-TR" sz="1600" dirty="0">
                <a:solidFill>
                  <a:srgbClr val="00B050"/>
                </a:solidFill>
                <a:sym typeface="Wingdings" pitchFamily="2" charset="2"/>
              </a:rPr>
              <a:t> </a:t>
            </a:r>
            <a:r>
              <a:rPr lang="tr-TR" sz="1600" dirty="0" err="1">
                <a:solidFill>
                  <a:srgbClr val="00B050"/>
                </a:solidFill>
                <a:sym typeface="Wingdings" pitchFamily="2" charset="2"/>
              </a:rPr>
              <a:t>numeric</a:t>
            </a:r>
            <a:r>
              <a:rPr lang="tr-TR" sz="1600" dirty="0">
                <a:solidFill>
                  <a:srgbClr val="00B050"/>
                </a:solidFill>
                <a:sym typeface="Wingdings" pitchFamily="2" charset="2"/>
              </a:rPr>
              <a:t> </a:t>
            </a:r>
            <a:r>
              <a:rPr lang="tr-TR" sz="1600" dirty="0" err="1">
                <a:solidFill>
                  <a:srgbClr val="00B050"/>
                </a:solidFill>
                <a:sym typeface="Wingdings" pitchFamily="2" charset="2"/>
              </a:rPr>
              <a:t>types</a:t>
            </a:r>
            <a:r>
              <a:rPr lang="tr-TR" sz="1600" dirty="0">
                <a:solidFill>
                  <a:srgbClr val="00B050"/>
                </a:solidFill>
                <a:sym typeface="Wingdings" pitchFamily="2" charset="2"/>
              </a:rPr>
              <a:t>!)</a:t>
            </a:r>
            <a:endParaRPr lang="tr-TR" sz="1600" dirty="0">
              <a:solidFill>
                <a:srgbClr val="00B050"/>
              </a:solidFill>
            </a:endParaRPr>
          </a:p>
          <a:p>
            <a:endParaRPr lang="tr-TR" sz="2000" dirty="0"/>
          </a:p>
          <a:p>
            <a:r>
              <a:rPr lang="tr-TR" sz="2000" dirty="0" err="1"/>
              <a:t>Variables</a:t>
            </a:r>
            <a:r>
              <a:rPr lang="tr-TR" sz="2000" dirty="0"/>
              <a:t> </a:t>
            </a:r>
            <a:r>
              <a:rPr lang="tr-TR" sz="2000" dirty="0" err="1"/>
              <a:t>are</a:t>
            </a:r>
            <a:r>
              <a:rPr lang="tr-TR" sz="2000" dirty="0"/>
              <a:t> </a:t>
            </a:r>
            <a:r>
              <a:rPr lang="tr-TR" sz="2000" dirty="0" err="1"/>
              <a:t>valid</a:t>
            </a:r>
            <a:r>
              <a:rPr lang="tr-TR" sz="2000" dirty="0"/>
              <a:t> in </a:t>
            </a:r>
            <a:r>
              <a:rPr lang="tr-TR" sz="2000" dirty="0" err="1"/>
              <a:t>the</a:t>
            </a:r>
            <a:r>
              <a:rPr lang="tr-TR" sz="2000" dirty="0"/>
              <a:t> </a:t>
            </a:r>
            <a:r>
              <a:rPr lang="tr-TR" sz="2000" dirty="0" err="1"/>
              <a:t>blocks</a:t>
            </a:r>
            <a:r>
              <a:rPr lang="tr-TR" sz="2000" dirty="0"/>
              <a:t> </a:t>
            </a:r>
            <a:r>
              <a:rPr lang="tr-TR" sz="2000" dirty="0" err="1"/>
              <a:t>they</a:t>
            </a:r>
            <a:r>
              <a:rPr lang="tr-TR" sz="2000" dirty="0"/>
              <a:t> </a:t>
            </a:r>
            <a:r>
              <a:rPr lang="tr-TR" sz="2000" dirty="0" err="1"/>
              <a:t>are</a:t>
            </a:r>
            <a:r>
              <a:rPr lang="tr-TR" sz="2000" dirty="0"/>
              <a:t> </a:t>
            </a:r>
            <a:r>
              <a:rPr lang="tr-TR" sz="2000" dirty="0" err="1"/>
              <a:t>defined</a:t>
            </a:r>
            <a:r>
              <a:rPr lang="tr-TR" sz="2000" dirty="0"/>
              <a:t> in </a:t>
            </a:r>
            <a:r>
              <a:rPr lang="tr-TR" sz="2000" dirty="0" err="1"/>
              <a:t>and</a:t>
            </a:r>
            <a:r>
              <a:rPr lang="tr-TR" sz="2000" dirty="0"/>
              <a:t> in </a:t>
            </a:r>
            <a:r>
              <a:rPr lang="tr-TR" sz="2000" dirty="0" err="1"/>
              <a:t>sub-blocks</a:t>
            </a:r>
            <a:r>
              <a:rPr lang="tr-TR" sz="2000" dirty="0"/>
              <a:t> of </a:t>
            </a:r>
            <a:r>
              <a:rPr lang="tr-TR" sz="2000" dirty="0" err="1"/>
              <a:t>that</a:t>
            </a:r>
            <a:r>
              <a:rPr lang="tr-TR" sz="2000" dirty="0"/>
              <a:t> </a:t>
            </a:r>
            <a:r>
              <a:rPr lang="tr-TR" sz="2000" dirty="0" err="1"/>
              <a:t>block</a:t>
            </a:r>
            <a:r>
              <a:rPr lang="tr-TR" sz="2000" dirty="0"/>
              <a:t>.</a:t>
            </a:r>
          </a:p>
          <a:p>
            <a:pPr lvl="1"/>
            <a:r>
              <a:rPr lang="tr-TR" sz="1600" dirty="0" err="1"/>
              <a:t>Local</a:t>
            </a:r>
            <a:r>
              <a:rPr lang="tr-TR" sz="1600" dirty="0"/>
              <a:t> </a:t>
            </a:r>
            <a:r>
              <a:rPr lang="tr-TR" sz="1600" dirty="0" err="1"/>
              <a:t>and</a:t>
            </a:r>
            <a:r>
              <a:rPr lang="tr-TR" sz="1600" dirty="0"/>
              <a:t> Global </a:t>
            </a:r>
            <a:r>
              <a:rPr lang="tr-TR" sz="1600" dirty="0" err="1"/>
              <a:t>variables</a:t>
            </a:r>
            <a:endParaRPr lang="tr-TR" sz="1600" dirty="0"/>
          </a:p>
        </p:txBody>
      </p:sp>
      <p:sp>
        <p:nvSpPr>
          <p:cNvPr id="15364" name="Slayt Numarası Yer Tutucusu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C52AAB1-581A-4D73-8A49-FEB0772CEA54}" type="slidenum">
              <a:rPr lang="en-US" altLang="en-US" smtClean="0">
                <a:latin typeface="Garamond" pitchFamily="18" charset="0"/>
              </a:rPr>
              <a:pPr eaLnBrk="1" hangingPunct="1"/>
              <a:t>46</a:t>
            </a:fld>
            <a:endParaRPr lang="en-US" altLang="en-US">
              <a:latin typeface="Garamond" pitchFamily="18" charset="0"/>
            </a:endParaRPr>
          </a:p>
        </p:txBody>
      </p:sp>
    </p:spTree>
    <p:extLst>
      <p:ext uri="{BB962C8B-B14F-4D97-AF65-F5344CB8AC3E}">
        <p14:creationId xmlns:p14="http://schemas.microsoft.com/office/powerpoint/2010/main" val="27387278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9C8AC15-EEA6-41B6-ADE0-50021E5D57B5}" type="slidenum">
              <a:rPr lang="en-US" altLang="en-US" smtClean="0">
                <a:latin typeface="Garamond" pitchFamily="18" charset="0"/>
              </a:rPr>
              <a:pPr eaLnBrk="1" hangingPunct="1"/>
              <a:t>47</a:t>
            </a:fld>
            <a:endParaRPr lang="en-US" altLang="en-US">
              <a:latin typeface="Garamond" pitchFamily="18" charset="0"/>
            </a:endParaRPr>
          </a:p>
        </p:txBody>
      </p:sp>
      <p:sp>
        <p:nvSpPr>
          <p:cNvPr id="16387" name="Rectangle 2"/>
          <p:cNvSpPr>
            <a:spLocks noGrp="1" noChangeArrowheads="1"/>
          </p:cNvSpPr>
          <p:nvPr>
            <p:ph type="title"/>
          </p:nvPr>
        </p:nvSpPr>
        <p:spPr/>
        <p:txBody>
          <a:bodyPr/>
          <a:lstStyle/>
          <a:p>
            <a:r>
              <a:rPr lang="tr-TR" dirty="0" err="1"/>
              <a:t>Variables</a:t>
            </a:r>
            <a:endParaRPr lang="en-US" dirty="0"/>
          </a:p>
        </p:txBody>
      </p:sp>
      <p:sp>
        <p:nvSpPr>
          <p:cNvPr id="16388" name="TextBox 5"/>
          <p:cNvSpPr txBox="1">
            <a:spLocks noChangeArrowheads="1"/>
          </p:cNvSpPr>
          <p:nvPr/>
        </p:nvSpPr>
        <p:spPr bwMode="auto">
          <a:xfrm>
            <a:off x="457201" y="1772816"/>
            <a:ext cx="8147248"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tr-TR" dirty="0" err="1"/>
              <a:t>Question</a:t>
            </a:r>
            <a:r>
              <a:rPr lang="tr-TR" dirty="0"/>
              <a:t>: Define a </a:t>
            </a:r>
            <a:r>
              <a:rPr lang="tr-TR" dirty="0" err="1"/>
              <a:t>local</a:t>
            </a:r>
            <a:r>
              <a:rPr lang="tr-TR" dirty="0"/>
              <a:t> </a:t>
            </a:r>
            <a:r>
              <a:rPr lang="tr-TR" dirty="0" err="1"/>
              <a:t>variable</a:t>
            </a:r>
            <a:r>
              <a:rPr lang="tr-TR" dirty="0"/>
              <a:t> </a:t>
            </a:r>
            <a:r>
              <a:rPr lang="tr-TR" dirty="0" err="1"/>
              <a:t>to</a:t>
            </a:r>
            <a:r>
              <a:rPr lang="tr-TR" dirty="0"/>
              <a:t> </a:t>
            </a:r>
            <a:r>
              <a:rPr lang="tr-TR" dirty="0" err="1"/>
              <a:t>hold</a:t>
            </a:r>
            <a:r>
              <a:rPr lang="tr-TR" dirty="0"/>
              <a:t> </a:t>
            </a:r>
            <a:r>
              <a:rPr lang="tr-TR" dirty="0" err="1"/>
              <a:t>the</a:t>
            </a:r>
            <a:r>
              <a:rPr lang="tr-TR" dirty="0"/>
              <a:t> name of a file.</a:t>
            </a:r>
          </a:p>
          <a:p>
            <a:pPr eaLnBrk="1" hangingPunct="1"/>
            <a:endParaRPr lang="tr-TR" dirty="0"/>
          </a:p>
          <a:p>
            <a:pPr eaLnBrk="1" hangingPunct="1"/>
            <a:r>
              <a:rPr lang="tr-TR" dirty="0" err="1"/>
              <a:t>Question</a:t>
            </a:r>
            <a:r>
              <a:rPr lang="tr-TR" dirty="0"/>
              <a:t>: Define a </a:t>
            </a:r>
            <a:r>
              <a:rPr lang="tr-TR" dirty="0" err="1"/>
              <a:t>local</a:t>
            </a:r>
            <a:r>
              <a:rPr lang="tr-TR" dirty="0"/>
              <a:t> </a:t>
            </a:r>
            <a:r>
              <a:rPr lang="tr-TR" dirty="0" err="1"/>
              <a:t>variable</a:t>
            </a:r>
            <a:r>
              <a:rPr lang="tr-TR" dirty="0"/>
              <a:t> </a:t>
            </a:r>
            <a:r>
              <a:rPr lang="tr-TR" dirty="0" err="1"/>
              <a:t>with</a:t>
            </a:r>
            <a:r>
              <a:rPr lang="tr-TR" dirty="0"/>
              <a:t> an </a:t>
            </a:r>
            <a:r>
              <a:rPr lang="tr-TR" dirty="0" err="1"/>
              <a:t>initial</a:t>
            </a:r>
            <a:r>
              <a:rPr lang="tr-TR" dirty="0"/>
              <a:t> </a:t>
            </a:r>
            <a:r>
              <a:rPr lang="tr-TR" dirty="0" err="1"/>
              <a:t>value</a:t>
            </a:r>
            <a:r>
              <a:rPr lang="tr-TR" dirty="0"/>
              <a:t> of 1000 </a:t>
            </a:r>
            <a:r>
              <a:rPr lang="tr-TR" dirty="0" err="1"/>
              <a:t>to</a:t>
            </a:r>
            <a:r>
              <a:rPr lang="tr-TR" dirty="0"/>
              <a:t> </a:t>
            </a:r>
            <a:r>
              <a:rPr lang="tr-TR" dirty="0" err="1"/>
              <a:t>hold</a:t>
            </a:r>
            <a:r>
              <a:rPr lang="tr-TR" dirty="0"/>
              <a:t> an </a:t>
            </a:r>
            <a:r>
              <a:rPr lang="tr-TR" dirty="0" err="1"/>
              <a:t>integer</a:t>
            </a:r>
            <a:r>
              <a:rPr lang="tr-TR" dirty="0"/>
              <a:t>.</a:t>
            </a:r>
          </a:p>
          <a:p>
            <a:pPr eaLnBrk="1" hangingPunct="1"/>
            <a:endParaRPr lang="tr-TR" dirty="0"/>
          </a:p>
          <a:p>
            <a:pPr eaLnBrk="1" hangingPunct="1"/>
            <a:r>
              <a:rPr lang="tr-TR" dirty="0" err="1"/>
              <a:t>Question</a:t>
            </a:r>
            <a:r>
              <a:rPr lang="tr-TR" dirty="0"/>
              <a:t>: Define a global </a:t>
            </a:r>
            <a:r>
              <a:rPr lang="tr-TR" dirty="0" err="1"/>
              <a:t>variable</a:t>
            </a:r>
            <a:r>
              <a:rPr lang="tr-TR" dirty="0"/>
              <a:t> </a:t>
            </a:r>
            <a:r>
              <a:rPr lang="tr-TR" dirty="0" err="1"/>
              <a:t>that</a:t>
            </a:r>
            <a:r>
              <a:rPr lang="tr-TR" dirty="0"/>
              <a:t> </a:t>
            </a:r>
            <a:r>
              <a:rPr lang="tr-TR" dirty="0" err="1"/>
              <a:t>holds</a:t>
            </a:r>
            <a:r>
              <a:rPr lang="tr-TR" dirty="0"/>
              <a:t> </a:t>
            </a:r>
            <a:r>
              <a:rPr lang="tr-TR" dirty="0" err="1"/>
              <a:t>the</a:t>
            </a:r>
            <a:r>
              <a:rPr lang="tr-TR" dirty="0"/>
              <a:t> </a:t>
            </a:r>
            <a:r>
              <a:rPr lang="tr-TR" dirty="0" err="1"/>
              <a:t>number</a:t>
            </a:r>
            <a:r>
              <a:rPr lang="tr-TR" dirty="0"/>
              <a:t> pi</a:t>
            </a:r>
          </a:p>
          <a:p>
            <a:pPr eaLnBrk="1" hangingPunct="1"/>
            <a:endParaRPr lang="tr-TR" dirty="0"/>
          </a:p>
          <a:p>
            <a:pPr eaLnBrk="1" hangingPunct="1"/>
            <a:r>
              <a:rPr lang="tr-TR" dirty="0" err="1"/>
              <a:t>Question</a:t>
            </a:r>
            <a:r>
              <a:rPr lang="tr-TR" dirty="0"/>
              <a:t>: Define a </a:t>
            </a:r>
            <a:r>
              <a:rPr lang="tr-TR" dirty="0" err="1"/>
              <a:t>variable</a:t>
            </a:r>
            <a:r>
              <a:rPr lang="tr-TR" dirty="0"/>
              <a:t> </a:t>
            </a:r>
            <a:r>
              <a:rPr lang="tr-TR" dirty="0" err="1"/>
              <a:t>whose</a:t>
            </a:r>
            <a:r>
              <a:rPr lang="tr-TR" dirty="0"/>
              <a:t> </a:t>
            </a:r>
            <a:r>
              <a:rPr lang="tr-TR" dirty="0" err="1"/>
              <a:t>initial</a:t>
            </a:r>
            <a:r>
              <a:rPr lang="tr-TR" dirty="0"/>
              <a:t> </a:t>
            </a:r>
            <a:r>
              <a:rPr lang="tr-TR" dirty="0" err="1"/>
              <a:t>value</a:t>
            </a:r>
            <a:r>
              <a:rPr lang="tr-TR" dirty="0"/>
              <a:t> is </a:t>
            </a:r>
            <a:r>
              <a:rPr lang="tr-TR" dirty="0" err="1"/>
              <a:t>false</a:t>
            </a:r>
            <a:r>
              <a:rPr lang="tr-TR" dirty="0"/>
              <a:t>.</a:t>
            </a:r>
          </a:p>
          <a:p>
            <a:pPr eaLnBrk="1" hangingPunct="1"/>
            <a:endParaRPr lang="tr-TR" dirty="0"/>
          </a:p>
          <a:p>
            <a:pPr eaLnBrk="1" hangingPunct="1"/>
            <a:r>
              <a:rPr lang="tr-TR" dirty="0" err="1"/>
              <a:t>Question</a:t>
            </a:r>
            <a:r>
              <a:rPr lang="tr-TR" dirty="0"/>
              <a:t>: Define </a:t>
            </a:r>
            <a:r>
              <a:rPr lang="tr-TR" dirty="0" err="1"/>
              <a:t>local</a:t>
            </a:r>
            <a:r>
              <a:rPr lang="tr-TR" dirty="0"/>
              <a:t> </a:t>
            </a:r>
            <a:r>
              <a:rPr lang="tr-TR" dirty="0" err="1"/>
              <a:t>variables</a:t>
            </a:r>
            <a:r>
              <a:rPr lang="tr-TR" dirty="0"/>
              <a:t> </a:t>
            </a:r>
            <a:r>
              <a:rPr lang="tr-TR" dirty="0" err="1"/>
              <a:t>for</a:t>
            </a:r>
            <a:r>
              <a:rPr lang="tr-TR" dirty="0"/>
              <a:t> </a:t>
            </a:r>
            <a:r>
              <a:rPr lang="tr-TR" dirty="0" err="1"/>
              <a:t>the</a:t>
            </a:r>
            <a:r>
              <a:rPr lang="tr-TR" dirty="0"/>
              <a:t> program </a:t>
            </a:r>
            <a:r>
              <a:rPr lang="tr-TR" dirty="0" err="1"/>
              <a:t>that</a:t>
            </a:r>
            <a:r>
              <a:rPr lang="tr-TR" dirty="0"/>
              <a:t> </a:t>
            </a:r>
            <a:r>
              <a:rPr lang="tr-TR" dirty="0" err="1"/>
              <a:t>finds</a:t>
            </a:r>
            <a:r>
              <a:rPr lang="tr-TR" dirty="0"/>
              <a:t> </a:t>
            </a:r>
            <a:r>
              <a:rPr lang="tr-TR" dirty="0" err="1"/>
              <a:t>the</a:t>
            </a:r>
            <a:r>
              <a:rPr lang="tr-TR" dirty="0"/>
              <a:t> </a:t>
            </a:r>
            <a:r>
              <a:rPr lang="tr-TR" dirty="0" err="1"/>
              <a:t>sum</a:t>
            </a:r>
            <a:r>
              <a:rPr lang="tr-TR" dirty="0"/>
              <a:t> of an </a:t>
            </a:r>
            <a:r>
              <a:rPr lang="tr-TR" dirty="0" err="1"/>
              <a:t>integer</a:t>
            </a:r>
            <a:r>
              <a:rPr lang="tr-TR" dirty="0"/>
              <a:t> </a:t>
            </a:r>
            <a:r>
              <a:rPr lang="tr-TR" dirty="0" err="1"/>
              <a:t>and</a:t>
            </a:r>
            <a:r>
              <a:rPr lang="tr-TR" dirty="0"/>
              <a:t> a </a:t>
            </a:r>
            <a:r>
              <a:rPr lang="tr-TR" dirty="0" err="1"/>
              <a:t>decimal</a:t>
            </a:r>
            <a:r>
              <a:rPr lang="tr-TR" dirty="0"/>
              <a:t> </a:t>
            </a:r>
            <a:r>
              <a:rPr lang="tr-TR" dirty="0" err="1"/>
              <a:t>number</a:t>
            </a:r>
            <a:r>
              <a:rPr lang="tr-TR" dirty="0"/>
              <a:t>.</a:t>
            </a:r>
          </a:p>
          <a:p>
            <a:pPr eaLnBrk="1" hangingPunct="1"/>
            <a:endParaRPr lang="tr-TR" dirty="0"/>
          </a:p>
          <a:p>
            <a:pPr eaLnBrk="1" hangingPunct="1"/>
            <a:endParaRPr lang="tr-TR" dirty="0"/>
          </a:p>
          <a:p>
            <a:pPr eaLnBrk="1" hangingPunct="1"/>
            <a:endParaRPr lang="tr-TR" dirty="0"/>
          </a:p>
          <a:p>
            <a:pPr eaLnBrk="1" hangingPunct="1"/>
            <a:endParaRPr lang="tr-TR" dirty="0"/>
          </a:p>
        </p:txBody>
      </p:sp>
    </p:spTree>
    <p:extLst>
      <p:ext uri="{BB962C8B-B14F-4D97-AF65-F5344CB8AC3E}">
        <p14:creationId xmlns:p14="http://schemas.microsoft.com/office/powerpoint/2010/main" val="1822711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Using C# </a:t>
            </a:r>
            <a:r>
              <a:rPr lang="tr-TR" dirty="0" err="1"/>
              <a:t>ComboBox</a:t>
            </a:r>
            <a:endParaRPr lang="tr-TR" dirty="0"/>
          </a:p>
        </p:txBody>
      </p:sp>
      <p:pic>
        <p:nvPicPr>
          <p:cNvPr id="4" name="İçerik Yer Tutucusu 3"/>
          <p:cNvPicPr>
            <a:picLocks noGrp="1" noChangeAspect="1"/>
          </p:cNvPicPr>
          <p:nvPr>
            <p:ph idx="1"/>
          </p:nvPr>
        </p:nvPicPr>
        <p:blipFill>
          <a:blip r:embed="rId2"/>
          <a:stretch>
            <a:fillRect/>
          </a:stretch>
        </p:blipFill>
        <p:spPr>
          <a:xfrm>
            <a:off x="457200" y="1196752"/>
            <a:ext cx="8229600" cy="4277909"/>
          </a:xfrm>
          <a:prstGeom prst="rect">
            <a:avLst/>
          </a:prstGeom>
        </p:spPr>
      </p:pic>
    </p:spTree>
    <p:extLst>
      <p:ext uri="{BB962C8B-B14F-4D97-AF65-F5344CB8AC3E}">
        <p14:creationId xmlns:p14="http://schemas.microsoft.com/office/powerpoint/2010/main" val="9402214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Using C# </a:t>
            </a:r>
            <a:r>
              <a:rPr lang="tr-TR" dirty="0" err="1"/>
              <a:t>ComboBox</a:t>
            </a:r>
            <a:endParaRPr lang="tr-TR" dirty="0"/>
          </a:p>
        </p:txBody>
      </p:sp>
      <p:pic>
        <p:nvPicPr>
          <p:cNvPr id="6" name="İçerik Yer Tutucusu 5"/>
          <p:cNvPicPr>
            <a:picLocks noGrp="1" noChangeAspect="1"/>
          </p:cNvPicPr>
          <p:nvPr>
            <p:ph idx="1"/>
          </p:nvPr>
        </p:nvPicPr>
        <p:blipFill>
          <a:blip r:embed="rId2"/>
          <a:stretch>
            <a:fillRect/>
          </a:stretch>
        </p:blipFill>
        <p:spPr>
          <a:xfrm>
            <a:off x="539552" y="1417638"/>
            <a:ext cx="2857500" cy="2809875"/>
          </a:xfrm>
          <a:prstGeom prst="rect">
            <a:avLst/>
          </a:prstGeom>
        </p:spPr>
      </p:pic>
      <p:sp>
        <p:nvSpPr>
          <p:cNvPr id="7" name="Dikdörtgen 6"/>
          <p:cNvSpPr/>
          <p:nvPr/>
        </p:nvSpPr>
        <p:spPr>
          <a:xfrm>
            <a:off x="3464666" y="1772816"/>
            <a:ext cx="5796962" cy="954107"/>
          </a:xfrm>
          <a:prstGeom prst="rect">
            <a:avLst/>
          </a:prstGeom>
        </p:spPr>
        <p:txBody>
          <a:bodyPr wrap="square">
            <a:spAutoFit/>
          </a:bodyPr>
          <a:lstStyle/>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private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button1_Click(</a:t>
            </a:r>
            <a:r>
              <a:rPr lang="en-US" sz="1400" dirty="0">
                <a:solidFill>
                  <a:srgbClr val="0000FF"/>
                </a:solidFill>
                <a:latin typeface="Consolas" panose="020B0609020204030204" pitchFamily="49" charset="0"/>
              </a:rPr>
              <a:t>object</a:t>
            </a:r>
            <a:r>
              <a:rPr lang="en-US" sz="1400" dirty="0">
                <a:solidFill>
                  <a:srgbClr val="000000"/>
                </a:solidFill>
                <a:latin typeface="Consolas" panose="020B0609020204030204" pitchFamily="49" charset="0"/>
              </a:rPr>
              <a:t> sender, </a:t>
            </a:r>
            <a:r>
              <a:rPr lang="en-US" sz="1400" dirty="0" err="1">
                <a:solidFill>
                  <a:srgbClr val="2B91AF"/>
                </a:solidFill>
                <a:latin typeface="Consolas" panose="020B0609020204030204" pitchFamily="49" charset="0"/>
              </a:rPr>
              <a:t>EventArgs</a:t>
            </a:r>
            <a:r>
              <a:rPr lang="en-US" sz="1400" dirty="0">
                <a:solidFill>
                  <a:srgbClr val="000000"/>
                </a:solidFill>
                <a:latin typeface="Consolas" panose="020B0609020204030204" pitchFamily="49" charset="0"/>
              </a:rPr>
              <a:t> e)</a:t>
            </a:r>
          </a:p>
          <a:p>
            <a:r>
              <a:rPr lang="tr-TR" sz="1400" dirty="0">
                <a:solidFill>
                  <a:srgbClr val="000000"/>
                </a:solidFill>
                <a:latin typeface="Consolas" panose="020B0609020204030204" pitchFamily="49" charset="0"/>
              </a:rPr>
              <a:t>        {</a:t>
            </a:r>
          </a:p>
          <a:p>
            <a:r>
              <a:rPr lang="tr-TR" sz="1400" dirty="0">
                <a:solidFill>
                  <a:srgbClr val="000000"/>
                </a:solidFill>
                <a:latin typeface="Consolas" panose="020B0609020204030204" pitchFamily="49" charset="0"/>
              </a:rPr>
              <a:t>            comboBox1.Items.Add(</a:t>
            </a:r>
            <a:r>
              <a:rPr lang="tr-TR" sz="1400" dirty="0">
                <a:solidFill>
                  <a:srgbClr val="A31515"/>
                </a:solidFill>
                <a:latin typeface="Consolas" panose="020B0609020204030204" pitchFamily="49" charset="0"/>
              </a:rPr>
              <a:t>"Antalya"</a:t>
            </a:r>
            <a:r>
              <a:rPr lang="tr-TR" sz="1400" dirty="0">
                <a:solidFill>
                  <a:srgbClr val="000000"/>
                </a:solidFill>
                <a:latin typeface="Consolas" panose="020B0609020204030204" pitchFamily="49" charset="0"/>
              </a:rPr>
              <a:t>);</a:t>
            </a:r>
          </a:p>
          <a:p>
            <a:r>
              <a:rPr lang="tr-TR" sz="1400" dirty="0">
                <a:solidFill>
                  <a:srgbClr val="000000"/>
                </a:solidFill>
                <a:latin typeface="Consolas" panose="020B0609020204030204" pitchFamily="49" charset="0"/>
              </a:rPr>
              <a:t>        }</a:t>
            </a:r>
            <a:endParaRPr lang="tr-TR" sz="1400" dirty="0"/>
          </a:p>
        </p:txBody>
      </p:sp>
      <p:pic>
        <p:nvPicPr>
          <p:cNvPr id="8" name="Resim 7"/>
          <p:cNvPicPr>
            <a:picLocks noChangeAspect="1"/>
          </p:cNvPicPr>
          <p:nvPr/>
        </p:nvPicPr>
        <p:blipFill>
          <a:blip r:embed="rId3"/>
          <a:stretch>
            <a:fillRect/>
          </a:stretch>
        </p:blipFill>
        <p:spPr>
          <a:xfrm>
            <a:off x="3851920" y="2996952"/>
            <a:ext cx="4648777" cy="3267670"/>
          </a:xfrm>
          <a:prstGeom prst="rect">
            <a:avLst/>
          </a:prstGeom>
        </p:spPr>
      </p:pic>
    </p:spTree>
    <p:extLst>
      <p:ext uri="{BB962C8B-B14F-4D97-AF65-F5344CB8AC3E}">
        <p14:creationId xmlns:p14="http://schemas.microsoft.com/office/powerpoint/2010/main" val="841549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57200" y="274638"/>
            <a:ext cx="8229600" cy="634082"/>
          </a:xfrm>
        </p:spPr>
        <p:txBody>
          <a:bodyPr>
            <a:normAutofit fontScale="90000"/>
          </a:bodyPr>
          <a:lstStyle/>
          <a:p>
            <a:r>
              <a:rPr lang="tr-TR" dirty="0" err="1"/>
              <a:t>Example</a:t>
            </a:r>
            <a:endParaRPr lang="tr-TR" dirty="0"/>
          </a:p>
        </p:txBody>
      </p:sp>
      <p:sp>
        <p:nvSpPr>
          <p:cNvPr id="3" name="İçerik Yer Tutucusu 2"/>
          <p:cNvSpPr>
            <a:spLocks noGrp="1"/>
          </p:cNvSpPr>
          <p:nvPr>
            <p:ph idx="1"/>
          </p:nvPr>
        </p:nvSpPr>
        <p:spPr>
          <a:xfrm>
            <a:off x="481838" y="916111"/>
            <a:ext cx="8229600" cy="1144738"/>
          </a:xfrm>
        </p:spPr>
        <p:txBody>
          <a:bodyPr/>
          <a:lstStyle/>
          <a:p>
            <a:r>
              <a:rPr lang="tr-TR" dirty="0" err="1"/>
              <a:t>Add</a:t>
            </a:r>
            <a:r>
              <a:rPr lang="tr-TR" dirty="0"/>
              <a:t> </a:t>
            </a:r>
            <a:r>
              <a:rPr lang="tr-TR" dirty="0" err="1"/>
              <a:t>the</a:t>
            </a:r>
            <a:r>
              <a:rPr lang="tr-TR" dirty="0"/>
              <a:t> </a:t>
            </a:r>
            <a:r>
              <a:rPr lang="tr-TR" dirty="0" err="1"/>
              <a:t>text</a:t>
            </a:r>
            <a:r>
              <a:rPr lang="tr-TR" dirty="0"/>
              <a:t> </a:t>
            </a:r>
            <a:r>
              <a:rPr lang="tr-TR" dirty="0" err="1"/>
              <a:t>we</a:t>
            </a:r>
            <a:r>
              <a:rPr lang="tr-TR" dirty="0"/>
              <a:t> </a:t>
            </a:r>
            <a:r>
              <a:rPr lang="tr-TR" dirty="0" err="1"/>
              <a:t>entered</a:t>
            </a:r>
            <a:r>
              <a:rPr lang="tr-TR" dirty="0"/>
              <a:t> in </a:t>
            </a:r>
            <a:r>
              <a:rPr lang="tr-TR" dirty="0" err="1"/>
              <a:t>the</a:t>
            </a:r>
            <a:r>
              <a:rPr lang="tr-TR" dirty="0"/>
              <a:t> </a:t>
            </a:r>
            <a:r>
              <a:rPr lang="tr-TR" dirty="0" err="1"/>
              <a:t>text</a:t>
            </a:r>
            <a:r>
              <a:rPr lang="tr-TR" dirty="0"/>
              <a:t> </a:t>
            </a:r>
            <a:r>
              <a:rPr lang="tr-TR" dirty="0" err="1"/>
              <a:t>box</a:t>
            </a:r>
            <a:r>
              <a:rPr lang="tr-TR" dirty="0"/>
              <a:t> </a:t>
            </a:r>
            <a:r>
              <a:rPr lang="tr-TR" dirty="0" err="1"/>
              <a:t>to</a:t>
            </a:r>
            <a:r>
              <a:rPr lang="tr-TR" dirty="0"/>
              <a:t> </a:t>
            </a:r>
            <a:r>
              <a:rPr lang="tr-TR" dirty="0" err="1"/>
              <a:t>the</a:t>
            </a:r>
            <a:r>
              <a:rPr lang="tr-TR" dirty="0"/>
              <a:t> </a:t>
            </a:r>
            <a:r>
              <a:rPr lang="tr-TR" dirty="0" err="1"/>
              <a:t>ComboBox</a:t>
            </a:r>
            <a:r>
              <a:rPr lang="tr-TR" dirty="0"/>
              <a:t>.</a:t>
            </a:r>
          </a:p>
          <a:p>
            <a:endParaRPr lang="tr-TR" dirty="0"/>
          </a:p>
        </p:txBody>
      </p:sp>
      <p:pic>
        <p:nvPicPr>
          <p:cNvPr id="4" name="Resim 3"/>
          <p:cNvPicPr>
            <a:picLocks noChangeAspect="1"/>
          </p:cNvPicPr>
          <p:nvPr/>
        </p:nvPicPr>
        <p:blipFill>
          <a:blip r:embed="rId2"/>
          <a:stretch>
            <a:fillRect/>
          </a:stretch>
        </p:blipFill>
        <p:spPr>
          <a:xfrm>
            <a:off x="2123728" y="1916832"/>
            <a:ext cx="5238750" cy="2771775"/>
          </a:xfrm>
          <a:prstGeom prst="rect">
            <a:avLst/>
          </a:prstGeom>
        </p:spPr>
      </p:pic>
      <p:sp>
        <p:nvSpPr>
          <p:cNvPr id="5" name="Dikdörtgen 4"/>
          <p:cNvSpPr/>
          <p:nvPr/>
        </p:nvSpPr>
        <p:spPr>
          <a:xfrm>
            <a:off x="755576" y="4941168"/>
            <a:ext cx="8554658" cy="1200329"/>
          </a:xfrm>
          <a:prstGeom prst="rect">
            <a:avLst/>
          </a:prstGeom>
        </p:spPr>
        <p:txBody>
          <a:bodyPr wrap="square">
            <a:spAutoFit/>
          </a:bodyPr>
          <a:lstStyle/>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private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button2_Click(</a:t>
            </a:r>
            <a:r>
              <a:rPr lang="en-US" dirty="0">
                <a:solidFill>
                  <a:srgbClr val="0000FF"/>
                </a:solidFill>
                <a:latin typeface="Consolas" panose="020B0609020204030204" pitchFamily="49" charset="0"/>
              </a:rPr>
              <a:t>object</a:t>
            </a:r>
            <a:r>
              <a:rPr lang="en-US" dirty="0">
                <a:solidFill>
                  <a:srgbClr val="000000"/>
                </a:solidFill>
                <a:latin typeface="Consolas" panose="020B0609020204030204" pitchFamily="49" charset="0"/>
              </a:rPr>
              <a:t> sender, </a:t>
            </a:r>
            <a:r>
              <a:rPr lang="en-US" dirty="0" err="1">
                <a:solidFill>
                  <a:srgbClr val="2B91AF"/>
                </a:solidFill>
                <a:latin typeface="Consolas" panose="020B0609020204030204" pitchFamily="49" charset="0"/>
              </a:rPr>
              <a:t>EventArgs</a:t>
            </a:r>
            <a:r>
              <a:rPr lang="en-US" dirty="0">
                <a:solidFill>
                  <a:srgbClr val="000000"/>
                </a:solidFill>
                <a:latin typeface="Consolas" panose="020B0609020204030204" pitchFamily="49" charset="0"/>
              </a:rPr>
              <a:t> e)</a:t>
            </a:r>
          </a:p>
          <a:p>
            <a:r>
              <a:rPr lang="tr-TR" dirty="0">
                <a:solidFill>
                  <a:srgbClr val="000000"/>
                </a:solidFill>
                <a:latin typeface="Consolas" panose="020B0609020204030204" pitchFamily="49" charset="0"/>
              </a:rPr>
              <a:t>        {</a:t>
            </a:r>
          </a:p>
          <a:p>
            <a:r>
              <a:rPr lang="tr-TR" dirty="0">
                <a:solidFill>
                  <a:srgbClr val="000000"/>
                </a:solidFill>
                <a:latin typeface="Consolas" panose="020B0609020204030204" pitchFamily="49" charset="0"/>
              </a:rPr>
              <a:t>            comboBox1.Items.Add(textBox1.Text);</a:t>
            </a:r>
          </a:p>
          <a:p>
            <a:r>
              <a:rPr lang="tr-TR" dirty="0">
                <a:solidFill>
                  <a:srgbClr val="000000"/>
                </a:solidFill>
                <a:latin typeface="Consolas" panose="020B0609020204030204" pitchFamily="49" charset="0"/>
              </a:rPr>
              <a:t>        }</a:t>
            </a:r>
            <a:endParaRPr lang="tr-TR" dirty="0"/>
          </a:p>
        </p:txBody>
      </p:sp>
    </p:spTree>
    <p:extLst>
      <p:ext uri="{BB962C8B-B14F-4D97-AF65-F5344CB8AC3E}">
        <p14:creationId xmlns:p14="http://schemas.microsoft.com/office/powerpoint/2010/main" val="38273800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Using C# </a:t>
            </a:r>
            <a:r>
              <a:rPr lang="tr-TR" dirty="0" err="1"/>
              <a:t>ListBox</a:t>
            </a:r>
            <a:endParaRPr lang="tr-TR" dirty="0"/>
          </a:p>
        </p:txBody>
      </p:sp>
      <p:pic>
        <p:nvPicPr>
          <p:cNvPr id="4" name="İçerik Yer Tutucusu 3"/>
          <p:cNvPicPr>
            <a:picLocks noGrp="1" noChangeAspect="1"/>
          </p:cNvPicPr>
          <p:nvPr>
            <p:ph idx="1"/>
          </p:nvPr>
        </p:nvPicPr>
        <p:blipFill>
          <a:blip r:embed="rId2"/>
          <a:stretch>
            <a:fillRect/>
          </a:stretch>
        </p:blipFill>
        <p:spPr>
          <a:xfrm>
            <a:off x="457200" y="1484784"/>
            <a:ext cx="8229600" cy="4523205"/>
          </a:xfrm>
          <a:prstGeom prst="rect">
            <a:avLst/>
          </a:prstGeom>
        </p:spPr>
      </p:pic>
    </p:spTree>
    <p:extLst>
      <p:ext uri="{BB962C8B-B14F-4D97-AF65-F5344CB8AC3E}">
        <p14:creationId xmlns:p14="http://schemas.microsoft.com/office/powerpoint/2010/main" val="34434989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Using C# </a:t>
            </a:r>
            <a:r>
              <a:rPr lang="tr-TR" dirty="0" err="1"/>
              <a:t>ListBox</a:t>
            </a:r>
            <a:endParaRPr lang="tr-TR" dirty="0"/>
          </a:p>
        </p:txBody>
      </p:sp>
      <p:pic>
        <p:nvPicPr>
          <p:cNvPr id="5" name="İçerik Yer Tutucusu 4"/>
          <p:cNvPicPr>
            <a:picLocks noGrp="1" noChangeAspect="1"/>
          </p:cNvPicPr>
          <p:nvPr>
            <p:ph idx="1"/>
          </p:nvPr>
        </p:nvPicPr>
        <p:blipFill>
          <a:blip r:embed="rId2"/>
          <a:stretch>
            <a:fillRect/>
          </a:stretch>
        </p:blipFill>
        <p:spPr>
          <a:xfrm>
            <a:off x="300932" y="2206937"/>
            <a:ext cx="4676775" cy="3105150"/>
          </a:xfrm>
          <a:prstGeom prst="rect">
            <a:avLst/>
          </a:prstGeom>
        </p:spPr>
      </p:pic>
      <p:sp>
        <p:nvSpPr>
          <p:cNvPr id="6" name="Metin kutusu 5"/>
          <p:cNvSpPr txBox="1"/>
          <p:nvPr/>
        </p:nvSpPr>
        <p:spPr>
          <a:xfrm>
            <a:off x="755577" y="1340768"/>
            <a:ext cx="7632848" cy="646331"/>
          </a:xfrm>
          <a:prstGeom prst="rect">
            <a:avLst/>
          </a:prstGeom>
          <a:noFill/>
        </p:spPr>
        <p:txBody>
          <a:bodyPr wrap="square" rtlCol="0">
            <a:spAutoFit/>
          </a:bodyPr>
          <a:lstStyle/>
          <a:p>
            <a:r>
              <a:rPr lang="tr-TR" dirty="0"/>
              <a:t>Write </a:t>
            </a:r>
            <a:r>
              <a:rPr lang="tr-TR" dirty="0" err="1"/>
              <a:t>the</a:t>
            </a:r>
            <a:r>
              <a:rPr lang="tr-TR" dirty="0"/>
              <a:t> </a:t>
            </a:r>
            <a:r>
              <a:rPr lang="tr-TR" dirty="0" err="1"/>
              <a:t>code</a:t>
            </a:r>
            <a:r>
              <a:rPr lang="tr-TR" dirty="0"/>
              <a:t> </a:t>
            </a:r>
            <a:r>
              <a:rPr lang="tr-TR" dirty="0" err="1"/>
              <a:t>that</a:t>
            </a:r>
            <a:r>
              <a:rPr lang="tr-TR" dirty="0"/>
              <a:t> </a:t>
            </a:r>
            <a:r>
              <a:rPr lang="tr-TR" dirty="0" err="1"/>
              <a:t>adds</a:t>
            </a:r>
            <a:r>
              <a:rPr lang="tr-TR" dirty="0"/>
              <a:t> </a:t>
            </a:r>
            <a:r>
              <a:rPr lang="tr-TR" dirty="0" err="1"/>
              <a:t>what</a:t>
            </a:r>
            <a:r>
              <a:rPr lang="tr-TR" dirty="0"/>
              <a:t> is </a:t>
            </a:r>
            <a:r>
              <a:rPr lang="tr-TR" dirty="0" err="1"/>
              <a:t>written</a:t>
            </a:r>
            <a:r>
              <a:rPr lang="tr-TR" dirty="0"/>
              <a:t> in </a:t>
            </a:r>
            <a:r>
              <a:rPr lang="tr-TR" dirty="0" err="1"/>
              <a:t>the</a:t>
            </a:r>
            <a:r>
              <a:rPr lang="tr-TR" dirty="0"/>
              <a:t> </a:t>
            </a:r>
            <a:r>
              <a:rPr lang="tr-TR" dirty="0" err="1"/>
              <a:t>Text</a:t>
            </a:r>
            <a:r>
              <a:rPr lang="tr-TR" dirty="0"/>
              <a:t> Box </a:t>
            </a:r>
            <a:r>
              <a:rPr lang="tr-TR" dirty="0" err="1"/>
              <a:t>to</a:t>
            </a:r>
            <a:r>
              <a:rPr lang="tr-TR" dirty="0"/>
              <a:t> </a:t>
            </a:r>
            <a:r>
              <a:rPr lang="tr-TR" dirty="0" err="1"/>
              <a:t>the</a:t>
            </a:r>
            <a:r>
              <a:rPr lang="tr-TR" dirty="0"/>
              <a:t> </a:t>
            </a:r>
            <a:r>
              <a:rPr lang="tr-TR" dirty="0" err="1"/>
              <a:t>ListBox</a:t>
            </a:r>
            <a:r>
              <a:rPr lang="tr-TR" dirty="0"/>
              <a:t> </a:t>
            </a:r>
            <a:r>
              <a:rPr lang="tr-TR" dirty="0" err="1"/>
              <a:t>when</a:t>
            </a:r>
            <a:r>
              <a:rPr lang="tr-TR" dirty="0"/>
              <a:t> </a:t>
            </a:r>
            <a:r>
              <a:rPr lang="tr-TR" dirty="0" err="1"/>
              <a:t>the</a:t>
            </a:r>
            <a:r>
              <a:rPr lang="tr-TR" dirty="0"/>
              <a:t> </a:t>
            </a:r>
            <a:r>
              <a:rPr lang="tr-TR" dirty="0" err="1"/>
              <a:t>button</a:t>
            </a:r>
            <a:r>
              <a:rPr lang="tr-TR" dirty="0"/>
              <a:t> is </a:t>
            </a:r>
            <a:r>
              <a:rPr lang="tr-TR" dirty="0" err="1"/>
              <a:t>pressed</a:t>
            </a:r>
            <a:r>
              <a:rPr lang="tr-TR" dirty="0"/>
              <a:t>.</a:t>
            </a:r>
          </a:p>
        </p:txBody>
      </p:sp>
      <p:sp>
        <p:nvSpPr>
          <p:cNvPr id="7" name="Dikdörtgen 6"/>
          <p:cNvSpPr/>
          <p:nvPr/>
        </p:nvSpPr>
        <p:spPr>
          <a:xfrm>
            <a:off x="1043608" y="5157192"/>
            <a:ext cx="7848872" cy="1200329"/>
          </a:xfrm>
          <a:prstGeom prst="rect">
            <a:avLst/>
          </a:prstGeom>
        </p:spPr>
        <p:txBody>
          <a:bodyPr wrap="square">
            <a:spAutoFit/>
          </a:bodyPr>
          <a:lstStyle/>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private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button1_Click(</a:t>
            </a:r>
            <a:r>
              <a:rPr lang="en-US" dirty="0">
                <a:solidFill>
                  <a:srgbClr val="0000FF"/>
                </a:solidFill>
                <a:latin typeface="Consolas" panose="020B0609020204030204" pitchFamily="49" charset="0"/>
              </a:rPr>
              <a:t>object</a:t>
            </a:r>
            <a:r>
              <a:rPr lang="en-US" dirty="0">
                <a:solidFill>
                  <a:srgbClr val="000000"/>
                </a:solidFill>
                <a:latin typeface="Consolas" panose="020B0609020204030204" pitchFamily="49" charset="0"/>
              </a:rPr>
              <a:t> sender, </a:t>
            </a:r>
            <a:r>
              <a:rPr lang="en-US" dirty="0" err="1">
                <a:solidFill>
                  <a:srgbClr val="2B91AF"/>
                </a:solidFill>
                <a:latin typeface="Consolas" panose="020B0609020204030204" pitchFamily="49" charset="0"/>
              </a:rPr>
              <a:t>EventArgs</a:t>
            </a:r>
            <a:r>
              <a:rPr lang="en-US" dirty="0">
                <a:solidFill>
                  <a:srgbClr val="000000"/>
                </a:solidFill>
                <a:latin typeface="Consolas" panose="020B0609020204030204" pitchFamily="49" charset="0"/>
              </a:rPr>
              <a:t> e)</a:t>
            </a:r>
          </a:p>
          <a:p>
            <a:r>
              <a:rPr lang="tr-TR" dirty="0">
                <a:solidFill>
                  <a:srgbClr val="000000"/>
                </a:solidFill>
                <a:latin typeface="Consolas" panose="020B0609020204030204" pitchFamily="49" charset="0"/>
              </a:rPr>
              <a:t>        {</a:t>
            </a:r>
          </a:p>
          <a:p>
            <a:r>
              <a:rPr lang="tr-TR" dirty="0">
                <a:solidFill>
                  <a:srgbClr val="000000"/>
                </a:solidFill>
                <a:latin typeface="Consolas" panose="020B0609020204030204" pitchFamily="49" charset="0"/>
              </a:rPr>
              <a:t>            listBox1.Items.Add(textBox1.Text);</a:t>
            </a:r>
          </a:p>
          <a:p>
            <a:r>
              <a:rPr lang="tr-TR" dirty="0">
                <a:solidFill>
                  <a:srgbClr val="000000"/>
                </a:solidFill>
                <a:latin typeface="Consolas" panose="020B0609020204030204" pitchFamily="49" charset="0"/>
              </a:rPr>
              <a:t>        }</a:t>
            </a:r>
            <a:endParaRPr lang="tr-TR" dirty="0"/>
          </a:p>
        </p:txBody>
      </p:sp>
      <p:pic>
        <p:nvPicPr>
          <p:cNvPr id="8" name="Resim 7"/>
          <p:cNvPicPr>
            <a:picLocks noChangeAspect="1"/>
          </p:cNvPicPr>
          <p:nvPr/>
        </p:nvPicPr>
        <p:blipFill>
          <a:blip r:embed="rId3"/>
          <a:stretch>
            <a:fillRect/>
          </a:stretch>
        </p:blipFill>
        <p:spPr>
          <a:xfrm>
            <a:off x="5044006" y="2221612"/>
            <a:ext cx="3848474" cy="2768686"/>
          </a:xfrm>
          <a:prstGeom prst="rect">
            <a:avLst/>
          </a:prstGeom>
        </p:spPr>
      </p:pic>
    </p:spTree>
    <p:extLst>
      <p:ext uri="{BB962C8B-B14F-4D97-AF65-F5344CB8AC3E}">
        <p14:creationId xmlns:p14="http://schemas.microsoft.com/office/powerpoint/2010/main" val="3915715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1329</TotalTime>
  <Words>3774</Words>
  <Application>Microsoft Macintosh PowerPoint</Application>
  <PresentationFormat>On-screen Show (4:3)</PresentationFormat>
  <Paragraphs>567</Paragraphs>
  <Slides>52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Consolas</vt:lpstr>
      <vt:lpstr>Courier New</vt:lpstr>
      <vt:lpstr>Garamond</vt:lpstr>
      <vt:lpstr>Wingdings</vt:lpstr>
      <vt:lpstr>Office Theme</vt:lpstr>
      <vt:lpstr>VISUAL PROGRAMMING   WEEK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C# MessageBox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Variables</vt:lpstr>
      <vt:lpstr>Variables</vt:lpstr>
      <vt:lpstr>Variables</vt:lpstr>
      <vt:lpstr>Variables</vt:lpstr>
      <vt:lpstr>PowerPoint Presentation</vt:lpstr>
      <vt:lpstr>PowerPoint Presentation</vt:lpstr>
      <vt:lpstr>PowerPoint Presentation</vt:lpstr>
      <vt:lpstr>Variables</vt:lpstr>
      <vt:lpstr>Variables</vt:lpstr>
      <vt:lpstr>Variables</vt:lpstr>
      <vt:lpstr>Variables</vt:lpstr>
      <vt:lpstr>Variables</vt:lpstr>
      <vt:lpstr>Variables</vt:lpstr>
      <vt:lpstr>Variables</vt:lpstr>
      <vt:lpstr>Variables</vt:lpstr>
      <vt:lpstr>Variables</vt:lpstr>
      <vt:lpstr>Using C# ComboBox</vt:lpstr>
      <vt:lpstr>Using C# ComboBox</vt:lpstr>
      <vt:lpstr>Example</vt:lpstr>
      <vt:lpstr>Using C# ListBox</vt:lpstr>
      <vt:lpstr>Using C# ListBox</vt:lpstr>
    </vt:vector>
  </TitlesOfParts>
  <Company>ata uni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yusuf kara</dc:creator>
  <cp:lastModifiedBy>ahmet coskuncay</cp:lastModifiedBy>
  <cp:revision>137</cp:revision>
  <dcterms:created xsi:type="dcterms:W3CDTF">2011-03-07T08:39:35Z</dcterms:created>
  <dcterms:modified xsi:type="dcterms:W3CDTF">2021-09-30T21:52:22Z</dcterms:modified>
</cp:coreProperties>
</file>